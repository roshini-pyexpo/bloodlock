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5" r:id="rId8"/>
    <p:sldId id="286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48A42-0305-430F-A44D-89B3F5141C65}" v="42" dt="2026-01-28T15:47:53.42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-5" dirty="0"/>
              <a:t> </a:t>
            </a:r>
            <a:r>
              <a:rPr dirty="0"/>
              <a:t>Prototype</a:t>
            </a:r>
            <a:r>
              <a:rPr spc="-35" dirty="0"/>
              <a:t> </a:t>
            </a:r>
            <a:r>
              <a:rPr dirty="0"/>
              <a:t>Stage</a:t>
            </a:r>
            <a:r>
              <a:rPr spc="10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spc="-10" dirty="0"/>
              <a:t>Submission</a:t>
            </a:r>
            <a:r>
              <a:rPr spc="-70" dirty="0"/>
              <a:t> </a:t>
            </a:r>
            <a:r>
              <a:rPr spc="-20" dirty="0"/>
              <a:t>Deck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7175">
              <a:lnSpc>
                <a:spcPts val="115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-5" dirty="0"/>
              <a:t> </a:t>
            </a:r>
            <a:r>
              <a:rPr dirty="0"/>
              <a:t>Prototype</a:t>
            </a:r>
            <a:r>
              <a:rPr spc="-35" dirty="0"/>
              <a:t> </a:t>
            </a:r>
            <a:r>
              <a:rPr dirty="0"/>
              <a:t>Stage</a:t>
            </a:r>
            <a:r>
              <a:rPr spc="10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spc="-10" dirty="0"/>
              <a:t>Submission</a:t>
            </a:r>
            <a:r>
              <a:rPr spc="-70" dirty="0"/>
              <a:t> </a:t>
            </a:r>
            <a:r>
              <a:rPr spc="-20" dirty="0"/>
              <a:t>Deck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7175">
              <a:lnSpc>
                <a:spcPts val="115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304" y="0"/>
            <a:ext cx="12045950" cy="567055"/>
          </a:xfrm>
          <a:custGeom>
            <a:avLst/>
            <a:gdLst/>
            <a:ahLst/>
            <a:cxnLst/>
            <a:rect l="l" t="t" r="r" b="b"/>
            <a:pathLst>
              <a:path w="12045950" h="567055">
                <a:moveTo>
                  <a:pt x="0" y="566927"/>
                </a:moveTo>
                <a:lnTo>
                  <a:pt x="12045696" y="566927"/>
                </a:lnTo>
                <a:lnTo>
                  <a:pt x="12045696" y="0"/>
                </a:lnTo>
                <a:lnTo>
                  <a:pt x="0" y="0"/>
                </a:lnTo>
                <a:lnTo>
                  <a:pt x="0" y="566927"/>
                </a:lnTo>
                <a:close/>
              </a:path>
            </a:pathLst>
          </a:custGeom>
          <a:solidFill>
            <a:srgbClr val="0A2D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567055"/>
          </a:xfrm>
          <a:custGeom>
            <a:avLst/>
            <a:gdLst/>
            <a:ahLst/>
            <a:cxnLst/>
            <a:rect l="l" t="t" r="r" b="b"/>
            <a:pathLst>
              <a:path w="12192000" h="567055">
                <a:moveTo>
                  <a:pt x="0" y="566927"/>
                </a:moveTo>
                <a:lnTo>
                  <a:pt x="12192000" y="566927"/>
                </a:lnTo>
                <a:lnTo>
                  <a:pt x="12192000" y="0"/>
                </a:lnTo>
                <a:lnTo>
                  <a:pt x="0" y="0"/>
                </a:lnTo>
                <a:lnTo>
                  <a:pt x="0" y="566927"/>
                </a:lnTo>
                <a:close/>
              </a:path>
            </a:pathLst>
          </a:custGeom>
          <a:ln w="12192">
            <a:solidFill>
              <a:srgbClr val="0A2D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46685" cy="567055"/>
          </a:xfrm>
          <a:custGeom>
            <a:avLst/>
            <a:gdLst/>
            <a:ahLst/>
            <a:cxnLst/>
            <a:rect l="l" t="t" r="r" b="b"/>
            <a:pathLst>
              <a:path w="146685" h="567055">
                <a:moveTo>
                  <a:pt x="146304" y="0"/>
                </a:moveTo>
                <a:lnTo>
                  <a:pt x="0" y="0"/>
                </a:lnTo>
                <a:lnTo>
                  <a:pt x="0" y="566927"/>
                </a:lnTo>
                <a:lnTo>
                  <a:pt x="146304" y="566927"/>
                </a:lnTo>
                <a:lnTo>
                  <a:pt x="146304" y="0"/>
                </a:lnTo>
                <a:close/>
              </a:path>
            </a:pathLst>
          </a:custGeom>
          <a:solidFill>
            <a:srgbClr val="2E6E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146685" cy="567055"/>
          </a:xfrm>
          <a:custGeom>
            <a:avLst/>
            <a:gdLst/>
            <a:ahLst/>
            <a:cxnLst/>
            <a:rect l="l" t="t" r="r" b="b"/>
            <a:pathLst>
              <a:path w="146685" h="567055">
                <a:moveTo>
                  <a:pt x="0" y="566927"/>
                </a:moveTo>
                <a:lnTo>
                  <a:pt x="146304" y="566927"/>
                </a:lnTo>
                <a:lnTo>
                  <a:pt x="146304" y="0"/>
                </a:lnTo>
                <a:lnTo>
                  <a:pt x="0" y="0"/>
                </a:lnTo>
                <a:lnTo>
                  <a:pt x="0" y="566927"/>
                </a:lnTo>
                <a:close/>
              </a:path>
            </a:pathLst>
          </a:custGeom>
          <a:ln w="12192">
            <a:solidFill>
              <a:srgbClr val="2E6E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44131" y="1913220"/>
            <a:ext cx="4456430" cy="37732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11172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-5" dirty="0"/>
              <a:t> </a:t>
            </a:r>
            <a:r>
              <a:rPr dirty="0"/>
              <a:t>Prototype</a:t>
            </a:r>
            <a:r>
              <a:rPr spc="-35" dirty="0"/>
              <a:t> </a:t>
            </a:r>
            <a:r>
              <a:rPr dirty="0"/>
              <a:t>Stage</a:t>
            </a:r>
            <a:r>
              <a:rPr spc="10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spc="-10" dirty="0"/>
              <a:t>Submission</a:t>
            </a:r>
            <a:r>
              <a:rPr spc="-70" dirty="0"/>
              <a:t> </a:t>
            </a:r>
            <a:r>
              <a:rPr spc="-20" dirty="0"/>
              <a:t>Deck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7175">
              <a:lnSpc>
                <a:spcPts val="115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-5" dirty="0"/>
              <a:t> </a:t>
            </a:r>
            <a:r>
              <a:rPr dirty="0"/>
              <a:t>Prototype</a:t>
            </a:r>
            <a:r>
              <a:rPr spc="-35" dirty="0"/>
              <a:t> </a:t>
            </a:r>
            <a:r>
              <a:rPr dirty="0"/>
              <a:t>Stage</a:t>
            </a:r>
            <a:r>
              <a:rPr spc="10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spc="-10" dirty="0"/>
              <a:t>Submission</a:t>
            </a:r>
            <a:r>
              <a:rPr spc="-70" dirty="0"/>
              <a:t> </a:t>
            </a:r>
            <a:r>
              <a:rPr spc="-20" dirty="0"/>
              <a:t>Deck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7175">
              <a:lnSpc>
                <a:spcPts val="115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-5" dirty="0"/>
              <a:t> </a:t>
            </a:r>
            <a:r>
              <a:rPr dirty="0"/>
              <a:t>Prototype</a:t>
            </a:r>
            <a:r>
              <a:rPr spc="-35" dirty="0"/>
              <a:t> </a:t>
            </a:r>
            <a:r>
              <a:rPr dirty="0"/>
              <a:t>Stage</a:t>
            </a:r>
            <a:r>
              <a:rPr spc="10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spc="-10" dirty="0"/>
              <a:t>Submission</a:t>
            </a:r>
            <a:r>
              <a:rPr spc="-70" dirty="0"/>
              <a:t> </a:t>
            </a:r>
            <a:r>
              <a:rPr spc="-20" dirty="0"/>
              <a:t>Deck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7175">
              <a:lnSpc>
                <a:spcPts val="115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1880" y="113611"/>
            <a:ext cx="4735830" cy="1103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1687" y="1915667"/>
            <a:ext cx="11062970" cy="4295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1880" y="6615709"/>
            <a:ext cx="3714115" cy="254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-5" dirty="0"/>
              <a:t> </a:t>
            </a:r>
            <a:r>
              <a:rPr dirty="0"/>
              <a:t>Prototype</a:t>
            </a:r>
            <a:r>
              <a:rPr spc="-35" dirty="0"/>
              <a:t> </a:t>
            </a:r>
            <a:r>
              <a:rPr dirty="0"/>
              <a:t>Stage</a:t>
            </a:r>
            <a:r>
              <a:rPr spc="10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spc="-10" dirty="0"/>
              <a:t>Submission</a:t>
            </a:r>
            <a:r>
              <a:rPr spc="-70" dirty="0"/>
              <a:t> </a:t>
            </a:r>
            <a:r>
              <a:rPr spc="-20" dirty="0"/>
              <a:t>Deck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809731" y="6630720"/>
            <a:ext cx="605028" cy="237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7175">
              <a:lnSpc>
                <a:spcPts val="115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3905" cy="1417320"/>
            <a:chOff x="0" y="0"/>
            <a:chExt cx="12193905" cy="1417320"/>
          </a:xfrm>
        </p:grpSpPr>
        <p:sp>
          <p:nvSpPr>
            <p:cNvPr id="3" name="object 3"/>
            <p:cNvSpPr/>
            <p:nvPr/>
          </p:nvSpPr>
          <p:spPr>
            <a:xfrm>
              <a:off x="201168" y="0"/>
              <a:ext cx="11992610" cy="1417320"/>
            </a:xfrm>
            <a:custGeom>
              <a:avLst/>
              <a:gdLst/>
              <a:ahLst/>
              <a:cxnLst/>
              <a:rect l="l" t="t" r="r" b="b"/>
              <a:pathLst>
                <a:path w="11992610" h="1417320">
                  <a:moveTo>
                    <a:pt x="0" y="1417320"/>
                  </a:moveTo>
                  <a:lnTo>
                    <a:pt x="11992356" y="1417320"/>
                  </a:lnTo>
                  <a:lnTo>
                    <a:pt x="11992356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01295" cy="1417320"/>
            </a:xfrm>
            <a:custGeom>
              <a:avLst/>
              <a:gdLst/>
              <a:ahLst/>
              <a:cxnLst/>
              <a:rect l="l" t="t" r="r" b="b"/>
              <a:pathLst>
                <a:path w="201295" h="1417320">
                  <a:moveTo>
                    <a:pt x="201168" y="0"/>
                  </a:moveTo>
                  <a:lnTo>
                    <a:pt x="0" y="0"/>
                  </a:lnTo>
                  <a:lnTo>
                    <a:pt x="0" y="1417320"/>
                  </a:lnTo>
                  <a:lnTo>
                    <a:pt x="201168" y="1417320"/>
                  </a:lnTo>
                  <a:lnTo>
                    <a:pt x="201168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/>
              <a:t>SoI</a:t>
            </a:r>
            <a:r>
              <a:rPr spc="-55" dirty="0"/>
              <a:t> </a:t>
            </a:r>
            <a:r>
              <a:rPr dirty="0"/>
              <a:t>—</a:t>
            </a:r>
            <a:r>
              <a:rPr spc="-100" dirty="0"/>
              <a:t> </a:t>
            </a:r>
            <a:r>
              <a:rPr spc="-10" dirty="0"/>
              <a:t>Prototype</a:t>
            </a:r>
            <a:r>
              <a:rPr spc="-75" dirty="0"/>
              <a:t> </a:t>
            </a:r>
            <a:r>
              <a:rPr spc="-10" dirty="0"/>
              <a:t>Stage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b="0" dirty="0">
                <a:solidFill>
                  <a:srgbClr val="DCE9F7"/>
                </a:solidFill>
                <a:latin typeface="Calibri"/>
                <a:cs typeface="Calibri"/>
              </a:rPr>
              <a:t>Submission</a:t>
            </a:r>
            <a:r>
              <a:rPr sz="1800" b="0" spc="-15" dirty="0">
                <a:solidFill>
                  <a:srgbClr val="DCE9F7"/>
                </a:solidFill>
                <a:latin typeface="Calibri"/>
                <a:cs typeface="Calibri"/>
              </a:rPr>
              <a:t> </a:t>
            </a:r>
            <a:r>
              <a:rPr sz="1800" b="0" dirty="0">
                <a:solidFill>
                  <a:srgbClr val="DCE9F7"/>
                </a:solidFill>
                <a:latin typeface="Calibri"/>
                <a:cs typeface="Calibri"/>
              </a:rPr>
              <a:t>Deck</a:t>
            </a:r>
            <a:r>
              <a:rPr sz="1800" b="0" spc="-60" dirty="0">
                <a:solidFill>
                  <a:srgbClr val="DCE9F7"/>
                </a:solidFill>
                <a:latin typeface="Calibri"/>
                <a:cs typeface="Calibri"/>
              </a:rPr>
              <a:t> </a:t>
            </a:r>
            <a:r>
              <a:rPr sz="1800" b="0" spc="-10" dirty="0">
                <a:solidFill>
                  <a:srgbClr val="DCE9F7"/>
                </a:solidFill>
                <a:latin typeface="Calibri"/>
                <a:cs typeface="Calibri"/>
              </a:rPr>
              <a:t>Template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7912" y="2013996"/>
            <a:ext cx="2120088" cy="1001556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550" b="1" dirty="0">
                <a:solidFill>
                  <a:srgbClr val="111727"/>
                </a:solidFill>
                <a:latin typeface="Calibri"/>
                <a:cs typeface="Calibri"/>
              </a:rPr>
              <a:t>Team</a:t>
            </a:r>
            <a:r>
              <a:rPr sz="1550" b="1" spc="3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11727"/>
                </a:solidFill>
                <a:latin typeface="Calibri"/>
                <a:cs typeface="Calibri"/>
              </a:rPr>
              <a:t>Details</a:t>
            </a:r>
            <a:r>
              <a:rPr sz="1550" b="1" spc="1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111727"/>
                </a:solidFill>
                <a:latin typeface="Calibri"/>
                <a:cs typeface="Calibri"/>
              </a:rPr>
              <a:t>(fill)</a:t>
            </a:r>
            <a:endParaRPr sz="15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spc="-20" dirty="0" err="1">
                <a:latin typeface="Calibri"/>
                <a:cs typeface="Calibri"/>
              </a:rPr>
              <a:t>Team:</a:t>
            </a:r>
            <a:r>
              <a:rPr lang="en-US" spc="-10" dirty="0" err="1">
                <a:latin typeface="Calibri"/>
                <a:cs typeface="Calibri"/>
              </a:rPr>
              <a:t>TeamSeven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419860" algn="l"/>
              </a:tabLst>
            </a:pPr>
            <a:r>
              <a:rPr sz="1800" dirty="0">
                <a:latin typeface="Calibri"/>
                <a:cs typeface="Calibri"/>
              </a:rPr>
              <a:t>Lead: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lang="en-US" spc="-10" dirty="0" err="1">
                <a:latin typeface="Calibri"/>
                <a:cs typeface="Calibri"/>
              </a:rPr>
              <a:t>Pavithra.K</a:t>
            </a:r>
            <a:r>
              <a:rPr sz="1800" dirty="0">
                <a:latin typeface="Calibri"/>
                <a:cs typeface="Calibri"/>
              </a:rPr>
              <a:t>	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47106" y="2135024"/>
            <a:ext cx="36576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415" algn="l"/>
              </a:tabLst>
            </a:pPr>
            <a:r>
              <a:rPr sz="1800" spc="-40" dirty="0">
                <a:latin typeface="Calibri"/>
                <a:cs typeface="Calibri"/>
              </a:rPr>
              <a:t>Team-</a:t>
            </a:r>
            <a:r>
              <a:rPr sz="1800" dirty="0">
                <a:latin typeface="Calibri"/>
                <a:cs typeface="Calibri"/>
              </a:rPr>
              <a:t>ID: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lang="en-IN" sz="1800" spc="90" dirty="0">
                <a:latin typeface="Calibri"/>
                <a:cs typeface="Calibri"/>
              </a:rPr>
              <a:t>P-2024-28-CD-096</a:t>
            </a:r>
            <a:endParaRPr sz="1800" dirty="0">
              <a:latin typeface="Calibri"/>
              <a:cs typeface="Calibri"/>
            </a:endParaRPr>
          </a:p>
          <a:p>
            <a:pPr marL="5651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Members</a:t>
            </a:r>
            <a:r>
              <a:rPr lang="en-US" dirty="0">
                <a:latin typeface="Calibri"/>
                <a:cs typeface="Calibri"/>
              </a:rPr>
              <a:t>: </a:t>
            </a:r>
            <a:r>
              <a:rPr lang="en-US" dirty="0" err="1">
                <a:latin typeface="Calibri"/>
                <a:cs typeface="Calibri"/>
              </a:rPr>
              <a:t>Nitheeskumar.M</a:t>
            </a:r>
            <a:r>
              <a:rPr lang="en-US" dirty="0">
                <a:latin typeface="Calibri"/>
                <a:cs typeface="Calibri"/>
              </a:rPr>
              <a:t>, Ragunath, </a:t>
            </a:r>
            <a:r>
              <a:rPr lang="en-US" dirty="0" err="1">
                <a:latin typeface="Calibri"/>
                <a:cs typeface="Calibri"/>
              </a:rPr>
              <a:t>Nithishkumar.R</a:t>
            </a:r>
            <a:r>
              <a:rPr lang="en-US" dirty="0">
                <a:latin typeface="Calibri"/>
                <a:cs typeface="Calibri"/>
              </a:rPr>
              <a:t>, </a:t>
            </a:r>
            <a:r>
              <a:rPr lang="en-US" dirty="0" err="1">
                <a:latin typeface="Calibri"/>
                <a:cs typeface="Calibri"/>
              </a:rPr>
              <a:t>Roshini.P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7912" y="3053067"/>
            <a:ext cx="166288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415" algn="l"/>
              </a:tabLst>
            </a:pPr>
            <a:r>
              <a:rPr sz="1800" dirty="0">
                <a:latin typeface="Calibri"/>
                <a:cs typeface="Calibri"/>
              </a:rPr>
              <a:t>Lab</a:t>
            </a:r>
            <a:r>
              <a:rPr lang="en-US"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Code:</a:t>
            </a:r>
            <a:r>
              <a:rPr lang="en-US" sz="1800" spc="-10" dirty="0">
                <a:latin typeface="Calibri"/>
                <a:cs typeface="Calibri"/>
              </a:rPr>
              <a:t>[CD]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415" algn="l"/>
              </a:tabLst>
            </a:pPr>
            <a:r>
              <a:rPr lang="en-US" sz="1800" spc="-10" dirty="0">
                <a:latin typeface="Calibri"/>
                <a:cs typeface="Calibri"/>
              </a:rPr>
              <a:t> 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4252" y="3829969"/>
            <a:ext cx="612045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5945" algn="l"/>
                <a:tab pos="2106295" algn="l"/>
              </a:tabLst>
            </a:pPr>
            <a:r>
              <a:rPr sz="1800" dirty="0">
                <a:latin typeface="Calibri"/>
                <a:cs typeface="Calibri"/>
              </a:rPr>
              <a:t>Cohort: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[</a:t>
            </a:r>
            <a:r>
              <a:rPr lang="en-US" spc="-10" dirty="0">
                <a:latin typeface="Calibri"/>
                <a:cs typeface="Calibri"/>
              </a:rPr>
              <a:t>2024-28</a:t>
            </a:r>
            <a:r>
              <a:rPr sz="1800" spc="-10" dirty="0">
                <a:latin typeface="Calibri"/>
                <a:cs typeface="Calibri"/>
              </a:rPr>
              <a:t>]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|</a:t>
            </a:r>
            <a:r>
              <a:rPr sz="1800" dirty="0">
                <a:latin typeface="Calibri"/>
                <a:cs typeface="Calibri"/>
              </a:rPr>
              <a:t>	Date: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[</a:t>
            </a:r>
            <a:r>
              <a:rPr lang="en-US" sz="1800" spc="-20" dirty="0">
                <a:latin typeface="Calibri"/>
                <a:cs typeface="Calibri"/>
              </a:rPr>
              <a:t>26.01.2026]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589787" y="5929884"/>
            <a:ext cx="10986770" cy="901065"/>
            <a:chOff x="589787" y="5929884"/>
            <a:chExt cx="10986770" cy="901065"/>
          </a:xfrm>
        </p:grpSpPr>
        <p:sp>
          <p:nvSpPr>
            <p:cNvPr id="23" name="object 23"/>
            <p:cNvSpPr/>
            <p:nvPr/>
          </p:nvSpPr>
          <p:spPr>
            <a:xfrm>
              <a:off x="596645" y="5936742"/>
              <a:ext cx="10972800" cy="887094"/>
            </a:xfrm>
            <a:custGeom>
              <a:avLst/>
              <a:gdLst/>
              <a:ahLst/>
              <a:cxnLst/>
              <a:rect l="l" t="t" r="r" b="b"/>
              <a:pathLst>
                <a:path w="10972800" h="887095">
                  <a:moveTo>
                    <a:pt x="10824972" y="0"/>
                  </a:moveTo>
                  <a:lnTo>
                    <a:pt x="147828" y="0"/>
                  </a:lnTo>
                  <a:lnTo>
                    <a:pt x="101100" y="7535"/>
                  </a:lnTo>
                  <a:lnTo>
                    <a:pt x="60520" y="28520"/>
                  </a:lnTo>
                  <a:lnTo>
                    <a:pt x="28520" y="60520"/>
                  </a:lnTo>
                  <a:lnTo>
                    <a:pt x="7535" y="101100"/>
                  </a:lnTo>
                  <a:lnTo>
                    <a:pt x="0" y="147828"/>
                  </a:lnTo>
                  <a:lnTo>
                    <a:pt x="0" y="739140"/>
                  </a:lnTo>
                  <a:lnTo>
                    <a:pt x="7535" y="785865"/>
                  </a:lnTo>
                  <a:lnTo>
                    <a:pt x="28520" y="826445"/>
                  </a:lnTo>
                  <a:lnTo>
                    <a:pt x="60520" y="858445"/>
                  </a:lnTo>
                  <a:lnTo>
                    <a:pt x="101100" y="879431"/>
                  </a:lnTo>
                  <a:lnTo>
                    <a:pt x="147828" y="886968"/>
                  </a:lnTo>
                  <a:lnTo>
                    <a:pt x="10824972" y="886968"/>
                  </a:lnTo>
                  <a:lnTo>
                    <a:pt x="10871703" y="879431"/>
                  </a:lnTo>
                  <a:lnTo>
                    <a:pt x="10912285" y="858445"/>
                  </a:lnTo>
                  <a:lnTo>
                    <a:pt x="10944282" y="826445"/>
                  </a:lnTo>
                  <a:lnTo>
                    <a:pt x="10965265" y="785865"/>
                  </a:lnTo>
                  <a:lnTo>
                    <a:pt x="10972800" y="739140"/>
                  </a:lnTo>
                  <a:lnTo>
                    <a:pt x="10972800" y="147828"/>
                  </a:lnTo>
                  <a:lnTo>
                    <a:pt x="10965265" y="101100"/>
                  </a:lnTo>
                  <a:lnTo>
                    <a:pt x="10944282" y="60520"/>
                  </a:lnTo>
                  <a:lnTo>
                    <a:pt x="10912285" y="28520"/>
                  </a:lnTo>
                  <a:lnTo>
                    <a:pt x="10871703" y="7535"/>
                  </a:lnTo>
                  <a:lnTo>
                    <a:pt x="10824972" y="0"/>
                  </a:lnTo>
                  <a:close/>
                </a:path>
              </a:pathLst>
            </a:custGeom>
            <a:solidFill>
              <a:srgbClr val="F5F7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6645" y="5936742"/>
              <a:ext cx="10972800" cy="887094"/>
            </a:xfrm>
            <a:custGeom>
              <a:avLst/>
              <a:gdLst/>
              <a:ahLst/>
              <a:cxnLst/>
              <a:rect l="l" t="t" r="r" b="b"/>
              <a:pathLst>
                <a:path w="10972800" h="887095">
                  <a:moveTo>
                    <a:pt x="0" y="147828"/>
                  </a:moveTo>
                  <a:lnTo>
                    <a:pt x="7535" y="101100"/>
                  </a:lnTo>
                  <a:lnTo>
                    <a:pt x="28520" y="60520"/>
                  </a:lnTo>
                  <a:lnTo>
                    <a:pt x="60520" y="28520"/>
                  </a:lnTo>
                  <a:lnTo>
                    <a:pt x="101100" y="7535"/>
                  </a:lnTo>
                  <a:lnTo>
                    <a:pt x="147828" y="0"/>
                  </a:lnTo>
                  <a:lnTo>
                    <a:pt x="10824972" y="0"/>
                  </a:lnTo>
                  <a:lnTo>
                    <a:pt x="10871703" y="7535"/>
                  </a:lnTo>
                  <a:lnTo>
                    <a:pt x="10912285" y="28520"/>
                  </a:lnTo>
                  <a:lnTo>
                    <a:pt x="10944282" y="60520"/>
                  </a:lnTo>
                  <a:lnTo>
                    <a:pt x="10965265" y="101100"/>
                  </a:lnTo>
                  <a:lnTo>
                    <a:pt x="10972800" y="147828"/>
                  </a:lnTo>
                  <a:lnTo>
                    <a:pt x="10972800" y="739140"/>
                  </a:lnTo>
                  <a:lnTo>
                    <a:pt x="10965265" y="785865"/>
                  </a:lnTo>
                  <a:lnTo>
                    <a:pt x="10944282" y="826445"/>
                  </a:lnTo>
                  <a:lnTo>
                    <a:pt x="10912285" y="858445"/>
                  </a:lnTo>
                  <a:lnTo>
                    <a:pt x="10871703" y="879431"/>
                  </a:lnTo>
                  <a:lnTo>
                    <a:pt x="10824972" y="886968"/>
                  </a:lnTo>
                  <a:lnTo>
                    <a:pt x="147828" y="886968"/>
                  </a:lnTo>
                  <a:lnTo>
                    <a:pt x="101100" y="879431"/>
                  </a:lnTo>
                  <a:lnTo>
                    <a:pt x="60520" y="858445"/>
                  </a:lnTo>
                  <a:lnTo>
                    <a:pt x="28520" y="826445"/>
                  </a:lnTo>
                  <a:lnTo>
                    <a:pt x="7535" y="785865"/>
                  </a:lnTo>
                  <a:lnTo>
                    <a:pt x="0" y="739140"/>
                  </a:lnTo>
                  <a:lnTo>
                    <a:pt x="0" y="147828"/>
                  </a:lnTo>
                  <a:close/>
                </a:path>
              </a:pathLst>
            </a:custGeom>
            <a:ln w="13716">
              <a:solidFill>
                <a:srgbClr val="D1D4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62711" y="6012318"/>
            <a:ext cx="6374130" cy="6896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b="1" dirty="0">
                <a:solidFill>
                  <a:srgbClr val="111727"/>
                </a:solidFill>
                <a:latin typeface="Calibri"/>
                <a:cs typeface="Calibri"/>
              </a:rPr>
              <a:t>Standard</a:t>
            </a:r>
            <a:r>
              <a:rPr sz="1100" b="1" spc="-5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11727"/>
                </a:solidFill>
                <a:latin typeface="Calibri"/>
                <a:cs typeface="Calibri"/>
              </a:rPr>
              <a:t>Codes</a:t>
            </a:r>
            <a:r>
              <a:rPr sz="1100" b="1" spc="-4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111727"/>
                </a:solidFill>
                <a:latin typeface="Calibri"/>
                <a:cs typeface="Calibri"/>
              </a:rPr>
              <a:t>(use</a:t>
            </a:r>
            <a:r>
              <a:rPr sz="1100" b="1" spc="-10" dirty="0">
                <a:solidFill>
                  <a:srgbClr val="111727"/>
                </a:solidFill>
                <a:latin typeface="Calibri"/>
                <a:cs typeface="Calibri"/>
              </a:rPr>
              <a:t> exactly)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900" spc="-10" dirty="0">
                <a:solidFill>
                  <a:srgbClr val="374151"/>
                </a:solidFill>
                <a:latin typeface="Calibri"/>
                <a:cs typeface="Calibri"/>
              </a:rPr>
              <a:t>Departments:</a:t>
            </a:r>
            <a:r>
              <a:rPr sz="900" spc="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AI&amp;DS</a:t>
            </a:r>
            <a:r>
              <a:rPr sz="900" spc="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AI&amp;ML</a:t>
            </a:r>
            <a:r>
              <a:rPr sz="900" spc="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CSBS</a:t>
            </a:r>
            <a:r>
              <a:rPr sz="900" spc="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CSE</a:t>
            </a:r>
            <a:r>
              <a:rPr sz="9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CYS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ECE</a:t>
            </a:r>
            <a:r>
              <a:rPr sz="9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IT</a:t>
            </a:r>
            <a:r>
              <a:rPr sz="9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374151"/>
                </a:solidFill>
                <a:latin typeface="Calibri"/>
                <a:cs typeface="Calibri"/>
              </a:rPr>
              <a:t>MECH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SoI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Labs:</a:t>
            </a:r>
            <a:r>
              <a:rPr sz="9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AD</a:t>
            </a:r>
            <a:r>
              <a:rPr sz="9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—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AI</a:t>
            </a:r>
            <a:r>
              <a:rPr sz="900" spc="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sz="9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Data Science</a:t>
            </a:r>
            <a:r>
              <a:rPr sz="9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Lab</a:t>
            </a:r>
            <a:r>
              <a:rPr sz="9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BW</a:t>
            </a:r>
            <a:r>
              <a:rPr sz="9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—</a:t>
            </a:r>
            <a:r>
              <a:rPr sz="900" spc="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74151"/>
                </a:solidFill>
                <a:latin typeface="Calibri"/>
                <a:cs typeface="Calibri"/>
              </a:rPr>
              <a:t>Blockchain</a:t>
            </a:r>
            <a:r>
              <a:rPr sz="9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sz="9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Web3</a:t>
            </a:r>
            <a:r>
              <a:rPr sz="900" spc="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Lab</a:t>
            </a:r>
            <a:r>
              <a:rPr sz="9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CD</a:t>
            </a:r>
            <a:r>
              <a:rPr sz="9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—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Cloud</a:t>
            </a:r>
            <a:r>
              <a:rPr sz="9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and </a:t>
            </a:r>
            <a:r>
              <a:rPr sz="900" spc="-10" dirty="0">
                <a:solidFill>
                  <a:srgbClr val="374151"/>
                </a:solidFill>
                <a:latin typeface="Calibri"/>
                <a:cs typeface="Calibri"/>
              </a:rPr>
              <a:t>DevOps</a:t>
            </a:r>
            <a:r>
              <a:rPr sz="9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Lab</a:t>
            </a:r>
            <a:r>
              <a:rPr sz="9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CS</a:t>
            </a:r>
            <a:r>
              <a:rPr sz="900" spc="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—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74151"/>
                </a:solidFill>
                <a:latin typeface="Calibri"/>
                <a:cs typeface="Calibri"/>
              </a:rPr>
              <a:t>Cyber</a:t>
            </a:r>
            <a:r>
              <a:rPr sz="9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Security</a:t>
            </a:r>
            <a:r>
              <a:rPr sz="900" spc="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Lab</a:t>
            </a:r>
            <a:endParaRPr sz="90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  <a:spcBef>
                <a:spcPts val="115"/>
              </a:spcBef>
            </a:pP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EI</a:t>
            </a:r>
            <a:r>
              <a:rPr sz="9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—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74151"/>
                </a:solidFill>
                <a:latin typeface="Calibri"/>
                <a:cs typeface="Calibri"/>
              </a:rPr>
              <a:t>Embedded</a:t>
            </a:r>
            <a:r>
              <a:rPr sz="900" spc="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74151"/>
                </a:solidFill>
                <a:latin typeface="Calibri"/>
                <a:cs typeface="Calibri"/>
              </a:rPr>
              <a:t>Systems</a:t>
            </a:r>
            <a:r>
              <a:rPr sz="900" spc="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sz="9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IoT</a:t>
            </a:r>
            <a:r>
              <a:rPr sz="9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Lab</a:t>
            </a:r>
            <a:r>
              <a:rPr sz="9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MA</a:t>
            </a:r>
            <a:r>
              <a:rPr sz="900" spc="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—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Design,</a:t>
            </a:r>
            <a:r>
              <a:rPr sz="900" spc="-10" dirty="0">
                <a:solidFill>
                  <a:srgbClr val="374151"/>
                </a:solidFill>
                <a:latin typeface="Calibri"/>
                <a:cs typeface="Calibri"/>
              </a:rPr>
              <a:t> Manufacturing</a:t>
            </a:r>
            <a:r>
              <a:rPr sz="9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sz="9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74151"/>
                </a:solidFill>
                <a:latin typeface="Calibri"/>
                <a:cs typeface="Calibri"/>
              </a:rPr>
              <a:t>Automation</a:t>
            </a:r>
            <a:r>
              <a:rPr sz="900" spc="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Lab</a:t>
            </a:r>
            <a:r>
              <a:rPr sz="9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|</a:t>
            </a:r>
            <a:r>
              <a:rPr sz="9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FW</a:t>
            </a:r>
            <a:r>
              <a:rPr sz="900" spc="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—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Full</a:t>
            </a:r>
            <a:r>
              <a:rPr sz="9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Stack</a:t>
            </a:r>
            <a:r>
              <a:rPr sz="9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374151"/>
                </a:solidFill>
                <a:latin typeface="Calibri"/>
                <a:cs typeface="Calibri"/>
              </a:rPr>
              <a:t>Web</a:t>
            </a:r>
            <a:r>
              <a:rPr sz="9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374151"/>
                </a:solidFill>
                <a:latin typeface="Calibri"/>
                <a:cs typeface="Calibri"/>
              </a:rPr>
              <a:t>Development</a:t>
            </a:r>
            <a:r>
              <a:rPr sz="9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374151"/>
                </a:solidFill>
                <a:latin typeface="Calibri"/>
                <a:cs typeface="Calibri"/>
              </a:rPr>
              <a:t>Lab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263759-C065-82CD-8418-69E2F6163A50}"/>
              </a:ext>
            </a:extLst>
          </p:cNvPr>
          <p:cNvSpPr txBox="1"/>
          <p:nvPr/>
        </p:nvSpPr>
        <p:spPr>
          <a:xfrm>
            <a:off x="838200" y="4202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Mentor name : [</a:t>
            </a:r>
            <a:r>
              <a:rPr lang="en-US" dirty="0" err="1"/>
              <a:t>Narashima</a:t>
            </a:r>
            <a:r>
              <a:rPr lang="en-US" dirty="0"/>
              <a:t> </a:t>
            </a:r>
            <a:r>
              <a:rPr lang="en-US" dirty="0" err="1"/>
              <a:t>Guptha</a:t>
            </a:r>
            <a:r>
              <a:rPr lang="en-US" dirty="0"/>
              <a:t>]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-4572"/>
            <a:ext cx="12207240" cy="581025"/>
            <a:chOff x="-4572" y="-4572"/>
            <a:chExt cx="12207240" cy="581025"/>
          </a:xfrm>
        </p:grpSpPr>
        <p:sp>
          <p:nvSpPr>
            <p:cNvPr id="3" name="object 3"/>
            <p:cNvSpPr/>
            <p:nvPr/>
          </p:nvSpPr>
          <p:spPr>
            <a:xfrm>
              <a:off x="148590" y="2286"/>
              <a:ext cx="12047220" cy="567055"/>
            </a:xfrm>
            <a:custGeom>
              <a:avLst/>
              <a:gdLst/>
              <a:ahLst/>
              <a:cxnLst/>
              <a:rect l="l" t="t" r="r" b="b"/>
              <a:pathLst>
                <a:path w="12047220" h="567055">
                  <a:moveTo>
                    <a:pt x="0" y="566928"/>
                  </a:moveTo>
                  <a:lnTo>
                    <a:pt x="12047219" y="566928"/>
                  </a:lnTo>
                  <a:lnTo>
                    <a:pt x="12047219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" y="2286"/>
              <a:ext cx="12193905" cy="567055"/>
            </a:xfrm>
            <a:custGeom>
              <a:avLst/>
              <a:gdLst/>
              <a:ahLst/>
              <a:cxnLst/>
              <a:rect l="l" t="t" r="r" b="b"/>
              <a:pathLst>
                <a:path w="12193905" h="567055">
                  <a:moveTo>
                    <a:pt x="0" y="566928"/>
                  </a:moveTo>
                  <a:lnTo>
                    <a:pt x="12193524" y="566928"/>
                  </a:lnTo>
                  <a:lnTo>
                    <a:pt x="1219352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3716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" y="2286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8"/>
                  </a:lnTo>
                  <a:lnTo>
                    <a:pt x="146304" y="566928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" y="2286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8"/>
                  </a:moveTo>
                  <a:lnTo>
                    <a:pt x="146304" y="566928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3716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787255" y="140918"/>
            <a:ext cx="17316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9787" y="653795"/>
            <a:ext cx="1934210" cy="306705"/>
            <a:chOff x="589787" y="653795"/>
            <a:chExt cx="1934210" cy="306705"/>
          </a:xfrm>
        </p:grpSpPr>
        <p:sp>
          <p:nvSpPr>
            <p:cNvPr id="9" name="object 9"/>
            <p:cNvSpPr/>
            <p:nvPr/>
          </p:nvSpPr>
          <p:spPr>
            <a:xfrm>
              <a:off x="596645" y="660653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40" y="243840"/>
                  </a:lnTo>
                  <a:lnTo>
                    <a:pt x="1920240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6645" y="660653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40" y="48768"/>
                  </a:lnTo>
                  <a:lnTo>
                    <a:pt x="1920240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3716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5420" y="692022"/>
            <a:ext cx="190309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sz="115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Calibri"/>
                <a:cs typeface="Calibri"/>
              </a:rPr>
              <a:t>ME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8210"/>
            <a:ext cx="43992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111727"/>
                </a:solidFill>
              </a:rPr>
              <a:t>How</a:t>
            </a:r>
            <a:r>
              <a:rPr sz="3200" spc="-5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to</a:t>
            </a:r>
            <a:r>
              <a:rPr sz="3200" spc="-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Use</a:t>
            </a:r>
            <a:r>
              <a:rPr sz="3200" spc="-7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This</a:t>
            </a:r>
            <a:r>
              <a:rPr sz="3200" spc="-55" dirty="0">
                <a:solidFill>
                  <a:srgbClr val="111727"/>
                </a:solidFill>
              </a:rPr>
              <a:t> </a:t>
            </a:r>
            <a:r>
              <a:rPr sz="3200" spc="-25" dirty="0">
                <a:solidFill>
                  <a:srgbClr val="111727"/>
                </a:solidFill>
              </a:rPr>
              <a:t>Template</a:t>
            </a:r>
            <a:endParaRPr sz="3200"/>
          </a:p>
        </p:txBody>
      </p:sp>
      <p:grpSp>
        <p:nvGrpSpPr>
          <p:cNvPr id="13" name="object 13"/>
          <p:cNvGrpSpPr/>
          <p:nvPr/>
        </p:nvGrpSpPr>
        <p:grpSpPr>
          <a:xfrm>
            <a:off x="585954" y="1866043"/>
            <a:ext cx="5850890" cy="4479290"/>
            <a:chOff x="585954" y="1866043"/>
            <a:chExt cx="5850890" cy="44792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954" y="1866043"/>
              <a:ext cx="5850556" cy="447897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96646" y="1876805"/>
              <a:ext cx="5806440" cy="4434840"/>
            </a:xfrm>
            <a:custGeom>
              <a:avLst/>
              <a:gdLst/>
              <a:ahLst/>
              <a:cxnLst/>
              <a:rect l="l" t="t" r="r" b="b"/>
              <a:pathLst>
                <a:path w="5806440" h="4434840">
                  <a:moveTo>
                    <a:pt x="5067300" y="0"/>
                  </a:moveTo>
                  <a:lnTo>
                    <a:pt x="739140" y="0"/>
                  </a:lnTo>
                  <a:lnTo>
                    <a:pt x="690541" y="1572"/>
                  </a:lnTo>
                  <a:lnTo>
                    <a:pt x="642782" y="6224"/>
                  </a:lnTo>
                  <a:lnTo>
                    <a:pt x="595959" y="13859"/>
                  </a:lnTo>
                  <a:lnTo>
                    <a:pt x="550171" y="24378"/>
                  </a:lnTo>
                  <a:lnTo>
                    <a:pt x="505514" y="37685"/>
                  </a:lnTo>
                  <a:lnTo>
                    <a:pt x="462086" y="53682"/>
                  </a:lnTo>
                  <a:lnTo>
                    <a:pt x="419985" y="72272"/>
                  </a:lnTo>
                  <a:lnTo>
                    <a:pt x="379307" y="93356"/>
                  </a:lnTo>
                  <a:lnTo>
                    <a:pt x="340151" y="116839"/>
                  </a:lnTo>
                  <a:lnTo>
                    <a:pt x="302613" y="142622"/>
                  </a:lnTo>
                  <a:lnTo>
                    <a:pt x="266791" y="170607"/>
                  </a:lnTo>
                  <a:lnTo>
                    <a:pt x="232782" y="200698"/>
                  </a:lnTo>
                  <a:lnTo>
                    <a:pt x="200684" y="232797"/>
                  </a:lnTo>
                  <a:lnTo>
                    <a:pt x="170595" y="266807"/>
                  </a:lnTo>
                  <a:lnTo>
                    <a:pt x="142611" y="302629"/>
                  </a:lnTo>
                  <a:lnTo>
                    <a:pt x="116829" y="340168"/>
                  </a:lnTo>
                  <a:lnTo>
                    <a:pt x="93348" y="379324"/>
                  </a:lnTo>
                  <a:lnTo>
                    <a:pt x="72265" y="420001"/>
                  </a:lnTo>
                  <a:lnTo>
                    <a:pt x="53677" y="462102"/>
                  </a:lnTo>
                  <a:lnTo>
                    <a:pt x="37681" y="505529"/>
                  </a:lnTo>
                  <a:lnTo>
                    <a:pt x="24376" y="550184"/>
                  </a:lnTo>
                  <a:lnTo>
                    <a:pt x="13857" y="595970"/>
                  </a:lnTo>
                  <a:lnTo>
                    <a:pt x="6223" y="642789"/>
                  </a:lnTo>
                  <a:lnTo>
                    <a:pt x="1572" y="690545"/>
                  </a:lnTo>
                  <a:lnTo>
                    <a:pt x="0" y="739140"/>
                  </a:lnTo>
                  <a:lnTo>
                    <a:pt x="0" y="3695700"/>
                  </a:lnTo>
                  <a:lnTo>
                    <a:pt x="1572" y="3744298"/>
                  </a:lnTo>
                  <a:lnTo>
                    <a:pt x="6223" y="3792057"/>
                  </a:lnTo>
                  <a:lnTo>
                    <a:pt x="13857" y="3838880"/>
                  </a:lnTo>
                  <a:lnTo>
                    <a:pt x="24376" y="3884668"/>
                  </a:lnTo>
                  <a:lnTo>
                    <a:pt x="37681" y="3929325"/>
                  </a:lnTo>
                  <a:lnTo>
                    <a:pt x="53677" y="3972753"/>
                  </a:lnTo>
                  <a:lnTo>
                    <a:pt x="72265" y="4014854"/>
                  </a:lnTo>
                  <a:lnTo>
                    <a:pt x="93348" y="4055532"/>
                  </a:lnTo>
                  <a:lnTo>
                    <a:pt x="116829" y="4094688"/>
                  </a:lnTo>
                  <a:lnTo>
                    <a:pt x="142611" y="4132226"/>
                  </a:lnTo>
                  <a:lnTo>
                    <a:pt x="170595" y="4168048"/>
                  </a:lnTo>
                  <a:lnTo>
                    <a:pt x="200684" y="4202057"/>
                  </a:lnTo>
                  <a:lnTo>
                    <a:pt x="232782" y="4234155"/>
                  </a:lnTo>
                  <a:lnTo>
                    <a:pt x="266791" y="4264244"/>
                  </a:lnTo>
                  <a:lnTo>
                    <a:pt x="302613" y="4292228"/>
                  </a:lnTo>
                  <a:lnTo>
                    <a:pt x="340151" y="4318010"/>
                  </a:lnTo>
                  <a:lnTo>
                    <a:pt x="379307" y="4341491"/>
                  </a:lnTo>
                  <a:lnTo>
                    <a:pt x="419985" y="4362574"/>
                  </a:lnTo>
                  <a:lnTo>
                    <a:pt x="462086" y="4381162"/>
                  </a:lnTo>
                  <a:lnTo>
                    <a:pt x="505514" y="4397158"/>
                  </a:lnTo>
                  <a:lnTo>
                    <a:pt x="550171" y="4410463"/>
                  </a:lnTo>
                  <a:lnTo>
                    <a:pt x="595959" y="4420982"/>
                  </a:lnTo>
                  <a:lnTo>
                    <a:pt x="642782" y="4428616"/>
                  </a:lnTo>
                  <a:lnTo>
                    <a:pt x="690541" y="4433267"/>
                  </a:lnTo>
                  <a:lnTo>
                    <a:pt x="739140" y="4434840"/>
                  </a:lnTo>
                  <a:lnTo>
                    <a:pt x="5067300" y="4434840"/>
                  </a:lnTo>
                  <a:lnTo>
                    <a:pt x="5115894" y="4433267"/>
                  </a:lnTo>
                  <a:lnTo>
                    <a:pt x="5163650" y="4428616"/>
                  </a:lnTo>
                  <a:lnTo>
                    <a:pt x="5210469" y="4420982"/>
                  </a:lnTo>
                  <a:lnTo>
                    <a:pt x="5256255" y="4410463"/>
                  </a:lnTo>
                  <a:lnTo>
                    <a:pt x="5300910" y="4397158"/>
                  </a:lnTo>
                  <a:lnTo>
                    <a:pt x="5344337" y="4381162"/>
                  </a:lnTo>
                  <a:lnTo>
                    <a:pt x="5386438" y="4362574"/>
                  </a:lnTo>
                  <a:lnTo>
                    <a:pt x="5427115" y="4341491"/>
                  </a:lnTo>
                  <a:lnTo>
                    <a:pt x="5466271" y="4318010"/>
                  </a:lnTo>
                  <a:lnTo>
                    <a:pt x="5503810" y="4292228"/>
                  </a:lnTo>
                  <a:lnTo>
                    <a:pt x="5539632" y="4264244"/>
                  </a:lnTo>
                  <a:lnTo>
                    <a:pt x="5573642" y="4234155"/>
                  </a:lnTo>
                  <a:lnTo>
                    <a:pt x="5605741" y="4202057"/>
                  </a:lnTo>
                  <a:lnTo>
                    <a:pt x="5635832" y="4168048"/>
                  </a:lnTo>
                  <a:lnTo>
                    <a:pt x="5663817" y="4132226"/>
                  </a:lnTo>
                  <a:lnTo>
                    <a:pt x="5689600" y="4094688"/>
                  </a:lnTo>
                  <a:lnTo>
                    <a:pt x="5713083" y="4055532"/>
                  </a:lnTo>
                  <a:lnTo>
                    <a:pt x="5734167" y="4014854"/>
                  </a:lnTo>
                  <a:lnTo>
                    <a:pt x="5752757" y="3972753"/>
                  </a:lnTo>
                  <a:lnTo>
                    <a:pt x="5768754" y="3929325"/>
                  </a:lnTo>
                  <a:lnTo>
                    <a:pt x="5782061" y="3884668"/>
                  </a:lnTo>
                  <a:lnTo>
                    <a:pt x="5792580" y="3838880"/>
                  </a:lnTo>
                  <a:lnTo>
                    <a:pt x="5800215" y="3792057"/>
                  </a:lnTo>
                  <a:lnTo>
                    <a:pt x="5804867" y="3744298"/>
                  </a:lnTo>
                  <a:lnTo>
                    <a:pt x="5806440" y="3695700"/>
                  </a:lnTo>
                  <a:lnTo>
                    <a:pt x="5806440" y="739140"/>
                  </a:lnTo>
                  <a:lnTo>
                    <a:pt x="5804867" y="690545"/>
                  </a:lnTo>
                  <a:lnTo>
                    <a:pt x="5800215" y="642789"/>
                  </a:lnTo>
                  <a:lnTo>
                    <a:pt x="5792580" y="595970"/>
                  </a:lnTo>
                  <a:lnTo>
                    <a:pt x="5782061" y="550184"/>
                  </a:lnTo>
                  <a:lnTo>
                    <a:pt x="5768754" y="505529"/>
                  </a:lnTo>
                  <a:lnTo>
                    <a:pt x="5752757" y="462102"/>
                  </a:lnTo>
                  <a:lnTo>
                    <a:pt x="5734167" y="420001"/>
                  </a:lnTo>
                  <a:lnTo>
                    <a:pt x="5713083" y="379324"/>
                  </a:lnTo>
                  <a:lnTo>
                    <a:pt x="5689600" y="340168"/>
                  </a:lnTo>
                  <a:lnTo>
                    <a:pt x="5663817" y="302629"/>
                  </a:lnTo>
                  <a:lnTo>
                    <a:pt x="5635832" y="266807"/>
                  </a:lnTo>
                  <a:lnTo>
                    <a:pt x="5605741" y="232797"/>
                  </a:lnTo>
                  <a:lnTo>
                    <a:pt x="5573642" y="200698"/>
                  </a:lnTo>
                  <a:lnTo>
                    <a:pt x="5539632" y="170607"/>
                  </a:lnTo>
                  <a:lnTo>
                    <a:pt x="5503810" y="142622"/>
                  </a:lnTo>
                  <a:lnTo>
                    <a:pt x="5466271" y="116839"/>
                  </a:lnTo>
                  <a:lnTo>
                    <a:pt x="5427115" y="93356"/>
                  </a:lnTo>
                  <a:lnTo>
                    <a:pt x="5386438" y="72272"/>
                  </a:lnTo>
                  <a:lnTo>
                    <a:pt x="5344337" y="53682"/>
                  </a:lnTo>
                  <a:lnTo>
                    <a:pt x="5300910" y="37685"/>
                  </a:lnTo>
                  <a:lnTo>
                    <a:pt x="5256255" y="24378"/>
                  </a:lnTo>
                  <a:lnTo>
                    <a:pt x="5210469" y="13859"/>
                  </a:lnTo>
                  <a:lnTo>
                    <a:pt x="5163650" y="6224"/>
                  </a:lnTo>
                  <a:lnTo>
                    <a:pt x="5115894" y="1572"/>
                  </a:lnTo>
                  <a:lnTo>
                    <a:pt x="5067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6646" y="1876805"/>
              <a:ext cx="5806440" cy="4434840"/>
            </a:xfrm>
            <a:custGeom>
              <a:avLst/>
              <a:gdLst/>
              <a:ahLst/>
              <a:cxnLst/>
              <a:rect l="l" t="t" r="r" b="b"/>
              <a:pathLst>
                <a:path w="5806440" h="4434840">
                  <a:moveTo>
                    <a:pt x="0" y="739140"/>
                  </a:moveTo>
                  <a:lnTo>
                    <a:pt x="1572" y="690545"/>
                  </a:lnTo>
                  <a:lnTo>
                    <a:pt x="6223" y="642789"/>
                  </a:lnTo>
                  <a:lnTo>
                    <a:pt x="13857" y="595970"/>
                  </a:lnTo>
                  <a:lnTo>
                    <a:pt x="24376" y="550184"/>
                  </a:lnTo>
                  <a:lnTo>
                    <a:pt x="37681" y="505529"/>
                  </a:lnTo>
                  <a:lnTo>
                    <a:pt x="53677" y="462102"/>
                  </a:lnTo>
                  <a:lnTo>
                    <a:pt x="72265" y="420001"/>
                  </a:lnTo>
                  <a:lnTo>
                    <a:pt x="93348" y="379324"/>
                  </a:lnTo>
                  <a:lnTo>
                    <a:pt x="116829" y="340168"/>
                  </a:lnTo>
                  <a:lnTo>
                    <a:pt x="142611" y="302629"/>
                  </a:lnTo>
                  <a:lnTo>
                    <a:pt x="170595" y="266807"/>
                  </a:lnTo>
                  <a:lnTo>
                    <a:pt x="200684" y="232797"/>
                  </a:lnTo>
                  <a:lnTo>
                    <a:pt x="232782" y="200698"/>
                  </a:lnTo>
                  <a:lnTo>
                    <a:pt x="266791" y="170607"/>
                  </a:lnTo>
                  <a:lnTo>
                    <a:pt x="302613" y="142622"/>
                  </a:lnTo>
                  <a:lnTo>
                    <a:pt x="340151" y="116839"/>
                  </a:lnTo>
                  <a:lnTo>
                    <a:pt x="379307" y="93356"/>
                  </a:lnTo>
                  <a:lnTo>
                    <a:pt x="419985" y="72272"/>
                  </a:lnTo>
                  <a:lnTo>
                    <a:pt x="462086" y="53682"/>
                  </a:lnTo>
                  <a:lnTo>
                    <a:pt x="505514" y="37685"/>
                  </a:lnTo>
                  <a:lnTo>
                    <a:pt x="550171" y="24378"/>
                  </a:lnTo>
                  <a:lnTo>
                    <a:pt x="595959" y="13859"/>
                  </a:lnTo>
                  <a:lnTo>
                    <a:pt x="642782" y="6224"/>
                  </a:lnTo>
                  <a:lnTo>
                    <a:pt x="690541" y="1572"/>
                  </a:lnTo>
                  <a:lnTo>
                    <a:pt x="739140" y="0"/>
                  </a:lnTo>
                  <a:lnTo>
                    <a:pt x="5067300" y="0"/>
                  </a:lnTo>
                  <a:lnTo>
                    <a:pt x="5115894" y="1572"/>
                  </a:lnTo>
                  <a:lnTo>
                    <a:pt x="5163650" y="6224"/>
                  </a:lnTo>
                  <a:lnTo>
                    <a:pt x="5210469" y="13859"/>
                  </a:lnTo>
                  <a:lnTo>
                    <a:pt x="5256255" y="24378"/>
                  </a:lnTo>
                  <a:lnTo>
                    <a:pt x="5300910" y="37685"/>
                  </a:lnTo>
                  <a:lnTo>
                    <a:pt x="5344337" y="53682"/>
                  </a:lnTo>
                  <a:lnTo>
                    <a:pt x="5386438" y="72272"/>
                  </a:lnTo>
                  <a:lnTo>
                    <a:pt x="5427115" y="93356"/>
                  </a:lnTo>
                  <a:lnTo>
                    <a:pt x="5466271" y="116839"/>
                  </a:lnTo>
                  <a:lnTo>
                    <a:pt x="5503810" y="142622"/>
                  </a:lnTo>
                  <a:lnTo>
                    <a:pt x="5539632" y="170607"/>
                  </a:lnTo>
                  <a:lnTo>
                    <a:pt x="5573642" y="200698"/>
                  </a:lnTo>
                  <a:lnTo>
                    <a:pt x="5605741" y="232797"/>
                  </a:lnTo>
                  <a:lnTo>
                    <a:pt x="5635832" y="266807"/>
                  </a:lnTo>
                  <a:lnTo>
                    <a:pt x="5663817" y="302629"/>
                  </a:lnTo>
                  <a:lnTo>
                    <a:pt x="5689600" y="340168"/>
                  </a:lnTo>
                  <a:lnTo>
                    <a:pt x="5713083" y="379324"/>
                  </a:lnTo>
                  <a:lnTo>
                    <a:pt x="5734167" y="420001"/>
                  </a:lnTo>
                  <a:lnTo>
                    <a:pt x="5752757" y="462102"/>
                  </a:lnTo>
                  <a:lnTo>
                    <a:pt x="5768754" y="505529"/>
                  </a:lnTo>
                  <a:lnTo>
                    <a:pt x="5782061" y="550184"/>
                  </a:lnTo>
                  <a:lnTo>
                    <a:pt x="5792580" y="595970"/>
                  </a:lnTo>
                  <a:lnTo>
                    <a:pt x="5800215" y="642789"/>
                  </a:lnTo>
                  <a:lnTo>
                    <a:pt x="5804867" y="690545"/>
                  </a:lnTo>
                  <a:lnTo>
                    <a:pt x="5806440" y="739140"/>
                  </a:lnTo>
                  <a:lnTo>
                    <a:pt x="5806440" y="3695700"/>
                  </a:lnTo>
                  <a:lnTo>
                    <a:pt x="5804867" y="3744298"/>
                  </a:lnTo>
                  <a:lnTo>
                    <a:pt x="5800215" y="3792057"/>
                  </a:lnTo>
                  <a:lnTo>
                    <a:pt x="5792580" y="3838880"/>
                  </a:lnTo>
                  <a:lnTo>
                    <a:pt x="5782061" y="3884668"/>
                  </a:lnTo>
                  <a:lnTo>
                    <a:pt x="5768754" y="3929325"/>
                  </a:lnTo>
                  <a:lnTo>
                    <a:pt x="5752757" y="3972753"/>
                  </a:lnTo>
                  <a:lnTo>
                    <a:pt x="5734167" y="4014854"/>
                  </a:lnTo>
                  <a:lnTo>
                    <a:pt x="5713083" y="4055532"/>
                  </a:lnTo>
                  <a:lnTo>
                    <a:pt x="5689600" y="4094688"/>
                  </a:lnTo>
                  <a:lnTo>
                    <a:pt x="5663817" y="4132226"/>
                  </a:lnTo>
                  <a:lnTo>
                    <a:pt x="5635832" y="4168048"/>
                  </a:lnTo>
                  <a:lnTo>
                    <a:pt x="5605741" y="4202057"/>
                  </a:lnTo>
                  <a:lnTo>
                    <a:pt x="5573642" y="4234155"/>
                  </a:lnTo>
                  <a:lnTo>
                    <a:pt x="5539632" y="4264244"/>
                  </a:lnTo>
                  <a:lnTo>
                    <a:pt x="5503810" y="4292228"/>
                  </a:lnTo>
                  <a:lnTo>
                    <a:pt x="5466271" y="4318010"/>
                  </a:lnTo>
                  <a:lnTo>
                    <a:pt x="5427115" y="4341491"/>
                  </a:lnTo>
                  <a:lnTo>
                    <a:pt x="5386438" y="4362574"/>
                  </a:lnTo>
                  <a:lnTo>
                    <a:pt x="5344337" y="4381162"/>
                  </a:lnTo>
                  <a:lnTo>
                    <a:pt x="5300910" y="4397158"/>
                  </a:lnTo>
                  <a:lnTo>
                    <a:pt x="5256255" y="4410463"/>
                  </a:lnTo>
                  <a:lnTo>
                    <a:pt x="5210469" y="4420982"/>
                  </a:lnTo>
                  <a:lnTo>
                    <a:pt x="5163650" y="4428616"/>
                  </a:lnTo>
                  <a:lnTo>
                    <a:pt x="5115894" y="4433267"/>
                  </a:lnTo>
                  <a:lnTo>
                    <a:pt x="5067300" y="4434840"/>
                  </a:lnTo>
                  <a:lnTo>
                    <a:pt x="739140" y="4434840"/>
                  </a:lnTo>
                  <a:lnTo>
                    <a:pt x="690541" y="4433267"/>
                  </a:lnTo>
                  <a:lnTo>
                    <a:pt x="642782" y="4428616"/>
                  </a:lnTo>
                  <a:lnTo>
                    <a:pt x="595959" y="4420982"/>
                  </a:lnTo>
                  <a:lnTo>
                    <a:pt x="550171" y="4410463"/>
                  </a:lnTo>
                  <a:lnTo>
                    <a:pt x="505514" y="4397158"/>
                  </a:lnTo>
                  <a:lnTo>
                    <a:pt x="462086" y="4381162"/>
                  </a:lnTo>
                  <a:lnTo>
                    <a:pt x="419985" y="4362574"/>
                  </a:lnTo>
                  <a:lnTo>
                    <a:pt x="379307" y="4341491"/>
                  </a:lnTo>
                  <a:lnTo>
                    <a:pt x="340151" y="4318010"/>
                  </a:lnTo>
                  <a:lnTo>
                    <a:pt x="302613" y="4292228"/>
                  </a:lnTo>
                  <a:lnTo>
                    <a:pt x="266791" y="4264244"/>
                  </a:lnTo>
                  <a:lnTo>
                    <a:pt x="232782" y="4234155"/>
                  </a:lnTo>
                  <a:lnTo>
                    <a:pt x="200684" y="4202057"/>
                  </a:lnTo>
                  <a:lnTo>
                    <a:pt x="170595" y="4168048"/>
                  </a:lnTo>
                  <a:lnTo>
                    <a:pt x="142611" y="4132226"/>
                  </a:lnTo>
                  <a:lnTo>
                    <a:pt x="116829" y="4094688"/>
                  </a:lnTo>
                  <a:lnTo>
                    <a:pt x="93348" y="4055532"/>
                  </a:lnTo>
                  <a:lnTo>
                    <a:pt x="72265" y="4014854"/>
                  </a:lnTo>
                  <a:lnTo>
                    <a:pt x="53677" y="3972753"/>
                  </a:lnTo>
                  <a:lnTo>
                    <a:pt x="37681" y="3929325"/>
                  </a:lnTo>
                  <a:lnTo>
                    <a:pt x="24376" y="3884668"/>
                  </a:lnTo>
                  <a:lnTo>
                    <a:pt x="13857" y="3838880"/>
                  </a:lnTo>
                  <a:lnTo>
                    <a:pt x="6223" y="3792057"/>
                  </a:lnTo>
                  <a:lnTo>
                    <a:pt x="1572" y="3744298"/>
                  </a:lnTo>
                  <a:lnTo>
                    <a:pt x="0" y="3695700"/>
                  </a:lnTo>
                  <a:lnTo>
                    <a:pt x="0" y="739140"/>
                  </a:lnTo>
                  <a:close/>
                </a:path>
              </a:pathLst>
            </a:custGeom>
            <a:ln w="13715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1880" y="1457020"/>
            <a:ext cx="6299835" cy="22663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Keep</a:t>
            </a:r>
            <a:r>
              <a:rPr sz="1550" spc="8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the</a:t>
            </a:r>
            <a:r>
              <a:rPr sz="1550" spc="9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final</a:t>
            </a:r>
            <a:r>
              <a:rPr sz="1550" spc="8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submission</a:t>
            </a:r>
            <a:r>
              <a:rPr sz="1550" spc="16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deck</a:t>
            </a:r>
            <a:r>
              <a:rPr sz="1550" spc="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concise.</a:t>
            </a:r>
            <a:r>
              <a:rPr sz="1550" spc="9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Use</a:t>
            </a:r>
            <a:r>
              <a:rPr sz="1550" spc="9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visuals;</a:t>
            </a:r>
            <a:r>
              <a:rPr sz="1550" spc="1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avoid</a:t>
            </a:r>
            <a:r>
              <a:rPr sz="1550" spc="8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dense</a:t>
            </a:r>
            <a:r>
              <a:rPr sz="1550" spc="9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4A5462"/>
                </a:solidFill>
                <a:latin typeface="Calibri"/>
                <a:cs typeface="Calibri"/>
              </a:rPr>
              <a:t>paragraphs.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5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sz="1550" b="1" dirty="0">
                <a:solidFill>
                  <a:srgbClr val="111727"/>
                </a:solidFill>
                <a:latin typeface="Calibri"/>
                <a:cs typeface="Calibri"/>
              </a:rPr>
              <a:t>Before</a:t>
            </a:r>
            <a:r>
              <a:rPr sz="1550" b="1" spc="4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11727"/>
                </a:solidFill>
                <a:latin typeface="Calibri"/>
                <a:cs typeface="Calibri"/>
              </a:rPr>
              <a:t>you</a:t>
            </a:r>
            <a:r>
              <a:rPr sz="1550" b="1" spc="6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550" b="1" spc="-20" dirty="0">
                <a:solidFill>
                  <a:srgbClr val="111727"/>
                </a:solidFill>
                <a:latin typeface="Calibri"/>
                <a:cs typeface="Calibri"/>
              </a:rPr>
              <a:t>start</a:t>
            </a:r>
            <a:endParaRPr sz="1550">
              <a:latin typeface="Calibri"/>
              <a:cs typeface="Calibri"/>
            </a:endParaRPr>
          </a:p>
          <a:p>
            <a:pPr marL="441959" indent="-173355">
              <a:lnSpc>
                <a:spcPct val="100000"/>
              </a:lnSpc>
              <a:spcBef>
                <a:spcPts val="894"/>
              </a:spcBef>
              <a:buAutoNum type="arabicParenR"/>
              <a:tabLst>
                <a:tab pos="441959" algn="l"/>
              </a:tabLst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Choose</a:t>
            </a:r>
            <a:r>
              <a:rPr sz="1300" spc="-2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prototype</a:t>
            </a:r>
            <a:r>
              <a:rPr sz="1300" spc="-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strategy</a:t>
            </a:r>
            <a:r>
              <a:rPr sz="1300" spc="-5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(Option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A/B/C/D)</a:t>
            </a:r>
            <a:r>
              <a:rPr sz="13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and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delete</a:t>
            </a:r>
            <a:r>
              <a:rPr sz="1300" spc="-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the</a:t>
            </a:r>
            <a:r>
              <a:rPr sz="13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other </a:t>
            </a:r>
            <a:r>
              <a:rPr sz="1300" spc="-50" dirty="0">
                <a:solidFill>
                  <a:srgbClr val="4A5462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slides.</a:t>
            </a:r>
            <a:endParaRPr sz="1300">
              <a:latin typeface="Calibri"/>
              <a:cs typeface="Calibri"/>
            </a:endParaRPr>
          </a:p>
          <a:p>
            <a:pPr marL="441959" indent="-173355">
              <a:lnSpc>
                <a:spcPct val="100000"/>
              </a:lnSpc>
              <a:spcBef>
                <a:spcPts val="170"/>
              </a:spcBef>
              <a:buAutoNum type="arabicParenR" startAt="2"/>
              <a:tabLst>
                <a:tab pos="441959" algn="l"/>
              </a:tabLst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Delete</a:t>
            </a:r>
            <a:r>
              <a:rPr sz="13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this</a:t>
            </a:r>
            <a:r>
              <a:rPr sz="1300" spc="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“READ</a:t>
            </a:r>
            <a:r>
              <a:rPr sz="1300" spc="-7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ME”</a:t>
            </a:r>
            <a:r>
              <a:rPr sz="13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slide</a:t>
            </a:r>
            <a:r>
              <a:rPr sz="1300" spc="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before</a:t>
            </a:r>
            <a:r>
              <a:rPr sz="1300" spc="-6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final</a:t>
            </a:r>
            <a:r>
              <a:rPr sz="1300" spc="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submission.</a:t>
            </a:r>
            <a:endParaRPr sz="1300">
              <a:latin typeface="Calibri"/>
              <a:cs typeface="Calibri"/>
            </a:endParaRPr>
          </a:p>
          <a:p>
            <a:pPr marL="441959" indent="-173355">
              <a:lnSpc>
                <a:spcPct val="100000"/>
              </a:lnSpc>
              <a:spcBef>
                <a:spcPts val="170"/>
              </a:spcBef>
              <a:buAutoNum type="arabicParenR" startAt="2"/>
              <a:tabLst>
                <a:tab pos="441959" algn="l"/>
              </a:tabLst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Build in</a:t>
            </a:r>
            <a:r>
              <a:rPr sz="1300" spc="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short</a:t>
            </a:r>
            <a:r>
              <a:rPr sz="13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iterations:</a:t>
            </a:r>
            <a:r>
              <a:rPr sz="1300" spc="1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v1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→</a:t>
            </a:r>
            <a:r>
              <a:rPr sz="1300" spc="-2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v2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(at least</a:t>
            </a:r>
            <a:r>
              <a:rPr sz="1300" spc="-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4A5462"/>
                </a:solidFill>
                <a:latin typeface="Calibri"/>
                <a:cs typeface="Calibri"/>
              </a:rPr>
              <a:t>2).</a:t>
            </a:r>
            <a:endParaRPr sz="1300">
              <a:latin typeface="Calibri"/>
              <a:cs typeface="Calibri"/>
            </a:endParaRPr>
          </a:p>
          <a:p>
            <a:pPr marL="441959" indent="-173355">
              <a:lnSpc>
                <a:spcPct val="100000"/>
              </a:lnSpc>
              <a:spcBef>
                <a:spcPts val="130"/>
              </a:spcBef>
              <a:buAutoNum type="arabicParenR" startAt="2"/>
              <a:tabLst>
                <a:tab pos="441959" algn="l"/>
              </a:tabLst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Capture</a:t>
            </a:r>
            <a:r>
              <a:rPr sz="1300" spc="-6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evidence</a:t>
            </a:r>
            <a:r>
              <a:rPr sz="13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(screenshots,</a:t>
            </a:r>
            <a:r>
              <a:rPr sz="13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logs,</a:t>
            </a:r>
            <a:r>
              <a:rPr sz="13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photos)</a:t>
            </a:r>
            <a:r>
              <a:rPr sz="13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you</a:t>
            </a:r>
            <a:r>
              <a:rPr sz="13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build.</a:t>
            </a:r>
            <a:endParaRPr sz="1300">
              <a:latin typeface="Calibri"/>
              <a:cs typeface="Calibri"/>
            </a:endParaRPr>
          </a:p>
          <a:p>
            <a:pPr marL="441959" indent="-173355">
              <a:lnSpc>
                <a:spcPct val="100000"/>
              </a:lnSpc>
              <a:spcBef>
                <a:spcPts val="170"/>
              </a:spcBef>
              <a:buAutoNum type="arabicParenR" startAt="2"/>
              <a:tabLst>
                <a:tab pos="441959" algn="l"/>
              </a:tabLst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Keep</a:t>
            </a:r>
            <a:r>
              <a:rPr sz="13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scope</a:t>
            </a:r>
            <a:r>
              <a:rPr sz="1300" spc="-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tight:</a:t>
            </a:r>
            <a:r>
              <a:rPr sz="1300" spc="-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focus</a:t>
            </a:r>
            <a:r>
              <a:rPr sz="1300" spc="-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on</a:t>
            </a:r>
            <a:r>
              <a:rPr sz="1300" spc="-2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biggest</a:t>
            </a:r>
            <a:r>
              <a:rPr sz="13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risk</a:t>
            </a:r>
            <a:r>
              <a:rPr sz="13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4A5462"/>
                </a:solidFill>
                <a:latin typeface="Calibri"/>
                <a:cs typeface="Calibri"/>
              </a:rPr>
              <a:t>PoC.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66713" y="1866043"/>
            <a:ext cx="5534025" cy="4479290"/>
            <a:chOff x="6666713" y="1866043"/>
            <a:chExt cx="5534025" cy="447929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6713" y="1866043"/>
              <a:ext cx="5526810" cy="447897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77406" y="1876805"/>
              <a:ext cx="5516245" cy="4434840"/>
            </a:xfrm>
            <a:custGeom>
              <a:avLst/>
              <a:gdLst/>
              <a:ahLst/>
              <a:cxnLst/>
              <a:rect l="l" t="t" r="r" b="b"/>
              <a:pathLst>
                <a:path w="5516245" h="4434840">
                  <a:moveTo>
                    <a:pt x="4792980" y="0"/>
                  </a:moveTo>
                  <a:lnTo>
                    <a:pt x="739140" y="0"/>
                  </a:lnTo>
                  <a:lnTo>
                    <a:pt x="690545" y="1572"/>
                  </a:lnTo>
                  <a:lnTo>
                    <a:pt x="642789" y="6224"/>
                  </a:lnTo>
                  <a:lnTo>
                    <a:pt x="595970" y="13859"/>
                  </a:lnTo>
                  <a:lnTo>
                    <a:pt x="550184" y="24378"/>
                  </a:lnTo>
                  <a:lnTo>
                    <a:pt x="505529" y="37685"/>
                  </a:lnTo>
                  <a:lnTo>
                    <a:pt x="462102" y="53682"/>
                  </a:lnTo>
                  <a:lnTo>
                    <a:pt x="420001" y="72272"/>
                  </a:lnTo>
                  <a:lnTo>
                    <a:pt x="379324" y="93356"/>
                  </a:lnTo>
                  <a:lnTo>
                    <a:pt x="340168" y="116839"/>
                  </a:lnTo>
                  <a:lnTo>
                    <a:pt x="302629" y="142622"/>
                  </a:lnTo>
                  <a:lnTo>
                    <a:pt x="266807" y="170607"/>
                  </a:lnTo>
                  <a:lnTo>
                    <a:pt x="232797" y="200698"/>
                  </a:lnTo>
                  <a:lnTo>
                    <a:pt x="200698" y="232797"/>
                  </a:lnTo>
                  <a:lnTo>
                    <a:pt x="170607" y="266807"/>
                  </a:lnTo>
                  <a:lnTo>
                    <a:pt x="142622" y="302629"/>
                  </a:lnTo>
                  <a:lnTo>
                    <a:pt x="116839" y="340168"/>
                  </a:lnTo>
                  <a:lnTo>
                    <a:pt x="93356" y="379324"/>
                  </a:lnTo>
                  <a:lnTo>
                    <a:pt x="72272" y="420001"/>
                  </a:lnTo>
                  <a:lnTo>
                    <a:pt x="53682" y="462102"/>
                  </a:lnTo>
                  <a:lnTo>
                    <a:pt x="37685" y="505529"/>
                  </a:lnTo>
                  <a:lnTo>
                    <a:pt x="24378" y="550184"/>
                  </a:lnTo>
                  <a:lnTo>
                    <a:pt x="13859" y="595970"/>
                  </a:lnTo>
                  <a:lnTo>
                    <a:pt x="6224" y="642789"/>
                  </a:lnTo>
                  <a:lnTo>
                    <a:pt x="1572" y="690545"/>
                  </a:lnTo>
                  <a:lnTo>
                    <a:pt x="0" y="739140"/>
                  </a:lnTo>
                  <a:lnTo>
                    <a:pt x="0" y="3695700"/>
                  </a:lnTo>
                  <a:lnTo>
                    <a:pt x="1572" y="3744298"/>
                  </a:lnTo>
                  <a:lnTo>
                    <a:pt x="6224" y="3792057"/>
                  </a:lnTo>
                  <a:lnTo>
                    <a:pt x="13859" y="3838880"/>
                  </a:lnTo>
                  <a:lnTo>
                    <a:pt x="24378" y="3884668"/>
                  </a:lnTo>
                  <a:lnTo>
                    <a:pt x="37685" y="3929325"/>
                  </a:lnTo>
                  <a:lnTo>
                    <a:pt x="53682" y="3972753"/>
                  </a:lnTo>
                  <a:lnTo>
                    <a:pt x="72272" y="4014854"/>
                  </a:lnTo>
                  <a:lnTo>
                    <a:pt x="93356" y="4055532"/>
                  </a:lnTo>
                  <a:lnTo>
                    <a:pt x="116839" y="4094688"/>
                  </a:lnTo>
                  <a:lnTo>
                    <a:pt x="142622" y="4132226"/>
                  </a:lnTo>
                  <a:lnTo>
                    <a:pt x="170607" y="4168048"/>
                  </a:lnTo>
                  <a:lnTo>
                    <a:pt x="200698" y="4202057"/>
                  </a:lnTo>
                  <a:lnTo>
                    <a:pt x="232797" y="4234155"/>
                  </a:lnTo>
                  <a:lnTo>
                    <a:pt x="266807" y="4264244"/>
                  </a:lnTo>
                  <a:lnTo>
                    <a:pt x="302629" y="4292228"/>
                  </a:lnTo>
                  <a:lnTo>
                    <a:pt x="340168" y="4318010"/>
                  </a:lnTo>
                  <a:lnTo>
                    <a:pt x="379324" y="4341491"/>
                  </a:lnTo>
                  <a:lnTo>
                    <a:pt x="420001" y="4362574"/>
                  </a:lnTo>
                  <a:lnTo>
                    <a:pt x="462102" y="4381162"/>
                  </a:lnTo>
                  <a:lnTo>
                    <a:pt x="505529" y="4397158"/>
                  </a:lnTo>
                  <a:lnTo>
                    <a:pt x="550184" y="4410463"/>
                  </a:lnTo>
                  <a:lnTo>
                    <a:pt x="595970" y="4420982"/>
                  </a:lnTo>
                  <a:lnTo>
                    <a:pt x="642789" y="4428616"/>
                  </a:lnTo>
                  <a:lnTo>
                    <a:pt x="690545" y="4433267"/>
                  </a:lnTo>
                  <a:lnTo>
                    <a:pt x="739140" y="4434840"/>
                  </a:lnTo>
                  <a:lnTo>
                    <a:pt x="4792980" y="4434840"/>
                  </a:lnTo>
                  <a:lnTo>
                    <a:pt x="4841574" y="4433267"/>
                  </a:lnTo>
                  <a:lnTo>
                    <a:pt x="4889330" y="4428616"/>
                  </a:lnTo>
                  <a:lnTo>
                    <a:pt x="4936149" y="4420982"/>
                  </a:lnTo>
                  <a:lnTo>
                    <a:pt x="4981935" y="4410463"/>
                  </a:lnTo>
                  <a:lnTo>
                    <a:pt x="5026590" y="4397158"/>
                  </a:lnTo>
                  <a:lnTo>
                    <a:pt x="5070017" y="4381162"/>
                  </a:lnTo>
                  <a:lnTo>
                    <a:pt x="5112118" y="4362574"/>
                  </a:lnTo>
                  <a:lnTo>
                    <a:pt x="5152795" y="4341491"/>
                  </a:lnTo>
                  <a:lnTo>
                    <a:pt x="5191951" y="4318010"/>
                  </a:lnTo>
                  <a:lnTo>
                    <a:pt x="5229490" y="4292228"/>
                  </a:lnTo>
                  <a:lnTo>
                    <a:pt x="5265312" y="4264244"/>
                  </a:lnTo>
                  <a:lnTo>
                    <a:pt x="5299322" y="4234155"/>
                  </a:lnTo>
                  <a:lnTo>
                    <a:pt x="5331421" y="4202057"/>
                  </a:lnTo>
                  <a:lnTo>
                    <a:pt x="5361512" y="4168048"/>
                  </a:lnTo>
                  <a:lnTo>
                    <a:pt x="5389497" y="4132226"/>
                  </a:lnTo>
                  <a:lnTo>
                    <a:pt x="5415280" y="4094688"/>
                  </a:lnTo>
                  <a:lnTo>
                    <a:pt x="5438763" y="4055532"/>
                  </a:lnTo>
                  <a:lnTo>
                    <a:pt x="5459847" y="4014854"/>
                  </a:lnTo>
                  <a:lnTo>
                    <a:pt x="5478437" y="3972753"/>
                  </a:lnTo>
                  <a:lnTo>
                    <a:pt x="5494434" y="3929325"/>
                  </a:lnTo>
                  <a:lnTo>
                    <a:pt x="5507741" y="3884668"/>
                  </a:lnTo>
                  <a:lnTo>
                    <a:pt x="5516117" y="3848208"/>
                  </a:lnTo>
                  <a:lnTo>
                    <a:pt x="5516117" y="586642"/>
                  </a:lnTo>
                  <a:lnTo>
                    <a:pt x="5494434" y="505529"/>
                  </a:lnTo>
                  <a:lnTo>
                    <a:pt x="5478437" y="462102"/>
                  </a:lnTo>
                  <a:lnTo>
                    <a:pt x="5459847" y="420001"/>
                  </a:lnTo>
                  <a:lnTo>
                    <a:pt x="5438763" y="379324"/>
                  </a:lnTo>
                  <a:lnTo>
                    <a:pt x="5415280" y="340168"/>
                  </a:lnTo>
                  <a:lnTo>
                    <a:pt x="5389497" y="302629"/>
                  </a:lnTo>
                  <a:lnTo>
                    <a:pt x="5361512" y="266807"/>
                  </a:lnTo>
                  <a:lnTo>
                    <a:pt x="5331421" y="232797"/>
                  </a:lnTo>
                  <a:lnTo>
                    <a:pt x="5299322" y="200698"/>
                  </a:lnTo>
                  <a:lnTo>
                    <a:pt x="5265312" y="170607"/>
                  </a:lnTo>
                  <a:lnTo>
                    <a:pt x="5229490" y="142622"/>
                  </a:lnTo>
                  <a:lnTo>
                    <a:pt x="5191951" y="116839"/>
                  </a:lnTo>
                  <a:lnTo>
                    <a:pt x="5152795" y="93356"/>
                  </a:lnTo>
                  <a:lnTo>
                    <a:pt x="5112118" y="72272"/>
                  </a:lnTo>
                  <a:lnTo>
                    <a:pt x="5070017" y="53682"/>
                  </a:lnTo>
                  <a:lnTo>
                    <a:pt x="5026590" y="37685"/>
                  </a:lnTo>
                  <a:lnTo>
                    <a:pt x="4981935" y="24378"/>
                  </a:lnTo>
                  <a:lnTo>
                    <a:pt x="4936149" y="13859"/>
                  </a:lnTo>
                  <a:lnTo>
                    <a:pt x="4889330" y="6224"/>
                  </a:lnTo>
                  <a:lnTo>
                    <a:pt x="4841574" y="1572"/>
                  </a:lnTo>
                  <a:lnTo>
                    <a:pt x="47929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77406" y="1876805"/>
              <a:ext cx="5516245" cy="4434840"/>
            </a:xfrm>
            <a:custGeom>
              <a:avLst/>
              <a:gdLst/>
              <a:ahLst/>
              <a:cxnLst/>
              <a:rect l="l" t="t" r="r" b="b"/>
              <a:pathLst>
                <a:path w="5516245" h="4434840">
                  <a:moveTo>
                    <a:pt x="5516117" y="3848208"/>
                  </a:moveTo>
                  <a:lnTo>
                    <a:pt x="5494434" y="3929325"/>
                  </a:lnTo>
                  <a:lnTo>
                    <a:pt x="5478437" y="3972753"/>
                  </a:lnTo>
                  <a:lnTo>
                    <a:pt x="5459847" y="4014854"/>
                  </a:lnTo>
                  <a:lnTo>
                    <a:pt x="5438763" y="4055532"/>
                  </a:lnTo>
                  <a:lnTo>
                    <a:pt x="5415280" y="4094688"/>
                  </a:lnTo>
                  <a:lnTo>
                    <a:pt x="5389497" y="4132226"/>
                  </a:lnTo>
                  <a:lnTo>
                    <a:pt x="5361512" y="4168048"/>
                  </a:lnTo>
                  <a:lnTo>
                    <a:pt x="5331421" y="4202057"/>
                  </a:lnTo>
                  <a:lnTo>
                    <a:pt x="5299322" y="4234155"/>
                  </a:lnTo>
                  <a:lnTo>
                    <a:pt x="5265312" y="4264244"/>
                  </a:lnTo>
                  <a:lnTo>
                    <a:pt x="5229490" y="4292228"/>
                  </a:lnTo>
                  <a:lnTo>
                    <a:pt x="5191951" y="4318010"/>
                  </a:lnTo>
                  <a:lnTo>
                    <a:pt x="5152795" y="4341491"/>
                  </a:lnTo>
                  <a:lnTo>
                    <a:pt x="5112118" y="4362574"/>
                  </a:lnTo>
                  <a:lnTo>
                    <a:pt x="5070017" y="4381162"/>
                  </a:lnTo>
                  <a:lnTo>
                    <a:pt x="5026590" y="4397158"/>
                  </a:lnTo>
                  <a:lnTo>
                    <a:pt x="4981935" y="4410463"/>
                  </a:lnTo>
                  <a:lnTo>
                    <a:pt x="4936149" y="4420982"/>
                  </a:lnTo>
                  <a:lnTo>
                    <a:pt x="4889330" y="4428616"/>
                  </a:lnTo>
                  <a:lnTo>
                    <a:pt x="4841574" y="4433267"/>
                  </a:lnTo>
                  <a:lnTo>
                    <a:pt x="4792980" y="4434840"/>
                  </a:lnTo>
                  <a:lnTo>
                    <a:pt x="739140" y="4434840"/>
                  </a:lnTo>
                  <a:lnTo>
                    <a:pt x="690545" y="4433267"/>
                  </a:lnTo>
                  <a:lnTo>
                    <a:pt x="642789" y="4428616"/>
                  </a:lnTo>
                  <a:lnTo>
                    <a:pt x="595970" y="4420982"/>
                  </a:lnTo>
                  <a:lnTo>
                    <a:pt x="550184" y="4410463"/>
                  </a:lnTo>
                  <a:lnTo>
                    <a:pt x="505529" y="4397158"/>
                  </a:lnTo>
                  <a:lnTo>
                    <a:pt x="462102" y="4381162"/>
                  </a:lnTo>
                  <a:lnTo>
                    <a:pt x="420001" y="4362574"/>
                  </a:lnTo>
                  <a:lnTo>
                    <a:pt x="379324" y="4341491"/>
                  </a:lnTo>
                  <a:lnTo>
                    <a:pt x="340168" y="4318010"/>
                  </a:lnTo>
                  <a:lnTo>
                    <a:pt x="302629" y="4292228"/>
                  </a:lnTo>
                  <a:lnTo>
                    <a:pt x="266807" y="4264244"/>
                  </a:lnTo>
                  <a:lnTo>
                    <a:pt x="232797" y="4234155"/>
                  </a:lnTo>
                  <a:lnTo>
                    <a:pt x="200698" y="4202057"/>
                  </a:lnTo>
                  <a:lnTo>
                    <a:pt x="170607" y="4168048"/>
                  </a:lnTo>
                  <a:lnTo>
                    <a:pt x="142622" y="4132226"/>
                  </a:lnTo>
                  <a:lnTo>
                    <a:pt x="116839" y="4094688"/>
                  </a:lnTo>
                  <a:lnTo>
                    <a:pt x="93356" y="4055532"/>
                  </a:lnTo>
                  <a:lnTo>
                    <a:pt x="72272" y="4014854"/>
                  </a:lnTo>
                  <a:lnTo>
                    <a:pt x="53682" y="3972753"/>
                  </a:lnTo>
                  <a:lnTo>
                    <a:pt x="37685" y="3929325"/>
                  </a:lnTo>
                  <a:lnTo>
                    <a:pt x="24378" y="3884668"/>
                  </a:lnTo>
                  <a:lnTo>
                    <a:pt x="13859" y="3838880"/>
                  </a:lnTo>
                  <a:lnTo>
                    <a:pt x="6224" y="3792057"/>
                  </a:lnTo>
                  <a:lnTo>
                    <a:pt x="1572" y="3744298"/>
                  </a:lnTo>
                  <a:lnTo>
                    <a:pt x="0" y="3695700"/>
                  </a:lnTo>
                  <a:lnTo>
                    <a:pt x="0" y="739140"/>
                  </a:lnTo>
                  <a:lnTo>
                    <a:pt x="1572" y="690545"/>
                  </a:lnTo>
                  <a:lnTo>
                    <a:pt x="6224" y="642789"/>
                  </a:lnTo>
                  <a:lnTo>
                    <a:pt x="13859" y="595970"/>
                  </a:lnTo>
                  <a:lnTo>
                    <a:pt x="24378" y="550184"/>
                  </a:lnTo>
                  <a:lnTo>
                    <a:pt x="37685" y="505529"/>
                  </a:lnTo>
                  <a:lnTo>
                    <a:pt x="53682" y="462102"/>
                  </a:lnTo>
                  <a:lnTo>
                    <a:pt x="72272" y="420001"/>
                  </a:lnTo>
                  <a:lnTo>
                    <a:pt x="93356" y="379324"/>
                  </a:lnTo>
                  <a:lnTo>
                    <a:pt x="116839" y="340168"/>
                  </a:lnTo>
                  <a:lnTo>
                    <a:pt x="142622" y="302629"/>
                  </a:lnTo>
                  <a:lnTo>
                    <a:pt x="170607" y="266807"/>
                  </a:lnTo>
                  <a:lnTo>
                    <a:pt x="200698" y="232797"/>
                  </a:lnTo>
                  <a:lnTo>
                    <a:pt x="232797" y="200698"/>
                  </a:lnTo>
                  <a:lnTo>
                    <a:pt x="266807" y="170607"/>
                  </a:lnTo>
                  <a:lnTo>
                    <a:pt x="302629" y="142622"/>
                  </a:lnTo>
                  <a:lnTo>
                    <a:pt x="340168" y="116839"/>
                  </a:lnTo>
                  <a:lnTo>
                    <a:pt x="379324" y="93356"/>
                  </a:lnTo>
                  <a:lnTo>
                    <a:pt x="420001" y="72272"/>
                  </a:lnTo>
                  <a:lnTo>
                    <a:pt x="462102" y="53682"/>
                  </a:lnTo>
                  <a:lnTo>
                    <a:pt x="505529" y="37685"/>
                  </a:lnTo>
                  <a:lnTo>
                    <a:pt x="550184" y="24378"/>
                  </a:lnTo>
                  <a:lnTo>
                    <a:pt x="595970" y="13859"/>
                  </a:lnTo>
                  <a:lnTo>
                    <a:pt x="642789" y="6224"/>
                  </a:lnTo>
                  <a:lnTo>
                    <a:pt x="690545" y="1572"/>
                  </a:lnTo>
                  <a:lnTo>
                    <a:pt x="739140" y="0"/>
                  </a:lnTo>
                  <a:lnTo>
                    <a:pt x="4792980" y="0"/>
                  </a:lnTo>
                  <a:lnTo>
                    <a:pt x="4841574" y="1572"/>
                  </a:lnTo>
                  <a:lnTo>
                    <a:pt x="4889330" y="6224"/>
                  </a:lnTo>
                  <a:lnTo>
                    <a:pt x="4936149" y="13859"/>
                  </a:lnTo>
                  <a:lnTo>
                    <a:pt x="4981935" y="24378"/>
                  </a:lnTo>
                  <a:lnTo>
                    <a:pt x="5026590" y="37685"/>
                  </a:lnTo>
                  <a:lnTo>
                    <a:pt x="5070017" y="53682"/>
                  </a:lnTo>
                  <a:lnTo>
                    <a:pt x="5112118" y="72272"/>
                  </a:lnTo>
                  <a:lnTo>
                    <a:pt x="5152795" y="93356"/>
                  </a:lnTo>
                  <a:lnTo>
                    <a:pt x="5191951" y="116839"/>
                  </a:lnTo>
                  <a:lnTo>
                    <a:pt x="5229490" y="142622"/>
                  </a:lnTo>
                  <a:lnTo>
                    <a:pt x="5265312" y="170607"/>
                  </a:lnTo>
                  <a:lnTo>
                    <a:pt x="5299322" y="200698"/>
                  </a:lnTo>
                  <a:lnTo>
                    <a:pt x="5331421" y="232797"/>
                  </a:lnTo>
                  <a:lnTo>
                    <a:pt x="5361512" y="266807"/>
                  </a:lnTo>
                  <a:lnTo>
                    <a:pt x="5389497" y="302629"/>
                  </a:lnTo>
                  <a:lnTo>
                    <a:pt x="5415280" y="340168"/>
                  </a:lnTo>
                  <a:lnTo>
                    <a:pt x="5438763" y="379324"/>
                  </a:lnTo>
                  <a:lnTo>
                    <a:pt x="5459847" y="420001"/>
                  </a:lnTo>
                  <a:lnTo>
                    <a:pt x="5478437" y="462102"/>
                  </a:lnTo>
                  <a:lnTo>
                    <a:pt x="5494434" y="505529"/>
                  </a:lnTo>
                  <a:lnTo>
                    <a:pt x="5507741" y="550184"/>
                  </a:lnTo>
                  <a:lnTo>
                    <a:pt x="5516117" y="586642"/>
                  </a:lnTo>
                </a:path>
              </a:pathLst>
            </a:custGeom>
            <a:ln w="13716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011161" y="1918337"/>
            <a:ext cx="3773170" cy="158559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550" b="1" dirty="0">
                <a:solidFill>
                  <a:srgbClr val="111727"/>
                </a:solidFill>
                <a:latin typeface="Calibri"/>
                <a:cs typeface="Calibri"/>
              </a:rPr>
              <a:t>Reviewer-friendly</a:t>
            </a:r>
            <a:r>
              <a:rPr sz="1550" b="1" spc="25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111727"/>
                </a:solidFill>
                <a:latin typeface="Calibri"/>
                <a:cs typeface="Calibri"/>
              </a:rPr>
              <a:t>expectations</a:t>
            </a:r>
            <a:endParaRPr sz="155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spcBef>
                <a:spcPts val="894"/>
              </a:spcBef>
              <a:buChar char="•"/>
              <a:tabLst>
                <a:tab pos="132080" algn="l"/>
              </a:tabLst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Clear</a:t>
            </a:r>
            <a:r>
              <a:rPr sz="13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prototype</a:t>
            </a:r>
            <a:r>
              <a:rPr sz="13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objective</a:t>
            </a:r>
            <a:r>
              <a:rPr sz="13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&amp;</a:t>
            </a:r>
            <a:r>
              <a:rPr sz="13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success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criteria</a:t>
            </a:r>
            <a:r>
              <a:rPr sz="1300" spc="-7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(metrics).</a:t>
            </a:r>
            <a:endParaRPr sz="130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spcBef>
                <a:spcPts val="135"/>
              </a:spcBef>
              <a:buChar char="•"/>
              <a:tabLst>
                <a:tab pos="132080" algn="l"/>
              </a:tabLst>
            </a:pP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End-to-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end</a:t>
            </a:r>
            <a:r>
              <a:rPr sz="1300" spc="-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demo</a:t>
            </a:r>
            <a:r>
              <a:rPr sz="13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flow</a:t>
            </a:r>
            <a:r>
              <a:rPr sz="1300" spc="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(user</a:t>
            </a:r>
            <a:r>
              <a:rPr sz="1300" spc="-2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→</a:t>
            </a:r>
            <a:r>
              <a:rPr sz="13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system →</a:t>
            </a:r>
            <a:r>
              <a:rPr sz="1300" spc="-5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outcome).</a:t>
            </a:r>
            <a:endParaRPr sz="130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spcBef>
                <a:spcPts val="170"/>
              </a:spcBef>
              <a:buChar char="•"/>
              <a:tabLst>
                <a:tab pos="132080" algn="l"/>
              </a:tabLst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What</a:t>
            </a:r>
            <a:r>
              <a:rPr sz="1300" spc="-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is</a:t>
            </a:r>
            <a:r>
              <a:rPr sz="1300" spc="-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REAL</a:t>
            </a:r>
            <a:r>
              <a:rPr sz="1300" spc="-7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vs </a:t>
            </a:r>
            <a:r>
              <a:rPr sz="1300" spc="-20" dirty="0">
                <a:solidFill>
                  <a:srgbClr val="4A5462"/>
                </a:solidFill>
                <a:latin typeface="Calibri"/>
                <a:cs typeface="Calibri"/>
              </a:rPr>
              <a:t>SIMULATED</a:t>
            </a:r>
            <a:r>
              <a:rPr sz="13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is</a:t>
            </a:r>
            <a:r>
              <a:rPr sz="1300" spc="-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explicitly</a:t>
            </a:r>
            <a:r>
              <a:rPr sz="1300" spc="5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stated.</a:t>
            </a:r>
            <a:endParaRPr sz="130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spcBef>
                <a:spcPts val="170"/>
              </a:spcBef>
              <a:buChar char="•"/>
              <a:tabLst>
                <a:tab pos="132080" algn="l"/>
              </a:tabLst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Basic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quality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 hygiene</a:t>
            </a:r>
            <a:r>
              <a:rPr sz="13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(security,</a:t>
            </a:r>
            <a:r>
              <a:rPr sz="1300" spc="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4A5462"/>
                </a:solidFill>
                <a:latin typeface="Calibri"/>
                <a:cs typeface="Calibri"/>
              </a:rPr>
              <a:t>safety,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reproducibility).</a:t>
            </a:r>
            <a:endParaRPr sz="1300">
              <a:latin typeface="Calibri"/>
              <a:cs typeface="Calibri"/>
            </a:endParaRPr>
          </a:p>
          <a:p>
            <a:pPr marL="132080" indent="-119380">
              <a:lnSpc>
                <a:spcPct val="100000"/>
              </a:lnSpc>
              <a:spcBef>
                <a:spcPts val="130"/>
              </a:spcBef>
              <a:buChar char="•"/>
              <a:tabLst>
                <a:tab pos="132080" algn="l"/>
              </a:tabLst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A Go</a:t>
            </a:r>
            <a:r>
              <a:rPr sz="13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/</a:t>
            </a:r>
            <a:r>
              <a:rPr sz="13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Refine</a:t>
            </a:r>
            <a:r>
              <a:rPr sz="1300" spc="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/</a:t>
            </a:r>
            <a:r>
              <a:rPr sz="13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Pivot</a:t>
            </a:r>
            <a:r>
              <a:rPr sz="13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decision</a:t>
            </a:r>
            <a:r>
              <a:rPr sz="1300" spc="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tied to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evidence.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1880" y="6264351"/>
            <a:ext cx="542671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Tip:</a:t>
            </a:r>
            <a:r>
              <a:rPr sz="1150" i="1" spc="8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If</a:t>
            </a:r>
            <a:r>
              <a:rPr sz="1150" i="1" spc="7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text</a:t>
            </a:r>
            <a:r>
              <a:rPr sz="1150" i="1" spc="7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overflows</a:t>
            </a:r>
            <a:r>
              <a:rPr sz="1150" i="1" spc="4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in</a:t>
            </a:r>
            <a:r>
              <a:rPr sz="1150" i="1" spc="8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any</a:t>
            </a:r>
            <a:r>
              <a:rPr sz="1150" i="1" spc="8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box,</a:t>
            </a:r>
            <a:r>
              <a:rPr sz="1150" i="1" spc="10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reduce</a:t>
            </a:r>
            <a:r>
              <a:rPr sz="1150" i="1" spc="4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content</a:t>
            </a:r>
            <a:r>
              <a:rPr sz="1150" i="1" spc="3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(not</a:t>
            </a:r>
            <a:r>
              <a:rPr sz="1150" i="1" spc="7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font).</a:t>
            </a:r>
            <a:r>
              <a:rPr sz="1150" i="1" spc="1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Use</a:t>
            </a:r>
            <a:r>
              <a:rPr sz="1150" i="1" spc="8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appendix</a:t>
            </a:r>
            <a:r>
              <a:rPr sz="1150" i="1" spc="6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for</a:t>
            </a:r>
            <a:r>
              <a:rPr sz="1150" i="1" spc="6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extra</a:t>
            </a:r>
            <a:r>
              <a:rPr sz="1150" i="1" spc="1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spc="-10" dirty="0">
                <a:solidFill>
                  <a:srgbClr val="6B7180"/>
                </a:solidFill>
                <a:latin typeface="Calibri"/>
                <a:cs typeface="Calibri"/>
              </a:rPr>
              <a:t>detail.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286" y="6567678"/>
            <a:ext cx="12193905" cy="292735"/>
          </a:xfrm>
          <a:custGeom>
            <a:avLst/>
            <a:gdLst/>
            <a:ahLst/>
            <a:cxnLst/>
            <a:rect l="l" t="t" r="r" b="b"/>
            <a:pathLst>
              <a:path w="12193905" h="292734">
                <a:moveTo>
                  <a:pt x="0" y="292607"/>
                </a:moveTo>
                <a:lnTo>
                  <a:pt x="12193524" y="292607"/>
                </a:lnTo>
                <a:lnTo>
                  <a:pt x="12193524" y="0"/>
                </a:lnTo>
                <a:lnTo>
                  <a:pt x="0" y="0"/>
                </a:lnTo>
                <a:lnTo>
                  <a:pt x="0" y="292607"/>
                </a:lnTo>
                <a:close/>
              </a:path>
            </a:pathLst>
          </a:custGeom>
          <a:ln w="13716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163045" y="6604355"/>
            <a:ext cx="29845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0"/>
              </a:lnSpc>
            </a:pPr>
            <a:r>
              <a:rPr sz="1100" spc="-20" dirty="0">
                <a:latin typeface="Calibri"/>
                <a:cs typeface="Calibri"/>
              </a:rPr>
              <a:t>2/23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662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-5" dirty="0"/>
              <a:t> </a:t>
            </a:r>
            <a:r>
              <a:rPr dirty="0"/>
              <a:t>Prototype</a:t>
            </a:r>
            <a:r>
              <a:rPr spc="-35" dirty="0"/>
              <a:t> </a:t>
            </a:r>
            <a:r>
              <a:rPr dirty="0"/>
              <a:t>Stage</a:t>
            </a:r>
            <a:r>
              <a:rPr spc="10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spc="-10" dirty="0"/>
              <a:t>Submission</a:t>
            </a:r>
            <a:r>
              <a:rPr spc="-70" dirty="0"/>
              <a:t> </a:t>
            </a:r>
            <a:r>
              <a:rPr spc="-20" dirty="0"/>
              <a:t>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-4572"/>
            <a:ext cx="12207240" cy="581025"/>
            <a:chOff x="-4572" y="-4572"/>
            <a:chExt cx="12207240" cy="581025"/>
          </a:xfrm>
        </p:grpSpPr>
        <p:sp>
          <p:nvSpPr>
            <p:cNvPr id="3" name="object 3"/>
            <p:cNvSpPr/>
            <p:nvPr/>
          </p:nvSpPr>
          <p:spPr>
            <a:xfrm>
              <a:off x="148590" y="2286"/>
              <a:ext cx="12047220" cy="567055"/>
            </a:xfrm>
            <a:custGeom>
              <a:avLst/>
              <a:gdLst/>
              <a:ahLst/>
              <a:cxnLst/>
              <a:rect l="l" t="t" r="r" b="b"/>
              <a:pathLst>
                <a:path w="12047220" h="567055">
                  <a:moveTo>
                    <a:pt x="0" y="566928"/>
                  </a:moveTo>
                  <a:lnTo>
                    <a:pt x="12047219" y="566928"/>
                  </a:lnTo>
                  <a:lnTo>
                    <a:pt x="12047219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" y="2286"/>
              <a:ext cx="12193905" cy="567055"/>
            </a:xfrm>
            <a:custGeom>
              <a:avLst/>
              <a:gdLst/>
              <a:ahLst/>
              <a:cxnLst/>
              <a:rect l="l" t="t" r="r" b="b"/>
              <a:pathLst>
                <a:path w="12193905" h="567055">
                  <a:moveTo>
                    <a:pt x="0" y="566928"/>
                  </a:moveTo>
                  <a:lnTo>
                    <a:pt x="12193524" y="566928"/>
                  </a:lnTo>
                  <a:lnTo>
                    <a:pt x="1219352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3716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" y="2286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8"/>
                  </a:lnTo>
                  <a:lnTo>
                    <a:pt x="146304" y="566928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" y="2286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8"/>
                  </a:moveTo>
                  <a:lnTo>
                    <a:pt x="146304" y="566928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3716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787255" y="140918"/>
            <a:ext cx="17316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9787" y="653795"/>
            <a:ext cx="1934210" cy="306705"/>
            <a:chOff x="589787" y="653795"/>
            <a:chExt cx="1934210" cy="306705"/>
          </a:xfrm>
        </p:grpSpPr>
        <p:sp>
          <p:nvSpPr>
            <p:cNvPr id="9" name="object 9"/>
            <p:cNvSpPr/>
            <p:nvPr/>
          </p:nvSpPr>
          <p:spPr>
            <a:xfrm>
              <a:off x="596645" y="660653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40" y="243840"/>
                  </a:lnTo>
                  <a:lnTo>
                    <a:pt x="1920240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6645" y="660653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40" y="48768"/>
                  </a:lnTo>
                  <a:lnTo>
                    <a:pt x="1920240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3716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5420" y="692022"/>
            <a:ext cx="190309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FFFFFF"/>
                </a:solidFill>
                <a:latin typeface="Calibri"/>
                <a:cs typeface="Calibri"/>
              </a:rPr>
              <a:t>CONTEXT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5121" y="1774604"/>
            <a:ext cx="11049000" cy="4973320"/>
            <a:chOff x="595121" y="1774604"/>
            <a:chExt cx="11049000" cy="497332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121" y="1774604"/>
              <a:ext cx="11048746" cy="497275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05790" y="1785366"/>
              <a:ext cx="11005185" cy="4928870"/>
            </a:xfrm>
            <a:custGeom>
              <a:avLst/>
              <a:gdLst/>
              <a:ahLst/>
              <a:cxnLst/>
              <a:rect l="l" t="t" r="r" b="b"/>
              <a:pathLst>
                <a:path w="11005185" h="4928870">
                  <a:moveTo>
                    <a:pt x="10183367" y="0"/>
                  </a:moveTo>
                  <a:lnTo>
                    <a:pt x="821435" y="0"/>
                  </a:lnTo>
                  <a:lnTo>
                    <a:pt x="773171" y="1394"/>
                  </a:lnTo>
                  <a:lnTo>
                    <a:pt x="725641" y="5526"/>
                  </a:lnTo>
                  <a:lnTo>
                    <a:pt x="678922" y="12319"/>
                  </a:lnTo>
                  <a:lnTo>
                    <a:pt x="633091" y="21695"/>
                  </a:lnTo>
                  <a:lnTo>
                    <a:pt x="588226" y="33578"/>
                  </a:lnTo>
                  <a:lnTo>
                    <a:pt x="544403" y="47891"/>
                  </a:lnTo>
                  <a:lnTo>
                    <a:pt x="501700" y="64555"/>
                  </a:lnTo>
                  <a:lnTo>
                    <a:pt x="460193" y="83495"/>
                  </a:lnTo>
                  <a:lnTo>
                    <a:pt x="419960" y="104633"/>
                  </a:lnTo>
                  <a:lnTo>
                    <a:pt x="381078" y="127893"/>
                  </a:lnTo>
                  <a:lnTo>
                    <a:pt x="343623" y="153196"/>
                  </a:lnTo>
                  <a:lnTo>
                    <a:pt x="307673" y="180467"/>
                  </a:lnTo>
                  <a:lnTo>
                    <a:pt x="273305" y="209627"/>
                  </a:lnTo>
                  <a:lnTo>
                    <a:pt x="240596" y="240601"/>
                  </a:lnTo>
                  <a:lnTo>
                    <a:pt x="209623" y="273310"/>
                  </a:lnTo>
                  <a:lnTo>
                    <a:pt x="180463" y="307679"/>
                  </a:lnTo>
                  <a:lnTo>
                    <a:pt x="153193" y="343629"/>
                  </a:lnTo>
                  <a:lnTo>
                    <a:pt x="127890" y="381083"/>
                  </a:lnTo>
                  <a:lnTo>
                    <a:pt x="104631" y="419966"/>
                  </a:lnTo>
                  <a:lnTo>
                    <a:pt x="83493" y="460199"/>
                  </a:lnTo>
                  <a:lnTo>
                    <a:pt x="64553" y="501705"/>
                  </a:lnTo>
                  <a:lnTo>
                    <a:pt x="47889" y="544408"/>
                  </a:lnTo>
                  <a:lnTo>
                    <a:pt x="33577" y="588230"/>
                  </a:lnTo>
                  <a:lnTo>
                    <a:pt x="21695" y="633095"/>
                  </a:lnTo>
                  <a:lnTo>
                    <a:pt x="12319" y="678925"/>
                  </a:lnTo>
                  <a:lnTo>
                    <a:pt x="5526" y="725643"/>
                  </a:lnTo>
                  <a:lnTo>
                    <a:pt x="1394" y="773172"/>
                  </a:lnTo>
                  <a:lnTo>
                    <a:pt x="0" y="821436"/>
                  </a:lnTo>
                  <a:lnTo>
                    <a:pt x="0" y="4107167"/>
                  </a:lnTo>
                  <a:lnTo>
                    <a:pt x="1394" y="4155433"/>
                  </a:lnTo>
                  <a:lnTo>
                    <a:pt x="5526" y="4202964"/>
                  </a:lnTo>
                  <a:lnTo>
                    <a:pt x="12319" y="4249684"/>
                  </a:lnTo>
                  <a:lnTo>
                    <a:pt x="21695" y="4295516"/>
                  </a:lnTo>
                  <a:lnTo>
                    <a:pt x="33577" y="4340382"/>
                  </a:lnTo>
                  <a:lnTo>
                    <a:pt x="47889" y="4384206"/>
                  </a:lnTo>
                  <a:lnTo>
                    <a:pt x="64553" y="4426910"/>
                  </a:lnTo>
                  <a:lnTo>
                    <a:pt x="83493" y="4468417"/>
                  </a:lnTo>
                  <a:lnTo>
                    <a:pt x="104631" y="4508651"/>
                  </a:lnTo>
                  <a:lnTo>
                    <a:pt x="127890" y="4547534"/>
                  </a:lnTo>
                  <a:lnTo>
                    <a:pt x="153193" y="4584989"/>
                  </a:lnTo>
                  <a:lnTo>
                    <a:pt x="180463" y="4620939"/>
                  </a:lnTo>
                  <a:lnTo>
                    <a:pt x="209623" y="4655308"/>
                  </a:lnTo>
                  <a:lnTo>
                    <a:pt x="240596" y="4688017"/>
                  </a:lnTo>
                  <a:lnTo>
                    <a:pt x="273305" y="4718991"/>
                  </a:lnTo>
                  <a:lnTo>
                    <a:pt x="307673" y="4748151"/>
                  </a:lnTo>
                  <a:lnTo>
                    <a:pt x="343623" y="4775422"/>
                  </a:lnTo>
                  <a:lnTo>
                    <a:pt x="381078" y="4800725"/>
                  </a:lnTo>
                  <a:lnTo>
                    <a:pt x="419960" y="4823984"/>
                  </a:lnTo>
                  <a:lnTo>
                    <a:pt x="460193" y="4845122"/>
                  </a:lnTo>
                  <a:lnTo>
                    <a:pt x="501700" y="4864061"/>
                  </a:lnTo>
                  <a:lnTo>
                    <a:pt x="544403" y="4880726"/>
                  </a:lnTo>
                  <a:lnTo>
                    <a:pt x="588226" y="4895038"/>
                  </a:lnTo>
                  <a:lnTo>
                    <a:pt x="633091" y="4906920"/>
                  </a:lnTo>
                  <a:lnTo>
                    <a:pt x="678922" y="4916296"/>
                  </a:lnTo>
                  <a:lnTo>
                    <a:pt x="725641" y="4923089"/>
                  </a:lnTo>
                  <a:lnTo>
                    <a:pt x="773171" y="4927221"/>
                  </a:lnTo>
                  <a:lnTo>
                    <a:pt x="821435" y="4928616"/>
                  </a:lnTo>
                  <a:lnTo>
                    <a:pt x="10183367" y="4928616"/>
                  </a:lnTo>
                  <a:lnTo>
                    <a:pt x="10231631" y="4927221"/>
                  </a:lnTo>
                  <a:lnTo>
                    <a:pt x="10279160" y="4923089"/>
                  </a:lnTo>
                  <a:lnTo>
                    <a:pt x="10325878" y="4916296"/>
                  </a:lnTo>
                  <a:lnTo>
                    <a:pt x="10371708" y="4906920"/>
                  </a:lnTo>
                  <a:lnTo>
                    <a:pt x="10416573" y="4895038"/>
                  </a:lnTo>
                  <a:lnTo>
                    <a:pt x="10460395" y="4880726"/>
                  </a:lnTo>
                  <a:lnTo>
                    <a:pt x="10503098" y="4864061"/>
                  </a:lnTo>
                  <a:lnTo>
                    <a:pt x="10544604" y="4845122"/>
                  </a:lnTo>
                  <a:lnTo>
                    <a:pt x="10584837" y="4823984"/>
                  </a:lnTo>
                  <a:lnTo>
                    <a:pt x="10623720" y="4800725"/>
                  </a:lnTo>
                  <a:lnTo>
                    <a:pt x="10661174" y="4775422"/>
                  </a:lnTo>
                  <a:lnTo>
                    <a:pt x="10697124" y="4748151"/>
                  </a:lnTo>
                  <a:lnTo>
                    <a:pt x="10731493" y="4718991"/>
                  </a:lnTo>
                  <a:lnTo>
                    <a:pt x="10764202" y="4688017"/>
                  </a:lnTo>
                  <a:lnTo>
                    <a:pt x="10795176" y="4655308"/>
                  </a:lnTo>
                  <a:lnTo>
                    <a:pt x="10824336" y="4620939"/>
                  </a:lnTo>
                  <a:lnTo>
                    <a:pt x="10851607" y="4584989"/>
                  </a:lnTo>
                  <a:lnTo>
                    <a:pt x="10876910" y="4547534"/>
                  </a:lnTo>
                  <a:lnTo>
                    <a:pt x="10900170" y="4508651"/>
                  </a:lnTo>
                  <a:lnTo>
                    <a:pt x="10921308" y="4468417"/>
                  </a:lnTo>
                  <a:lnTo>
                    <a:pt x="10940248" y="4426910"/>
                  </a:lnTo>
                  <a:lnTo>
                    <a:pt x="10956912" y="4384206"/>
                  </a:lnTo>
                  <a:lnTo>
                    <a:pt x="10971225" y="4340382"/>
                  </a:lnTo>
                  <a:lnTo>
                    <a:pt x="10983108" y="4295516"/>
                  </a:lnTo>
                  <a:lnTo>
                    <a:pt x="10992484" y="4249684"/>
                  </a:lnTo>
                  <a:lnTo>
                    <a:pt x="10999277" y="4202964"/>
                  </a:lnTo>
                  <a:lnTo>
                    <a:pt x="11003409" y="4155433"/>
                  </a:lnTo>
                  <a:lnTo>
                    <a:pt x="11004804" y="4107167"/>
                  </a:lnTo>
                  <a:lnTo>
                    <a:pt x="11004804" y="821436"/>
                  </a:lnTo>
                  <a:lnTo>
                    <a:pt x="11003409" y="773172"/>
                  </a:lnTo>
                  <a:lnTo>
                    <a:pt x="10999277" y="725643"/>
                  </a:lnTo>
                  <a:lnTo>
                    <a:pt x="10992484" y="678925"/>
                  </a:lnTo>
                  <a:lnTo>
                    <a:pt x="10983108" y="633095"/>
                  </a:lnTo>
                  <a:lnTo>
                    <a:pt x="10971225" y="588230"/>
                  </a:lnTo>
                  <a:lnTo>
                    <a:pt x="10956912" y="544408"/>
                  </a:lnTo>
                  <a:lnTo>
                    <a:pt x="10940248" y="501705"/>
                  </a:lnTo>
                  <a:lnTo>
                    <a:pt x="10921308" y="460199"/>
                  </a:lnTo>
                  <a:lnTo>
                    <a:pt x="10900170" y="419966"/>
                  </a:lnTo>
                  <a:lnTo>
                    <a:pt x="10876910" y="381083"/>
                  </a:lnTo>
                  <a:lnTo>
                    <a:pt x="10851607" y="343629"/>
                  </a:lnTo>
                  <a:lnTo>
                    <a:pt x="10824336" y="307679"/>
                  </a:lnTo>
                  <a:lnTo>
                    <a:pt x="10795176" y="273310"/>
                  </a:lnTo>
                  <a:lnTo>
                    <a:pt x="10764202" y="240601"/>
                  </a:lnTo>
                  <a:lnTo>
                    <a:pt x="10731493" y="209627"/>
                  </a:lnTo>
                  <a:lnTo>
                    <a:pt x="10697124" y="180467"/>
                  </a:lnTo>
                  <a:lnTo>
                    <a:pt x="10661174" y="153196"/>
                  </a:lnTo>
                  <a:lnTo>
                    <a:pt x="10623720" y="127893"/>
                  </a:lnTo>
                  <a:lnTo>
                    <a:pt x="10584837" y="104633"/>
                  </a:lnTo>
                  <a:lnTo>
                    <a:pt x="10544604" y="83495"/>
                  </a:lnTo>
                  <a:lnTo>
                    <a:pt x="10503098" y="64555"/>
                  </a:lnTo>
                  <a:lnTo>
                    <a:pt x="10460395" y="47891"/>
                  </a:lnTo>
                  <a:lnTo>
                    <a:pt x="10416573" y="33578"/>
                  </a:lnTo>
                  <a:lnTo>
                    <a:pt x="10371708" y="21695"/>
                  </a:lnTo>
                  <a:lnTo>
                    <a:pt x="10325878" y="12319"/>
                  </a:lnTo>
                  <a:lnTo>
                    <a:pt x="10279160" y="5526"/>
                  </a:lnTo>
                  <a:lnTo>
                    <a:pt x="10231631" y="1394"/>
                  </a:lnTo>
                  <a:lnTo>
                    <a:pt x="101833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5790" y="1785366"/>
              <a:ext cx="11005185" cy="4928870"/>
            </a:xfrm>
            <a:custGeom>
              <a:avLst/>
              <a:gdLst/>
              <a:ahLst/>
              <a:cxnLst/>
              <a:rect l="l" t="t" r="r" b="b"/>
              <a:pathLst>
                <a:path w="11005185" h="4928870">
                  <a:moveTo>
                    <a:pt x="0" y="821436"/>
                  </a:moveTo>
                  <a:lnTo>
                    <a:pt x="1394" y="773172"/>
                  </a:lnTo>
                  <a:lnTo>
                    <a:pt x="5526" y="725643"/>
                  </a:lnTo>
                  <a:lnTo>
                    <a:pt x="12319" y="678925"/>
                  </a:lnTo>
                  <a:lnTo>
                    <a:pt x="21695" y="633095"/>
                  </a:lnTo>
                  <a:lnTo>
                    <a:pt x="33577" y="588230"/>
                  </a:lnTo>
                  <a:lnTo>
                    <a:pt x="47889" y="544408"/>
                  </a:lnTo>
                  <a:lnTo>
                    <a:pt x="64553" y="501705"/>
                  </a:lnTo>
                  <a:lnTo>
                    <a:pt x="83493" y="460199"/>
                  </a:lnTo>
                  <a:lnTo>
                    <a:pt x="104631" y="419966"/>
                  </a:lnTo>
                  <a:lnTo>
                    <a:pt x="127890" y="381083"/>
                  </a:lnTo>
                  <a:lnTo>
                    <a:pt x="153193" y="343629"/>
                  </a:lnTo>
                  <a:lnTo>
                    <a:pt x="180463" y="307679"/>
                  </a:lnTo>
                  <a:lnTo>
                    <a:pt x="209623" y="273310"/>
                  </a:lnTo>
                  <a:lnTo>
                    <a:pt x="240596" y="240601"/>
                  </a:lnTo>
                  <a:lnTo>
                    <a:pt x="273305" y="209627"/>
                  </a:lnTo>
                  <a:lnTo>
                    <a:pt x="307673" y="180467"/>
                  </a:lnTo>
                  <a:lnTo>
                    <a:pt x="343623" y="153196"/>
                  </a:lnTo>
                  <a:lnTo>
                    <a:pt x="381078" y="127893"/>
                  </a:lnTo>
                  <a:lnTo>
                    <a:pt x="419960" y="104633"/>
                  </a:lnTo>
                  <a:lnTo>
                    <a:pt x="460193" y="83495"/>
                  </a:lnTo>
                  <a:lnTo>
                    <a:pt x="501700" y="64555"/>
                  </a:lnTo>
                  <a:lnTo>
                    <a:pt x="544403" y="47891"/>
                  </a:lnTo>
                  <a:lnTo>
                    <a:pt x="588226" y="33578"/>
                  </a:lnTo>
                  <a:lnTo>
                    <a:pt x="633091" y="21695"/>
                  </a:lnTo>
                  <a:lnTo>
                    <a:pt x="678922" y="12319"/>
                  </a:lnTo>
                  <a:lnTo>
                    <a:pt x="725641" y="5526"/>
                  </a:lnTo>
                  <a:lnTo>
                    <a:pt x="773171" y="1394"/>
                  </a:lnTo>
                  <a:lnTo>
                    <a:pt x="821435" y="0"/>
                  </a:lnTo>
                  <a:lnTo>
                    <a:pt x="10183367" y="0"/>
                  </a:lnTo>
                  <a:lnTo>
                    <a:pt x="10231631" y="1394"/>
                  </a:lnTo>
                  <a:lnTo>
                    <a:pt x="10279160" y="5526"/>
                  </a:lnTo>
                  <a:lnTo>
                    <a:pt x="10325878" y="12319"/>
                  </a:lnTo>
                  <a:lnTo>
                    <a:pt x="10371708" y="21695"/>
                  </a:lnTo>
                  <a:lnTo>
                    <a:pt x="10416573" y="33578"/>
                  </a:lnTo>
                  <a:lnTo>
                    <a:pt x="10460395" y="47891"/>
                  </a:lnTo>
                  <a:lnTo>
                    <a:pt x="10503098" y="64555"/>
                  </a:lnTo>
                  <a:lnTo>
                    <a:pt x="10544604" y="83495"/>
                  </a:lnTo>
                  <a:lnTo>
                    <a:pt x="10584837" y="104633"/>
                  </a:lnTo>
                  <a:lnTo>
                    <a:pt x="10623720" y="127893"/>
                  </a:lnTo>
                  <a:lnTo>
                    <a:pt x="10661174" y="153196"/>
                  </a:lnTo>
                  <a:lnTo>
                    <a:pt x="10697124" y="180467"/>
                  </a:lnTo>
                  <a:lnTo>
                    <a:pt x="10731493" y="209627"/>
                  </a:lnTo>
                  <a:lnTo>
                    <a:pt x="10764202" y="240601"/>
                  </a:lnTo>
                  <a:lnTo>
                    <a:pt x="10795176" y="273310"/>
                  </a:lnTo>
                  <a:lnTo>
                    <a:pt x="10824336" y="307679"/>
                  </a:lnTo>
                  <a:lnTo>
                    <a:pt x="10851607" y="343629"/>
                  </a:lnTo>
                  <a:lnTo>
                    <a:pt x="10876910" y="381083"/>
                  </a:lnTo>
                  <a:lnTo>
                    <a:pt x="10900170" y="419966"/>
                  </a:lnTo>
                  <a:lnTo>
                    <a:pt x="10921308" y="460199"/>
                  </a:lnTo>
                  <a:lnTo>
                    <a:pt x="10940248" y="501705"/>
                  </a:lnTo>
                  <a:lnTo>
                    <a:pt x="10956912" y="544408"/>
                  </a:lnTo>
                  <a:lnTo>
                    <a:pt x="10971225" y="588230"/>
                  </a:lnTo>
                  <a:lnTo>
                    <a:pt x="10983108" y="633095"/>
                  </a:lnTo>
                  <a:lnTo>
                    <a:pt x="10992484" y="678925"/>
                  </a:lnTo>
                  <a:lnTo>
                    <a:pt x="10999277" y="725643"/>
                  </a:lnTo>
                  <a:lnTo>
                    <a:pt x="11003409" y="773172"/>
                  </a:lnTo>
                  <a:lnTo>
                    <a:pt x="11004804" y="821436"/>
                  </a:lnTo>
                  <a:lnTo>
                    <a:pt x="11004804" y="4107167"/>
                  </a:lnTo>
                  <a:lnTo>
                    <a:pt x="11003409" y="4155433"/>
                  </a:lnTo>
                  <a:lnTo>
                    <a:pt x="10999277" y="4202964"/>
                  </a:lnTo>
                  <a:lnTo>
                    <a:pt x="10992484" y="4249684"/>
                  </a:lnTo>
                  <a:lnTo>
                    <a:pt x="10983108" y="4295516"/>
                  </a:lnTo>
                  <a:lnTo>
                    <a:pt x="10971225" y="4340382"/>
                  </a:lnTo>
                  <a:lnTo>
                    <a:pt x="10956912" y="4384206"/>
                  </a:lnTo>
                  <a:lnTo>
                    <a:pt x="10940248" y="4426910"/>
                  </a:lnTo>
                  <a:lnTo>
                    <a:pt x="10921308" y="4468417"/>
                  </a:lnTo>
                  <a:lnTo>
                    <a:pt x="10900170" y="4508651"/>
                  </a:lnTo>
                  <a:lnTo>
                    <a:pt x="10876910" y="4547534"/>
                  </a:lnTo>
                  <a:lnTo>
                    <a:pt x="10851607" y="4584989"/>
                  </a:lnTo>
                  <a:lnTo>
                    <a:pt x="10824336" y="4620939"/>
                  </a:lnTo>
                  <a:lnTo>
                    <a:pt x="10795176" y="4655308"/>
                  </a:lnTo>
                  <a:lnTo>
                    <a:pt x="10764202" y="4688017"/>
                  </a:lnTo>
                  <a:lnTo>
                    <a:pt x="10731493" y="4718991"/>
                  </a:lnTo>
                  <a:lnTo>
                    <a:pt x="10697124" y="4748151"/>
                  </a:lnTo>
                  <a:lnTo>
                    <a:pt x="10661174" y="4775422"/>
                  </a:lnTo>
                  <a:lnTo>
                    <a:pt x="10623720" y="4800725"/>
                  </a:lnTo>
                  <a:lnTo>
                    <a:pt x="10584837" y="4823984"/>
                  </a:lnTo>
                  <a:lnTo>
                    <a:pt x="10544604" y="4845122"/>
                  </a:lnTo>
                  <a:lnTo>
                    <a:pt x="10503098" y="4864061"/>
                  </a:lnTo>
                  <a:lnTo>
                    <a:pt x="10460395" y="4880726"/>
                  </a:lnTo>
                  <a:lnTo>
                    <a:pt x="10416573" y="4895038"/>
                  </a:lnTo>
                  <a:lnTo>
                    <a:pt x="10371708" y="4906920"/>
                  </a:lnTo>
                  <a:lnTo>
                    <a:pt x="10325878" y="4916296"/>
                  </a:lnTo>
                  <a:lnTo>
                    <a:pt x="10279160" y="4923089"/>
                  </a:lnTo>
                  <a:lnTo>
                    <a:pt x="10231631" y="4927221"/>
                  </a:lnTo>
                  <a:lnTo>
                    <a:pt x="10183367" y="4928616"/>
                  </a:lnTo>
                  <a:lnTo>
                    <a:pt x="821435" y="4928616"/>
                  </a:lnTo>
                  <a:lnTo>
                    <a:pt x="773171" y="4927221"/>
                  </a:lnTo>
                  <a:lnTo>
                    <a:pt x="725641" y="4923089"/>
                  </a:lnTo>
                  <a:lnTo>
                    <a:pt x="678922" y="4916296"/>
                  </a:lnTo>
                  <a:lnTo>
                    <a:pt x="633091" y="4906920"/>
                  </a:lnTo>
                  <a:lnTo>
                    <a:pt x="588226" y="4895038"/>
                  </a:lnTo>
                  <a:lnTo>
                    <a:pt x="544403" y="4880726"/>
                  </a:lnTo>
                  <a:lnTo>
                    <a:pt x="501700" y="4864061"/>
                  </a:lnTo>
                  <a:lnTo>
                    <a:pt x="460193" y="4845122"/>
                  </a:lnTo>
                  <a:lnTo>
                    <a:pt x="419960" y="4823984"/>
                  </a:lnTo>
                  <a:lnTo>
                    <a:pt x="381078" y="4800725"/>
                  </a:lnTo>
                  <a:lnTo>
                    <a:pt x="343623" y="4775422"/>
                  </a:lnTo>
                  <a:lnTo>
                    <a:pt x="307673" y="4748151"/>
                  </a:lnTo>
                  <a:lnTo>
                    <a:pt x="273305" y="4718991"/>
                  </a:lnTo>
                  <a:lnTo>
                    <a:pt x="240596" y="4688017"/>
                  </a:lnTo>
                  <a:lnTo>
                    <a:pt x="209623" y="4655308"/>
                  </a:lnTo>
                  <a:lnTo>
                    <a:pt x="180463" y="4620939"/>
                  </a:lnTo>
                  <a:lnTo>
                    <a:pt x="153193" y="4584989"/>
                  </a:lnTo>
                  <a:lnTo>
                    <a:pt x="127890" y="4547534"/>
                  </a:lnTo>
                  <a:lnTo>
                    <a:pt x="104631" y="4508651"/>
                  </a:lnTo>
                  <a:lnTo>
                    <a:pt x="83493" y="4468417"/>
                  </a:lnTo>
                  <a:lnTo>
                    <a:pt x="64553" y="4426910"/>
                  </a:lnTo>
                  <a:lnTo>
                    <a:pt x="47889" y="4384206"/>
                  </a:lnTo>
                  <a:lnTo>
                    <a:pt x="33577" y="4340382"/>
                  </a:lnTo>
                  <a:lnTo>
                    <a:pt x="21695" y="4295516"/>
                  </a:lnTo>
                  <a:lnTo>
                    <a:pt x="12319" y="4249684"/>
                  </a:lnTo>
                  <a:lnTo>
                    <a:pt x="5526" y="4202964"/>
                  </a:lnTo>
                  <a:lnTo>
                    <a:pt x="1394" y="4155433"/>
                  </a:lnTo>
                  <a:lnTo>
                    <a:pt x="0" y="4107167"/>
                  </a:lnTo>
                  <a:lnTo>
                    <a:pt x="0" y="821436"/>
                  </a:lnTo>
                  <a:close/>
                </a:path>
              </a:pathLst>
            </a:custGeom>
            <a:ln w="13716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71880" y="818210"/>
            <a:ext cx="4563110" cy="1459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111727"/>
                </a:solidFill>
                <a:latin typeface="Calibri"/>
                <a:cs typeface="Calibri"/>
              </a:rPr>
              <a:t>Problem</a:t>
            </a:r>
            <a:r>
              <a:rPr sz="3200" b="1" spc="-6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11727"/>
                </a:solidFill>
                <a:latin typeface="Calibri"/>
                <a:cs typeface="Calibri"/>
              </a:rPr>
              <a:t>&amp;</a:t>
            </a:r>
            <a:r>
              <a:rPr sz="3200" b="1" spc="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11727"/>
                </a:solidFill>
                <a:latin typeface="Calibri"/>
                <a:cs typeface="Calibri"/>
              </a:rPr>
              <a:t>End-</a:t>
            </a:r>
            <a:r>
              <a:rPr sz="3200" b="1" dirty="0">
                <a:solidFill>
                  <a:srgbClr val="111727"/>
                </a:solidFill>
                <a:latin typeface="Calibri"/>
                <a:cs typeface="Calibri"/>
              </a:rPr>
              <a:t>User</a:t>
            </a:r>
            <a:r>
              <a:rPr sz="3200" b="1" spc="-5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11727"/>
                </a:solidFill>
                <a:latin typeface="Calibri"/>
                <a:cs typeface="Calibri"/>
              </a:rPr>
              <a:t>Recap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From</a:t>
            </a:r>
            <a:r>
              <a:rPr sz="1550" spc="114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earlier</a:t>
            </a:r>
            <a:r>
              <a:rPr sz="1550" spc="15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stages</a:t>
            </a:r>
            <a:r>
              <a:rPr sz="1550" spc="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(validated</a:t>
            </a:r>
            <a:r>
              <a:rPr sz="1550" spc="7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4A5462"/>
                </a:solidFill>
                <a:latin typeface="Calibri"/>
                <a:cs typeface="Calibri"/>
              </a:rPr>
              <a:t>problem).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5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sz="1550" b="1" dirty="0">
                <a:solidFill>
                  <a:srgbClr val="111727"/>
                </a:solidFill>
                <a:latin typeface="Calibri"/>
                <a:cs typeface="Calibri"/>
              </a:rPr>
              <a:t>Fill</a:t>
            </a:r>
            <a:r>
              <a:rPr sz="1550" b="1" spc="5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11727"/>
                </a:solidFill>
                <a:latin typeface="Calibri"/>
                <a:cs typeface="Calibri"/>
              </a:rPr>
              <a:t>these</a:t>
            </a:r>
            <a:r>
              <a:rPr sz="1550" b="1" spc="4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11727"/>
                </a:solidFill>
                <a:latin typeface="Calibri"/>
                <a:cs typeface="Calibri"/>
              </a:rPr>
              <a:t>(keep</a:t>
            </a:r>
            <a:r>
              <a:rPr sz="1550" b="1" spc="10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111727"/>
                </a:solidFill>
                <a:latin typeface="Calibri"/>
                <a:cs typeface="Calibri"/>
              </a:rPr>
              <a:t>short)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7945" y="2678937"/>
            <a:ext cx="22752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Problem</a:t>
            </a:r>
            <a:r>
              <a:rPr sz="1300" b="1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statement</a:t>
            </a:r>
            <a:r>
              <a:rPr sz="1300" b="1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(≤150</a:t>
            </a:r>
            <a:r>
              <a:rPr sz="1300" b="1" spc="-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words)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34790" y="2224277"/>
            <a:ext cx="7169150" cy="955675"/>
          </a:xfrm>
          <a:custGeom>
            <a:avLst/>
            <a:gdLst/>
            <a:ahLst/>
            <a:cxnLst/>
            <a:rect l="l" t="t" r="r" b="b"/>
            <a:pathLst>
              <a:path w="7169150" h="955675">
                <a:moveTo>
                  <a:pt x="7168896" y="0"/>
                </a:moveTo>
                <a:lnTo>
                  <a:pt x="0" y="0"/>
                </a:lnTo>
                <a:lnTo>
                  <a:pt x="0" y="955548"/>
                </a:lnTo>
                <a:lnTo>
                  <a:pt x="7168896" y="955548"/>
                </a:lnTo>
                <a:lnTo>
                  <a:pt x="71688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034790" y="2224277"/>
            <a:ext cx="7169150" cy="955675"/>
          </a:xfrm>
          <a:prstGeom prst="rect">
            <a:avLst/>
          </a:prstGeom>
          <a:ln w="13715">
            <a:solidFill>
              <a:srgbClr val="E4E7EB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88900" marR="221615">
              <a:lnSpc>
                <a:spcPct val="100099"/>
              </a:lnSpc>
              <a:spcBef>
                <a:spcPts val="700"/>
              </a:spcBef>
            </a:pPr>
            <a:r>
              <a:rPr sz="1400" spc="-25" dirty="0">
                <a:solidFill>
                  <a:srgbClr val="111727"/>
                </a:solidFill>
                <a:latin typeface="Calibri"/>
                <a:cs typeface="Calibri"/>
              </a:rPr>
              <a:t>[Re-</a:t>
            </a:r>
            <a:r>
              <a:rPr sz="1400" dirty="0">
                <a:latin typeface="Times New Roman"/>
                <a:cs typeface="Times New Roman"/>
              </a:rPr>
              <a:t>Many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hospitals,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clinics,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individuals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urgently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blood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donors,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finding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available, </a:t>
            </a:r>
            <a:r>
              <a:rPr sz="1400" dirty="0">
                <a:latin typeface="Times New Roman"/>
                <a:cs typeface="Times New Roman"/>
              </a:rPr>
              <a:t>nearby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donors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quickly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difficult.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30" dirty="0">
                <a:latin typeface="Times New Roman"/>
                <a:cs typeface="Times New Roman"/>
              </a:rPr>
              <a:t>We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need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secure,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dependable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web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platform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where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willing </a:t>
            </a:r>
            <a:r>
              <a:rPr sz="1400" dirty="0">
                <a:latin typeface="Times New Roman"/>
                <a:cs typeface="Times New Roman"/>
              </a:rPr>
              <a:t>donors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register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their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their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blood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type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authorized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hospitals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verified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requesters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discover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nearby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donors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.</a:t>
            </a:r>
            <a:r>
              <a:rPr sz="1400" spc="-10" dirty="0">
                <a:solidFill>
                  <a:srgbClr val="111727"/>
                </a:solidFill>
                <a:latin typeface="Calibri"/>
                <a:cs typeface="Calibri"/>
              </a:rPr>
              <a:t>state</a:t>
            </a:r>
            <a:r>
              <a:rPr sz="1400" spc="-8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11727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11727"/>
                </a:solidFill>
                <a:latin typeface="Calibri"/>
                <a:cs typeface="Calibri"/>
              </a:rPr>
              <a:t>validated</a:t>
            </a:r>
            <a:r>
              <a:rPr sz="1400" spc="-4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11727"/>
                </a:solidFill>
                <a:latin typeface="Calibri"/>
                <a:cs typeface="Calibri"/>
              </a:rPr>
              <a:t>problem</a:t>
            </a:r>
            <a:r>
              <a:rPr sz="1400" spc="2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11727"/>
                </a:solidFill>
                <a:latin typeface="Calibri"/>
                <a:cs typeface="Calibri"/>
              </a:rPr>
              <a:t>—</a:t>
            </a:r>
            <a:r>
              <a:rPr sz="1400" spc="-3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11727"/>
                </a:solidFill>
                <a:latin typeface="Calibri"/>
                <a:cs typeface="Calibri"/>
              </a:rPr>
              <a:t>avoid</a:t>
            </a:r>
            <a:r>
              <a:rPr sz="1400" spc="-7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11727"/>
                </a:solidFill>
                <a:latin typeface="Calibri"/>
                <a:cs typeface="Calibri"/>
              </a:rPr>
              <a:t>solution</a:t>
            </a:r>
            <a:r>
              <a:rPr sz="1400" spc="-4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11727"/>
                </a:solidFill>
                <a:latin typeface="Calibri"/>
                <a:cs typeface="Calibri"/>
              </a:rPr>
              <a:t>language.]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37945" y="3469970"/>
            <a:ext cx="17468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4A5462"/>
                </a:solidFill>
                <a:latin typeface="Calibri"/>
                <a:cs typeface="Calibri"/>
              </a:rPr>
              <a:t>Target</a:t>
            </a:r>
            <a:r>
              <a:rPr sz="1300" b="1" spc="-6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4A5462"/>
                </a:solidFill>
                <a:latin typeface="Calibri"/>
                <a:cs typeface="Calibri"/>
              </a:rPr>
              <a:t>end-</a:t>
            </a: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user</a:t>
            </a:r>
            <a:r>
              <a:rPr sz="1300" b="1" spc="6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/</a:t>
            </a:r>
            <a:r>
              <a:rPr sz="1300" b="1" spc="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context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034790" y="3344417"/>
            <a:ext cx="7169150" cy="768350"/>
          </a:xfrm>
          <a:custGeom>
            <a:avLst/>
            <a:gdLst/>
            <a:ahLst/>
            <a:cxnLst/>
            <a:rect l="l" t="t" r="r" b="b"/>
            <a:pathLst>
              <a:path w="7169150" h="768350">
                <a:moveTo>
                  <a:pt x="7168896" y="0"/>
                </a:moveTo>
                <a:lnTo>
                  <a:pt x="0" y="0"/>
                </a:lnTo>
                <a:lnTo>
                  <a:pt x="0" y="768096"/>
                </a:lnTo>
                <a:lnTo>
                  <a:pt x="7168896" y="768096"/>
                </a:lnTo>
                <a:lnTo>
                  <a:pt x="71688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034790" y="3344417"/>
            <a:ext cx="7169150" cy="768350"/>
          </a:xfrm>
          <a:prstGeom prst="rect">
            <a:avLst/>
          </a:prstGeom>
          <a:ln w="13715">
            <a:solidFill>
              <a:srgbClr val="E4E7EB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60"/>
              </a:spcBef>
            </a:pPr>
            <a:r>
              <a:rPr sz="1400" b="1" dirty="0">
                <a:latin typeface="Calibri"/>
                <a:cs typeface="Calibri"/>
              </a:rPr>
              <a:t>Who: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Blood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donors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authorized</a:t>
            </a:r>
            <a:r>
              <a:rPr sz="1400" spc="-10" dirty="0">
                <a:latin typeface="Calibri"/>
                <a:cs typeface="Calibri"/>
              </a:rPr>
              <a:t> hospitals/clinics</a:t>
            </a:r>
            <a:endParaRPr sz="14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10"/>
              </a:spcBef>
            </a:pPr>
            <a:r>
              <a:rPr sz="1400" b="1" dirty="0">
                <a:latin typeface="Calibri"/>
                <a:cs typeface="Calibri"/>
              </a:rPr>
              <a:t>Where:</a:t>
            </a:r>
            <a:r>
              <a:rPr sz="1400" b="1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Local/nearby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secure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web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platform</a:t>
            </a:r>
            <a:endParaRPr sz="14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15"/>
              </a:spcBef>
            </a:pPr>
            <a:r>
              <a:rPr sz="1400" b="1" dirty="0">
                <a:latin typeface="Calibri"/>
                <a:cs typeface="Calibri"/>
              </a:rPr>
              <a:t>Why: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spc="-55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quickly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compatible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blood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donors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lives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during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urgent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needs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7945" y="4441393"/>
            <a:ext cx="6305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Evidence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34790" y="4281678"/>
            <a:ext cx="7169150" cy="1161415"/>
          </a:xfrm>
          <a:custGeom>
            <a:avLst/>
            <a:gdLst/>
            <a:ahLst/>
            <a:cxnLst/>
            <a:rect l="l" t="t" r="r" b="b"/>
            <a:pathLst>
              <a:path w="7169150" h="1161414">
                <a:moveTo>
                  <a:pt x="7168896" y="0"/>
                </a:moveTo>
                <a:lnTo>
                  <a:pt x="0" y="0"/>
                </a:lnTo>
                <a:lnTo>
                  <a:pt x="0" y="1161288"/>
                </a:lnTo>
                <a:lnTo>
                  <a:pt x="7168896" y="1161288"/>
                </a:lnTo>
                <a:lnTo>
                  <a:pt x="71688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034790" y="4281678"/>
            <a:ext cx="7169150" cy="1161415"/>
          </a:xfrm>
          <a:prstGeom prst="rect">
            <a:avLst/>
          </a:prstGeom>
          <a:ln w="13715">
            <a:solidFill>
              <a:srgbClr val="E4E7EB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262255" indent="-173355">
              <a:lnSpc>
                <a:spcPct val="100000"/>
              </a:lnSpc>
              <a:spcBef>
                <a:spcPts val="355"/>
              </a:spcBef>
              <a:buFont typeface="Wingdings"/>
              <a:buChar char=""/>
              <a:tabLst>
                <a:tab pos="262255" algn="l"/>
              </a:tabLst>
            </a:pPr>
            <a:r>
              <a:rPr sz="1150" b="1" dirty="0">
                <a:latin typeface="Arial"/>
                <a:cs typeface="Arial"/>
              </a:rPr>
              <a:t>Blood</a:t>
            </a:r>
            <a:r>
              <a:rPr sz="1150" b="1" spc="110" dirty="0">
                <a:latin typeface="Arial"/>
                <a:cs typeface="Arial"/>
              </a:rPr>
              <a:t> </a:t>
            </a:r>
            <a:r>
              <a:rPr sz="1150" b="1" dirty="0">
                <a:latin typeface="Arial"/>
                <a:cs typeface="Arial"/>
              </a:rPr>
              <a:t>shortages</a:t>
            </a:r>
            <a:r>
              <a:rPr sz="1150" b="1" spc="140" dirty="0">
                <a:latin typeface="Arial"/>
                <a:cs typeface="Arial"/>
              </a:rPr>
              <a:t> </a:t>
            </a:r>
            <a:r>
              <a:rPr sz="1150" b="1" dirty="0">
                <a:latin typeface="Arial"/>
                <a:cs typeface="Arial"/>
              </a:rPr>
              <a:t>are</a:t>
            </a:r>
            <a:r>
              <a:rPr sz="1150" b="1" spc="35" dirty="0">
                <a:latin typeface="Arial"/>
                <a:cs typeface="Arial"/>
              </a:rPr>
              <a:t> </a:t>
            </a:r>
            <a:r>
              <a:rPr sz="1150" b="1" dirty="0">
                <a:latin typeface="Arial"/>
                <a:cs typeface="Arial"/>
              </a:rPr>
              <a:t>common:</a:t>
            </a:r>
            <a:r>
              <a:rPr sz="1150" b="1" spc="130" dirty="0">
                <a:latin typeface="Arial"/>
                <a:cs typeface="Arial"/>
              </a:rPr>
              <a:t> </a:t>
            </a:r>
            <a:r>
              <a:rPr sz="1150" dirty="0">
                <a:latin typeface="Arial MT"/>
                <a:cs typeface="Arial MT"/>
              </a:rPr>
              <a:t>Many</a:t>
            </a:r>
            <a:r>
              <a:rPr sz="1150" spc="13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hospitals</a:t>
            </a:r>
            <a:r>
              <a:rPr sz="1150" spc="17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experience</a:t>
            </a:r>
            <a:r>
              <a:rPr sz="1150" spc="14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frequent</a:t>
            </a:r>
            <a:r>
              <a:rPr sz="1150" spc="19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shortages</a:t>
            </a:r>
            <a:r>
              <a:rPr sz="1150" spc="21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of</a:t>
            </a:r>
            <a:r>
              <a:rPr sz="1150" spc="7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blood,</a:t>
            </a:r>
            <a:r>
              <a:rPr sz="1150" spc="190" dirty="0">
                <a:latin typeface="Arial MT"/>
                <a:cs typeface="Arial MT"/>
              </a:rPr>
              <a:t> </a:t>
            </a:r>
            <a:r>
              <a:rPr sz="1150" spc="-10" dirty="0">
                <a:latin typeface="Arial MT"/>
                <a:cs typeface="Arial MT"/>
              </a:rPr>
              <a:t>especially</a:t>
            </a:r>
            <a:endParaRPr sz="1150">
              <a:latin typeface="Arial MT"/>
              <a:cs typeface="Arial MT"/>
            </a:endParaRPr>
          </a:p>
          <a:p>
            <a:pPr marL="262255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Arial MT"/>
                <a:cs typeface="Arial MT"/>
              </a:rPr>
              <a:t>specific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types.</a:t>
            </a:r>
            <a:endParaRPr sz="1200">
              <a:latin typeface="Arial MT"/>
              <a:cs typeface="Arial MT"/>
            </a:endParaRPr>
          </a:p>
          <a:p>
            <a:pPr marL="262255" marR="252095" indent="-173990">
              <a:lnSpc>
                <a:spcPts val="1440"/>
              </a:lnSpc>
              <a:spcBef>
                <a:spcPts val="50"/>
              </a:spcBef>
              <a:buFont typeface="Wingdings"/>
              <a:buChar char=""/>
              <a:tabLst>
                <a:tab pos="262255" algn="l"/>
              </a:tabLst>
            </a:pPr>
            <a:r>
              <a:rPr sz="1150" b="1" dirty="0">
                <a:latin typeface="Arial"/>
                <a:cs typeface="Arial"/>
              </a:rPr>
              <a:t>Urgent</a:t>
            </a:r>
            <a:r>
              <a:rPr sz="1150" b="1" spc="145" dirty="0">
                <a:latin typeface="Arial"/>
                <a:cs typeface="Arial"/>
              </a:rPr>
              <a:t> </a:t>
            </a:r>
            <a:r>
              <a:rPr sz="1150" b="1" dirty="0">
                <a:latin typeface="Arial"/>
                <a:cs typeface="Arial"/>
              </a:rPr>
              <a:t>demand</a:t>
            </a:r>
            <a:r>
              <a:rPr sz="1150" b="1" spc="140" dirty="0">
                <a:latin typeface="Arial"/>
                <a:cs typeface="Arial"/>
              </a:rPr>
              <a:t> </a:t>
            </a:r>
            <a:r>
              <a:rPr sz="1150" b="1" dirty="0">
                <a:latin typeface="Arial"/>
                <a:cs typeface="Arial"/>
              </a:rPr>
              <a:t>exists:</a:t>
            </a:r>
            <a:r>
              <a:rPr sz="1150" b="1" spc="114" dirty="0">
                <a:latin typeface="Arial"/>
                <a:cs typeface="Arial"/>
              </a:rPr>
              <a:t> </a:t>
            </a:r>
            <a:r>
              <a:rPr sz="1150" dirty="0">
                <a:latin typeface="Arial MT"/>
                <a:cs typeface="Arial MT"/>
              </a:rPr>
              <a:t>Emergency</a:t>
            </a:r>
            <a:r>
              <a:rPr sz="1150" spc="21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situations</a:t>
            </a:r>
            <a:r>
              <a:rPr sz="1150" spc="204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(accidents,</a:t>
            </a:r>
            <a:r>
              <a:rPr sz="1150" spc="22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surgeries,</a:t>
            </a:r>
            <a:r>
              <a:rPr sz="1150" spc="18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childbirth</a:t>
            </a:r>
            <a:r>
              <a:rPr sz="1150" spc="13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complications)</a:t>
            </a:r>
            <a:r>
              <a:rPr sz="1150" spc="225" dirty="0">
                <a:latin typeface="Arial MT"/>
                <a:cs typeface="Arial MT"/>
              </a:rPr>
              <a:t> </a:t>
            </a:r>
            <a:r>
              <a:rPr sz="1150" spc="-20" dirty="0">
                <a:latin typeface="Arial MT"/>
                <a:cs typeface="Arial MT"/>
              </a:rPr>
              <a:t>need </a:t>
            </a:r>
            <a:r>
              <a:rPr sz="1150" dirty="0">
                <a:latin typeface="Arial MT"/>
                <a:cs typeface="Arial MT"/>
              </a:rPr>
              <a:t>compatible</a:t>
            </a:r>
            <a:r>
              <a:rPr sz="1150" spc="16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blood</a:t>
            </a:r>
            <a:r>
              <a:rPr sz="1150" spc="120" dirty="0">
                <a:latin typeface="Arial MT"/>
                <a:cs typeface="Arial MT"/>
              </a:rPr>
              <a:t> </a:t>
            </a:r>
            <a:r>
              <a:rPr sz="1150" spc="-10" dirty="0">
                <a:latin typeface="Arial MT"/>
                <a:cs typeface="Arial MT"/>
              </a:rPr>
              <a:t>quickly.</a:t>
            </a:r>
            <a:endParaRPr sz="1150">
              <a:latin typeface="Arial MT"/>
              <a:cs typeface="Arial MT"/>
            </a:endParaRPr>
          </a:p>
          <a:p>
            <a:pPr marL="262255" indent="-173355">
              <a:lnSpc>
                <a:spcPts val="1390"/>
              </a:lnSpc>
              <a:buFont typeface="Wingdings"/>
              <a:buChar char=""/>
              <a:tabLst>
                <a:tab pos="262255" algn="l"/>
              </a:tabLst>
            </a:pPr>
            <a:r>
              <a:rPr sz="1200" b="1" dirty="0">
                <a:latin typeface="Arial"/>
                <a:cs typeface="Arial"/>
              </a:rPr>
              <a:t>Current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systems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are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slow/fragmented:</a:t>
            </a:r>
            <a:r>
              <a:rPr sz="1200" b="1" spc="90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It’s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hard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hospitals</a:t>
            </a:r>
            <a:r>
              <a:rPr sz="1200" spc="8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find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nearby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donors</a:t>
            </a:r>
            <a:r>
              <a:rPr sz="1200" spc="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fast.</a:t>
            </a:r>
            <a:endParaRPr sz="1200">
              <a:latin typeface="Arial MT"/>
              <a:cs typeface="Arial MT"/>
            </a:endParaRPr>
          </a:p>
          <a:p>
            <a:pPr marL="262255" indent="-173355">
              <a:lnSpc>
                <a:spcPct val="100000"/>
              </a:lnSpc>
              <a:spcBef>
                <a:spcPts val="50"/>
              </a:spcBef>
              <a:buFont typeface="Wingdings"/>
              <a:buChar char=""/>
              <a:tabLst>
                <a:tab pos="262255" algn="l"/>
              </a:tabLst>
            </a:pPr>
            <a:r>
              <a:rPr sz="1150" b="1" dirty="0">
                <a:latin typeface="Arial"/>
                <a:cs typeface="Arial"/>
              </a:rPr>
              <a:t>Donor</a:t>
            </a:r>
            <a:r>
              <a:rPr sz="1150" b="1" spc="125" dirty="0">
                <a:latin typeface="Arial"/>
                <a:cs typeface="Arial"/>
              </a:rPr>
              <a:t> </a:t>
            </a:r>
            <a:r>
              <a:rPr sz="1150" b="1" dirty="0">
                <a:latin typeface="Arial"/>
                <a:cs typeface="Arial"/>
              </a:rPr>
              <a:t>availability</a:t>
            </a:r>
            <a:r>
              <a:rPr sz="1150" b="1" spc="110" dirty="0">
                <a:latin typeface="Arial"/>
                <a:cs typeface="Arial"/>
              </a:rPr>
              <a:t> </a:t>
            </a:r>
            <a:r>
              <a:rPr sz="1150" b="1" dirty="0">
                <a:latin typeface="Arial"/>
                <a:cs typeface="Arial"/>
              </a:rPr>
              <a:t>saves</a:t>
            </a:r>
            <a:r>
              <a:rPr sz="1150" b="1" spc="70" dirty="0">
                <a:latin typeface="Arial"/>
                <a:cs typeface="Arial"/>
              </a:rPr>
              <a:t> </a:t>
            </a:r>
            <a:r>
              <a:rPr sz="1150" b="1" dirty="0">
                <a:latin typeface="Arial"/>
                <a:cs typeface="Arial"/>
              </a:rPr>
              <a:t>lives:</a:t>
            </a:r>
            <a:r>
              <a:rPr sz="1150" b="1" spc="70" dirty="0">
                <a:latin typeface="Arial"/>
                <a:cs typeface="Arial"/>
              </a:rPr>
              <a:t> </a:t>
            </a:r>
            <a:r>
              <a:rPr sz="1150" dirty="0">
                <a:latin typeface="Arial MT"/>
                <a:cs typeface="Arial MT"/>
              </a:rPr>
              <a:t>Faster</a:t>
            </a:r>
            <a:r>
              <a:rPr sz="1150" spc="15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matches</a:t>
            </a:r>
            <a:r>
              <a:rPr sz="1150" spc="18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between</a:t>
            </a:r>
            <a:r>
              <a:rPr sz="1150" spc="19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donors</a:t>
            </a:r>
            <a:r>
              <a:rPr sz="1150" spc="18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and</a:t>
            </a:r>
            <a:r>
              <a:rPr sz="1150" spc="7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hospitals</a:t>
            </a:r>
            <a:r>
              <a:rPr sz="1150" spc="22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can</a:t>
            </a:r>
            <a:r>
              <a:rPr sz="1150" spc="3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reduce</a:t>
            </a:r>
            <a:r>
              <a:rPr sz="1150" spc="110" dirty="0">
                <a:latin typeface="Arial MT"/>
                <a:cs typeface="Arial MT"/>
              </a:rPr>
              <a:t> </a:t>
            </a:r>
            <a:r>
              <a:rPr sz="1150" spc="-10" dirty="0">
                <a:latin typeface="Arial MT"/>
                <a:cs typeface="Arial MT"/>
              </a:rPr>
              <a:t>deaths.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7945" y="5968390"/>
            <a:ext cx="11874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Success</a:t>
            </a:r>
            <a:r>
              <a:rPr sz="1300" b="1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metric(s)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034790" y="5561838"/>
            <a:ext cx="7169150" cy="878205"/>
          </a:xfrm>
          <a:custGeom>
            <a:avLst/>
            <a:gdLst/>
            <a:ahLst/>
            <a:cxnLst/>
            <a:rect l="l" t="t" r="r" b="b"/>
            <a:pathLst>
              <a:path w="7169150" h="878204">
                <a:moveTo>
                  <a:pt x="7168896" y="0"/>
                </a:moveTo>
                <a:lnTo>
                  <a:pt x="0" y="0"/>
                </a:lnTo>
                <a:lnTo>
                  <a:pt x="0" y="877824"/>
                </a:lnTo>
                <a:lnTo>
                  <a:pt x="7168896" y="877824"/>
                </a:lnTo>
                <a:lnTo>
                  <a:pt x="71688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034790" y="5561838"/>
            <a:ext cx="7169150" cy="878205"/>
          </a:xfrm>
          <a:prstGeom prst="rect">
            <a:avLst/>
          </a:prstGeom>
          <a:ln w="13715">
            <a:solidFill>
              <a:srgbClr val="E4E7EB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384810" indent="-287655">
              <a:lnSpc>
                <a:spcPct val="100000"/>
              </a:lnSpc>
              <a:spcBef>
                <a:spcPts val="110"/>
              </a:spcBef>
              <a:buFont typeface="Wingdings"/>
              <a:buChar char=""/>
              <a:tabLst>
                <a:tab pos="384810" algn="l"/>
              </a:tabLst>
            </a:pPr>
            <a:r>
              <a:rPr sz="1400" b="1" dirty="0">
                <a:latin typeface="Calibri"/>
                <a:cs typeface="Calibri"/>
              </a:rPr>
              <a:t>Time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saved: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Faster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identification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nearby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compatible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donors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during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emergencies</a:t>
            </a:r>
            <a:endParaRPr sz="1400">
              <a:latin typeface="Calibri"/>
              <a:cs typeface="Calibri"/>
            </a:endParaRPr>
          </a:p>
          <a:p>
            <a:pPr marL="384810" indent="-287655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384810" algn="l"/>
              </a:tabLst>
            </a:pPr>
            <a:r>
              <a:rPr sz="1400" b="1" dirty="0">
                <a:latin typeface="Calibri"/>
                <a:cs typeface="Calibri"/>
              </a:rPr>
              <a:t>Errors</a:t>
            </a:r>
            <a:r>
              <a:rPr sz="1400" b="1" spc="-8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reduced:</a:t>
            </a:r>
            <a:r>
              <a:rPr sz="1400" b="1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Verified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blood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type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records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authorized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access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reduce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mismatches</a:t>
            </a:r>
            <a:endParaRPr sz="1400">
              <a:latin typeface="Calibri"/>
              <a:cs typeface="Calibri"/>
            </a:endParaRPr>
          </a:p>
          <a:p>
            <a:pPr marL="384810" indent="-287655">
              <a:lnSpc>
                <a:spcPts val="1670"/>
              </a:lnSpc>
              <a:spcBef>
                <a:spcPts val="10"/>
              </a:spcBef>
              <a:buFont typeface="Wingdings"/>
              <a:buChar char=""/>
              <a:tabLst>
                <a:tab pos="384810" algn="l"/>
              </a:tabLst>
            </a:pPr>
            <a:r>
              <a:rPr sz="1400" b="1" dirty="0">
                <a:latin typeface="Calibri"/>
                <a:cs typeface="Calibri"/>
              </a:rPr>
              <a:t>Cost</a:t>
            </a:r>
            <a:r>
              <a:rPr sz="1400" b="1" spc="-8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lowered:</a:t>
            </a:r>
            <a:r>
              <a:rPr sz="1400" b="1" spc="-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Less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reliance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last-</a:t>
            </a:r>
            <a:r>
              <a:rPr sz="1400" dirty="0">
                <a:latin typeface="Calibri"/>
                <a:cs typeface="Calibri"/>
              </a:rPr>
              <a:t>minute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searches,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transfers,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external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procurement</a:t>
            </a:r>
            <a:endParaRPr sz="1400">
              <a:latin typeface="Calibri"/>
              <a:cs typeface="Calibri"/>
            </a:endParaRPr>
          </a:p>
          <a:p>
            <a:pPr marL="384810" indent="-287655">
              <a:lnSpc>
                <a:spcPts val="1670"/>
              </a:lnSpc>
              <a:buFont typeface="Wingdings"/>
              <a:buChar char=""/>
              <a:tabLst>
                <a:tab pos="384810" algn="l"/>
              </a:tabLst>
            </a:pPr>
            <a:r>
              <a:rPr sz="1400" b="1" dirty="0">
                <a:latin typeface="Calibri"/>
                <a:cs typeface="Calibri"/>
              </a:rPr>
              <a:t>Safety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improved:</a:t>
            </a:r>
            <a:r>
              <a:rPr sz="1400" b="1" spc="-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Secure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platform,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verified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hospitals,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controlled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donor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-4572" y="6560819"/>
            <a:ext cx="12207240" cy="306705"/>
            <a:chOff x="-4572" y="6560819"/>
            <a:chExt cx="12207240" cy="306705"/>
          </a:xfrm>
        </p:grpSpPr>
        <p:sp>
          <p:nvSpPr>
            <p:cNvPr id="30" name="object 30"/>
            <p:cNvSpPr/>
            <p:nvPr/>
          </p:nvSpPr>
          <p:spPr>
            <a:xfrm>
              <a:off x="2286" y="6567677"/>
              <a:ext cx="12193905" cy="292735"/>
            </a:xfrm>
            <a:custGeom>
              <a:avLst/>
              <a:gdLst/>
              <a:ahLst/>
              <a:cxnLst/>
              <a:rect l="l" t="t" r="r" b="b"/>
              <a:pathLst>
                <a:path w="12193905" h="292734">
                  <a:moveTo>
                    <a:pt x="12193524" y="0"/>
                  </a:moveTo>
                  <a:lnTo>
                    <a:pt x="0" y="0"/>
                  </a:lnTo>
                  <a:lnTo>
                    <a:pt x="0" y="292607"/>
                  </a:lnTo>
                  <a:lnTo>
                    <a:pt x="12193524" y="292607"/>
                  </a:lnTo>
                  <a:lnTo>
                    <a:pt x="12193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286" y="6567677"/>
              <a:ext cx="12193905" cy="292735"/>
            </a:xfrm>
            <a:custGeom>
              <a:avLst/>
              <a:gdLst/>
              <a:ahLst/>
              <a:cxnLst/>
              <a:rect l="l" t="t" r="r" b="b"/>
              <a:pathLst>
                <a:path w="12193905" h="292734">
                  <a:moveTo>
                    <a:pt x="0" y="292607"/>
                  </a:moveTo>
                  <a:lnTo>
                    <a:pt x="12193524" y="292607"/>
                  </a:lnTo>
                  <a:lnTo>
                    <a:pt x="12193524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3716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8739" y="-17018"/>
            <a:ext cx="9142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 indent="-88900">
              <a:lnSpc>
                <a:spcPct val="100000"/>
              </a:lnSpc>
              <a:spcBef>
                <a:spcPts val="100"/>
              </a:spcBef>
              <a:buSzPct val="94444"/>
              <a:buFont typeface="Arial MT"/>
              <a:buChar char="•"/>
              <a:tabLst>
                <a:tab pos="90170" algn="l"/>
              </a:tabLst>
            </a:pPr>
            <a:r>
              <a:rPr sz="1800" b="1" dirty="0">
                <a:latin typeface="Arial"/>
                <a:cs typeface="Arial"/>
              </a:rPr>
              <a:t>Current</a:t>
            </a:r>
            <a:r>
              <a:rPr sz="1800" b="1" spc="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systems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 slow/fragmented: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It’s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hard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hospitals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find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nearby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donors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fast.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662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-5" dirty="0"/>
              <a:t> </a:t>
            </a:r>
            <a:r>
              <a:rPr dirty="0"/>
              <a:t>Prototype</a:t>
            </a:r>
            <a:r>
              <a:rPr spc="-35" dirty="0"/>
              <a:t> </a:t>
            </a:r>
            <a:r>
              <a:rPr dirty="0"/>
              <a:t>Stage</a:t>
            </a:r>
            <a:r>
              <a:rPr spc="10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spc="-10" dirty="0"/>
              <a:t>Submission</a:t>
            </a:r>
            <a:r>
              <a:rPr spc="-70" dirty="0"/>
              <a:t> </a:t>
            </a:r>
            <a:r>
              <a:rPr spc="-20" dirty="0"/>
              <a:t>Deck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1021694" y="6673468"/>
            <a:ext cx="29845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100" spc="-20" dirty="0">
                <a:latin typeface="Calibri"/>
                <a:cs typeface="Calibri"/>
              </a:rPr>
              <a:t>3/23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739" y="256997"/>
            <a:ext cx="100945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 indent="-88900">
              <a:lnSpc>
                <a:spcPct val="100000"/>
              </a:lnSpc>
              <a:spcBef>
                <a:spcPts val="100"/>
              </a:spcBef>
              <a:buSzPct val="94444"/>
              <a:buFont typeface="Arial MT"/>
              <a:buChar char="•"/>
              <a:tabLst>
                <a:tab pos="90170" algn="l"/>
              </a:tabLst>
            </a:pPr>
            <a:r>
              <a:rPr sz="1800" b="1" dirty="0">
                <a:latin typeface="Arial"/>
                <a:cs typeface="Arial"/>
              </a:rPr>
              <a:t>Donor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availability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saves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lives:</a:t>
            </a:r>
            <a:r>
              <a:rPr sz="1800" b="1" spc="5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Faster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matches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donors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hospitals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reduce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deaths.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-4572"/>
            <a:ext cx="12207240" cy="581025"/>
            <a:chOff x="-4572" y="-4572"/>
            <a:chExt cx="12207240" cy="581025"/>
          </a:xfrm>
        </p:grpSpPr>
        <p:sp>
          <p:nvSpPr>
            <p:cNvPr id="3" name="object 3"/>
            <p:cNvSpPr/>
            <p:nvPr/>
          </p:nvSpPr>
          <p:spPr>
            <a:xfrm>
              <a:off x="148590" y="2286"/>
              <a:ext cx="12047220" cy="567055"/>
            </a:xfrm>
            <a:custGeom>
              <a:avLst/>
              <a:gdLst/>
              <a:ahLst/>
              <a:cxnLst/>
              <a:rect l="l" t="t" r="r" b="b"/>
              <a:pathLst>
                <a:path w="12047220" h="567055">
                  <a:moveTo>
                    <a:pt x="0" y="566928"/>
                  </a:moveTo>
                  <a:lnTo>
                    <a:pt x="12047219" y="566928"/>
                  </a:lnTo>
                  <a:lnTo>
                    <a:pt x="12047219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" y="2286"/>
              <a:ext cx="12193905" cy="567055"/>
            </a:xfrm>
            <a:custGeom>
              <a:avLst/>
              <a:gdLst/>
              <a:ahLst/>
              <a:cxnLst/>
              <a:rect l="l" t="t" r="r" b="b"/>
              <a:pathLst>
                <a:path w="12193905" h="567055">
                  <a:moveTo>
                    <a:pt x="0" y="566928"/>
                  </a:moveTo>
                  <a:lnTo>
                    <a:pt x="12193524" y="566928"/>
                  </a:lnTo>
                  <a:lnTo>
                    <a:pt x="1219352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3716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" y="2286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8"/>
                  </a:lnTo>
                  <a:lnTo>
                    <a:pt x="146304" y="566928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" y="2286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8"/>
                  </a:moveTo>
                  <a:lnTo>
                    <a:pt x="146304" y="566928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3716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71880" y="105867"/>
            <a:ext cx="21412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SoI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Calibri"/>
                <a:cs typeface="Calibri"/>
              </a:rPr>
              <a:t>Innovation Pipeline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9787" y="653795"/>
            <a:ext cx="1934210" cy="306705"/>
            <a:chOff x="589787" y="653795"/>
            <a:chExt cx="1934210" cy="306705"/>
          </a:xfrm>
        </p:grpSpPr>
        <p:sp>
          <p:nvSpPr>
            <p:cNvPr id="9" name="object 9"/>
            <p:cNvSpPr/>
            <p:nvPr/>
          </p:nvSpPr>
          <p:spPr>
            <a:xfrm>
              <a:off x="596645" y="660653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40" y="243840"/>
                  </a:lnTo>
                  <a:lnTo>
                    <a:pt x="1920240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6645" y="660653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40" y="48768"/>
                  </a:lnTo>
                  <a:lnTo>
                    <a:pt x="1920240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3716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85977" y="1610007"/>
            <a:ext cx="11049000" cy="4982210"/>
            <a:chOff x="585977" y="1610007"/>
            <a:chExt cx="11049000" cy="49822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977" y="1610007"/>
              <a:ext cx="11048746" cy="49818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6645" y="1620773"/>
              <a:ext cx="11005185" cy="4937760"/>
            </a:xfrm>
            <a:custGeom>
              <a:avLst/>
              <a:gdLst/>
              <a:ahLst/>
              <a:cxnLst/>
              <a:rect l="l" t="t" r="r" b="b"/>
              <a:pathLst>
                <a:path w="11005185" h="4937759">
                  <a:moveTo>
                    <a:pt x="10181844" y="0"/>
                  </a:moveTo>
                  <a:lnTo>
                    <a:pt x="822960" y="0"/>
                  </a:lnTo>
                  <a:lnTo>
                    <a:pt x="774606" y="1396"/>
                  </a:lnTo>
                  <a:lnTo>
                    <a:pt x="726987" y="5536"/>
                  </a:lnTo>
                  <a:lnTo>
                    <a:pt x="680182" y="12340"/>
                  </a:lnTo>
                  <a:lnTo>
                    <a:pt x="634267" y="21733"/>
                  </a:lnTo>
                  <a:lnTo>
                    <a:pt x="589318" y="33637"/>
                  </a:lnTo>
                  <a:lnTo>
                    <a:pt x="545414" y="47974"/>
                  </a:lnTo>
                  <a:lnTo>
                    <a:pt x="502632" y="64668"/>
                  </a:lnTo>
                  <a:lnTo>
                    <a:pt x="461048" y="83642"/>
                  </a:lnTo>
                  <a:lnTo>
                    <a:pt x="420741" y="104818"/>
                  </a:lnTo>
                  <a:lnTo>
                    <a:pt x="381786" y="128118"/>
                  </a:lnTo>
                  <a:lnTo>
                    <a:pt x="344262" y="153467"/>
                  </a:lnTo>
                  <a:lnTo>
                    <a:pt x="308246" y="180787"/>
                  </a:lnTo>
                  <a:lnTo>
                    <a:pt x="273814" y="210000"/>
                  </a:lnTo>
                  <a:lnTo>
                    <a:pt x="241044" y="241030"/>
                  </a:lnTo>
                  <a:lnTo>
                    <a:pt x="210013" y="273799"/>
                  </a:lnTo>
                  <a:lnTo>
                    <a:pt x="180799" y="308230"/>
                  </a:lnTo>
                  <a:lnTo>
                    <a:pt x="153478" y="344246"/>
                  </a:lnTo>
                  <a:lnTo>
                    <a:pt x="128128" y="381769"/>
                  </a:lnTo>
                  <a:lnTo>
                    <a:pt x="104826" y="420724"/>
                  </a:lnTo>
                  <a:lnTo>
                    <a:pt x="83648" y="461032"/>
                  </a:lnTo>
                  <a:lnTo>
                    <a:pt x="64674" y="502616"/>
                  </a:lnTo>
                  <a:lnTo>
                    <a:pt x="47978" y="545399"/>
                  </a:lnTo>
                  <a:lnTo>
                    <a:pt x="33640" y="589304"/>
                  </a:lnTo>
                  <a:lnTo>
                    <a:pt x="21735" y="634255"/>
                  </a:lnTo>
                  <a:lnTo>
                    <a:pt x="12342" y="680172"/>
                  </a:lnTo>
                  <a:lnTo>
                    <a:pt x="5536" y="726980"/>
                  </a:lnTo>
                  <a:lnTo>
                    <a:pt x="1397" y="774602"/>
                  </a:lnTo>
                  <a:lnTo>
                    <a:pt x="0" y="822960"/>
                  </a:lnTo>
                  <a:lnTo>
                    <a:pt x="0" y="4114787"/>
                  </a:lnTo>
                  <a:lnTo>
                    <a:pt x="1397" y="4163142"/>
                  </a:lnTo>
                  <a:lnTo>
                    <a:pt x="5536" y="4210761"/>
                  </a:lnTo>
                  <a:lnTo>
                    <a:pt x="12342" y="4257568"/>
                  </a:lnTo>
                  <a:lnTo>
                    <a:pt x="21735" y="4303484"/>
                  </a:lnTo>
                  <a:lnTo>
                    <a:pt x="33640" y="4348434"/>
                  </a:lnTo>
                  <a:lnTo>
                    <a:pt x="47978" y="4392339"/>
                  </a:lnTo>
                  <a:lnTo>
                    <a:pt x="64674" y="4435122"/>
                  </a:lnTo>
                  <a:lnTo>
                    <a:pt x="83648" y="4476706"/>
                  </a:lnTo>
                  <a:lnTo>
                    <a:pt x="104826" y="4517014"/>
                  </a:lnTo>
                  <a:lnTo>
                    <a:pt x="128128" y="4555969"/>
                  </a:lnTo>
                  <a:lnTo>
                    <a:pt x="153478" y="4593494"/>
                  </a:lnTo>
                  <a:lnTo>
                    <a:pt x="180799" y="4629511"/>
                  </a:lnTo>
                  <a:lnTo>
                    <a:pt x="210013" y="4663943"/>
                  </a:lnTo>
                  <a:lnTo>
                    <a:pt x="241044" y="4696714"/>
                  </a:lnTo>
                  <a:lnTo>
                    <a:pt x="273814" y="4727745"/>
                  </a:lnTo>
                  <a:lnTo>
                    <a:pt x="308246" y="4756959"/>
                  </a:lnTo>
                  <a:lnTo>
                    <a:pt x="344262" y="4784280"/>
                  </a:lnTo>
                  <a:lnTo>
                    <a:pt x="381786" y="4809631"/>
                  </a:lnTo>
                  <a:lnTo>
                    <a:pt x="420741" y="4832933"/>
                  </a:lnTo>
                  <a:lnTo>
                    <a:pt x="461048" y="4854110"/>
                  </a:lnTo>
                  <a:lnTo>
                    <a:pt x="502632" y="4873085"/>
                  </a:lnTo>
                  <a:lnTo>
                    <a:pt x="545414" y="4889780"/>
                  </a:lnTo>
                  <a:lnTo>
                    <a:pt x="589318" y="4904119"/>
                  </a:lnTo>
                  <a:lnTo>
                    <a:pt x="634267" y="4916024"/>
                  </a:lnTo>
                  <a:lnTo>
                    <a:pt x="680182" y="4925417"/>
                  </a:lnTo>
                  <a:lnTo>
                    <a:pt x="726987" y="4932223"/>
                  </a:lnTo>
                  <a:lnTo>
                    <a:pt x="774606" y="4936362"/>
                  </a:lnTo>
                  <a:lnTo>
                    <a:pt x="822960" y="4937760"/>
                  </a:lnTo>
                  <a:lnTo>
                    <a:pt x="10181844" y="4937760"/>
                  </a:lnTo>
                  <a:lnTo>
                    <a:pt x="10230201" y="4936362"/>
                  </a:lnTo>
                  <a:lnTo>
                    <a:pt x="10277823" y="4932223"/>
                  </a:lnTo>
                  <a:lnTo>
                    <a:pt x="10324631" y="4925417"/>
                  </a:lnTo>
                  <a:lnTo>
                    <a:pt x="10370548" y="4916024"/>
                  </a:lnTo>
                  <a:lnTo>
                    <a:pt x="10415499" y="4904119"/>
                  </a:lnTo>
                  <a:lnTo>
                    <a:pt x="10459404" y="4889780"/>
                  </a:lnTo>
                  <a:lnTo>
                    <a:pt x="10502187" y="4873085"/>
                  </a:lnTo>
                  <a:lnTo>
                    <a:pt x="10543771" y="4854110"/>
                  </a:lnTo>
                  <a:lnTo>
                    <a:pt x="10584079" y="4832933"/>
                  </a:lnTo>
                  <a:lnTo>
                    <a:pt x="10623034" y="4809631"/>
                  </a:lnTo>
                  <a:lnTo>
                    <a:pt x="10660557" y="4784280"/>
                  </a:lnTo>
                  <a:lnTo>
                    <a:pt x="10696573" y="4756959"/>
                  </a:lnTo>
                  <a:lnTo>
                    <a:pt x="10731004" y="4727745"/>
                  </a:lnTo>
                  <a:lnTo>
                    <a:pt x="10763773" y="4696714"/>
                  </a:lnTo>
                  <a:lnTo>
                    <a:pt x="10794803" y="4663943"/>
                  </a:lnTo>
                  <a:lnTo>
                    <a:pt x="10824016" y="4629511"/>
                  </a:lnTo>
                  <a:lnTo>
                    <a:pt x="10851336" y="4593494"/>
                  </a:lnTo>
                  <a:lnTo>
                    <a:pt x="10876685" y="4555969"/>
                  </a:lnTo>
                  <a:lnTo>
                    <a:pt x="10899985" y="4517014"/>
                  </a:lnTo>
                  <a:lnTo>
                    <a:pt x="10921161" y="4476706"/>
                  </a:lnTo>
                  <a:lnTo>
                    <a:pt x="10940135" y="4435122"/>
                  </a:lnTo>
                  <a:lnTo>
                    <a:pt x="10956829" y="4392339"/>
                  </a:lnTo>
                  <a:lnTo>
                    <a:pt x="10971166" y="4348434"/>
                  </a:lnTo>
                  <a:lnTo>
                    <a:pt x="10983070" y="4303484"/>
                  </a:lnTo>
                  <a:lnTo>
                    <a:pt x="10992463" y="4257568"/>
                  </a:lnTo>
                  <a:lnTo>
                    <a:pt x="10999267" y="4210761"/>
                  </a:lnTo>
                  <a:lnTo>
                    <a:pt x="11003407" y="4163142"/>
                  </a:lnTo>
                  <a:lnTo>
                    <a:pt x="11004804" y="4114787"/>
                  </a:lnTo>
                  <a:lnTo>
                    <a:pt x="11004804" y="822960"/>
                  </a:lnTo>
                  <a:lnTo>
                    <a:pt x="11003407" y="774602"/>
                  </a:lnTo>
                  <a:lnTo>
                    <a:pt x="10999267" y="726980"/>
                  </a:lnTo>
                  <a:lnTo>
                    <a:pt x="10992463" y="680172"/>
                  </a:lnTo>
                  <a:lnTo>
                    <a:pt x="10983070" y="634255"/>
                  </a:lnTo>
                  <a:lnTo>
                    <a:pt x="10971166" y="589304"/>
                  </a:lnTo>
                  <a:lnTo>
                    <a:pt x="10956829" y="545399"/>
                  </a:lnTo>
                  <a:lnTo>
                    <a:pt x="10940135" y="502616"/>
                  </a:lnTo>
                  <a:lnTo>
                    <a:pt x="10921161" y="461032"/>
                  </a:lnTo>
                  <a:lnTo>
                    <a:pt x="10899985" y="420724"/>
                  </a:lnTo>
                  <a:lnTo>
                    <a:pt x="10876685" y="381769"/>
                  </a:lnTo>
                  <a:lnTo>
                    <a:pt x="10851336" y="344246"/>
                  </a:lnTo>
                  <a:lnTo>
                    <a:pt x="10824016" y="308230"/>
                  </a:lnTo>
                  <a:lnTo>
                    <a:pt x="10794803" y="273799"/>
                  </a:lnTo>
                  <a:lnTo>
                    <a:pt x="10763773" y="241030"/>
                  </a:lnTo>
                  <a:lnTo>
                    <a:pt x="10731004" y="210000"/>
                  </a:lnTo>
                  <a:lnTo>
                    <a:pt x="10696573" y="180787"/>
                  </a:lnTo>
                  <a:lnTo>
                    <a:pt x="10660557" y="153467"/>
                  </a:lnTo>
                  <a:lnTo>
                    <a:pt x="10623034" y="128118"/>
                  </a:lnTo>
                  <a:lnTo>
                    <a:pt x="10584079" y="104818"/>
                  </a:lnTo>
                  <a:lnTo>
                    <a:pt x="10543771" y="83642"/>
                  </a:lnTo>
                  <a:lnTo>
                    <a:pt x="10502187" y="64668"/>
                  </a:lnTo>
                  <a:lnTo>
                    <a:pt x="10459404" y="47974"/>
                  </a:lnTo>
                  <a:lnTo>
                    <a:pt x="10415499" y="33637"/>
                  </a:lnTo>
                  <a:lnTo>
                    <a:pt x="10370548" y="21733"/>
                  </a:lnTo>
                  <a:lnTo>
                    <a:pt x="10324631" y="12340"/>
                  </a:lnTo>
                  <a:lnTo>
                    <a:pt x="10277823" y="5536"/>
                  </a:lnTo>
                  <a:lnTo>
                    <a:pt x="10230201" y="1396"/>
                  </a:lnTo>
                  <a:lnTo>
                    <a:pt x="10181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6645" y="1620773"/>
              <a:ext cx="11005185" cy="4937760"/>
            </a:xfrm>
            <a:custGeom>
              <a:avLst/>
              <a:gdLst/>
              <a:ahLst/>
              <a:cxnLst/>
              <a:rect l="l" t="t" r="r" b="b"/>
              <a:pathLst>
                <a:path w="11005185" h="4937759">
                  <a:moveTo>
                    <a:pt x="0" y="822960"/>
                  </a:moveTo>
                  <a:lnTo>
                    <a:pt x="1397" y="774602"/>
                  </a:lnTo>
                  <a:lnTo>
                    <a:pt x="5536" y="726980"/>
                  </a:lnTo>
                  <a:lnTo>
                    <a:pt x="12342" y="680172"/>
                  </a:lnTo>
                  <a:lnTo>
                    <a:pt x="21735" y="634255"/>
                  </a:lnTo>
                  <a:lnTo>
                    <a:pt x="33640" y="589304"/>
                  </a:lnTo>
                  <a:lnTo>
                    <a:pt x="47978" y="545399"/>
                  </a:lnTo>
                  <a:lnTo>
                    <a:pt x="64674" y="502616"/>
                  </a:lnTo>
                  <a:lnTo>
                    <a:pt x="83648" y="461032"/>
                  </a:lnTo>
                  <a:lnTo>
                    <a:pt x="104826" y="420724"/>
                  </a:lnTo>
                  <a:lnTo>
                    <a:pt x="128128" y="381769"/>
                  </a:lnTo>
                  <a:lnTo>
                    <a:pt x="153478" y="344246"/>
                  </a:lnTo>
                  <a:lnTo>
                    <a:pt x="180799" y="308230"/>
                  </a:lnTo>
                  <a:lnTo>
                    <a:pt x="210013" y="273799"/>
                  </a:lnTo>
                  <a:lnTo>
                    <a:pt x="241044" y="241030"/>
                  </a:lnTo>
                  <a:lnTo>
                    <a:pt x="273814" y="210000"/>
                  </a:lnTo>
                  <a:lnTo>
                    <a:pt x="308246" y="180787"/>
                  </a:lnTo>
                  <a:lnTo>
                    <a:pt x="344262" y="153467"/>
                  </a:lnTo>
                  <a:lnTo>
                    <a:pt x="381786" y="128118"/>
                  </a:lnTo>
                  <a:lnTo>
                    <a:pt x="420741" y="104818"/>
                  </a:lnTo>
                  <a:lnTo>
                    <a:pt x="461048" y="83642"/>
                  </a:lnTo>
                  <a:lnTo>
                    <a:pt x="502632" y="64668"/>
                  </a:lnTo>
                  <a:lnTo>
                    <a:pt x="545414" y="47974"/>
                  </a:lnTo>
                  <a:lnTo>
                    <a:pt x="589318" y="33637"/>
                  </a:lnTo>
                  <a:lnTo>
                    <a:pt x="634267" y="21733"/>
                  </a:lnTo>
                  <a:lnTo>
                    <a:pt x="680182" y="12340"/>
                  </a:lnTo>
                  <a:lnTo>
                    <a:pt x="726987" y="5536"/>
                  </a:lnTo>
                  <a:lnTo>
                    <a:pt x="774606" y="1396"/>
                  </a:lnTo>
                  <a:lnTo>
                    <a:pt x="822960" y="0"/>
                  </a:lnTo>
                  <a:lnTo>
                    <a:pt x="10181844" y="0"/>
                  </a:lnTo>
                  <a:lnTo>
                    <a:pt x="10230201" y="1396"/>
                  </a:lnTo>
                  <a:lnTo>
                    <a:pt x="10277823" y="5536"/>
                  </a:lnTo>
                  <a:lnTo>
                    <a:pt x="10324631" y="12340"/>
                  </a:lnTo>
                  <a:lnTo>
                    <a:pt x="10370548" y="21733"/>
                  </a:lnTo>
                  <a:lnTo>
                    <a:pt x="10415499" y="33637"/>
                  </a:lnTo>
                  <a:lnTo>
                    <a:pt x="10459404" y="47974"/>
                  </a:lnTo>
                  <a:lnTo>
                    <a:pt x="10502187" y="64668"/>
                  </a:lnTo>
                  <a:lnTo>
                    <a:pt x="10543771" y="83642"/>
                  </a:lnTo>
                  <a:lnTo>
                    <a:pt x="10584079" y="104818"/>
                  </a:lnTo>
                  <a:lnTo>
                    <a:pt x="10623034" y="128118"/>
                  </a:lnTo>
                  <a:lnTo>
                    <a:pt x="10660557" y="153467"/>
                  </a:lnTo>
                  <a:lnTo>
                    <a:pt x="10696573" y="180787"/>
                  </a:lnTo>
                  <a:lnTo>
                    <a:pt x="10731004" y="210000"/>
                  </a:lnTo>
                  <a:lnTo>
                    <a:pt x="10763773" y="241030"/>
                  </a:lnTo>
                  <a:lnTo>
                    <a:pt x="10794803" y="273799"/>
                  </a:lnTo>
                  <a:lnTo>
                    <a:pt x="10824016" y="308230"/>
                  </a:lnTo>
                  <a:lnTo>
                    <a:pt x="10851336" y="344246"/>
                  </a:lnTo>
                  <a:lnTo>
                    <a:pt x="10876685" y="381769"/>
                  </a:lnTo>
                  <a:lnTo>
                    <a:pt x="10899985" y="420724"/>
                  </a:lnTo>
                  <a:lnTo>
                    <a:pt x="10921161" y="461032"/>
                  </a:lnTo>
                  <a:lnTo>
                    <a:pt x="10940135" y="502616"/>
                  </a:lnTo>
                  <a:lnTo>
                    <a:pt x="10956829" y="545399"/>
                  </a:lnTo>
                  <a:lnTo>
                    <a:pt x="10971166" y="589304"/>
                  </a:lnTo>
                  <a:lnTo>
                    <a:pt x="10983070" y="634255"/>
                  </a:lnTo>
                  <a:lnTo>
                    <a:pt x="10992463" y="680172"/>
                  </a:lnTo>
                  <a:lnTo>
                    <a:pt x="10999267" y="726980"/>
                  </a:lnTo>
                  <a:lnTo>
                    <a:pt x="11003407" y="774602"/>
                  </a:lnTo>
                  <a:lnTo>
                    <a:pt x="11004804" y="822960"/>
                  </a:lnTo>
                  <a:lnTo>
                    <a:pt x="11004804" y="4114787"/>
                  </a:lnTo>
                  <a:lnTo>
                    <a:pt x="11003407" y="4163142"/>
                  </a:lnTo>
                  <a:lnTo>
                    <a:pt x="10999267" y="4210761"/>
                  </a:lnTo>
                  <a:lnTo>
                    <a:pt x="10992463" y="4257568"/>
                  </a:lnTo>
                  <a:lnTo>
                    <a:pt x="10983070" y="4303484"/>
                  </a:lnTo>
                  <a:lnTo>
                    <a:pt x="10971166" y="4348434"/>
                  </a:lnTo>
                  <a:lnTo>
                    <a:pt x="10956829" y="4392339"/>
                  </a:lnTo>
                  <a:lnTo>
                    <a:pt x="10940135" y="4435122"/>
                  </a:lnTo>
                  <a:lnTo>
                    <a:pt x="10921161" y="4476706"/>
                  </a:lnTo>
                  <a:lnTo>
                    <a:pt x="10899985" y="4517014"/>
                  </a:lnTo>
                  <a:lnTo>
                    <a:pt x="10876685" y="4555969"/>
                  </a:lnTo>
                  <a:lnTo>
                    <a:pt x="10851336" y="4593494"/>
                  </a:lnTo>
                  <a:lnTo>
                    <a:pt x="10824016" y="4629511"/>
                  </a:lnTo>
                  <a:lnTo>
                    <a:pt x="10794803" y="4663943"/>
                  </a:lnTo>
                  <a:lnTo>
                    <a:pt x="10763773" y="4696714"/>
                  </a:lnTo>
                  <a:lnTo>
                    <a:pt x="10731004" y="4727745"/>
                  </a:lnTo>
                  <a:lnTo>
                    <a:pt x="10696573" y="4756959"/>
                  </a:lnTo>
                  <a:lnTo>
                    <a:pt x="10660557" y="4784280"/>
                  </a:lnTo>
                  <a:lnTo>
                    <a:pt x="10623034" y="4809631"/>
                  </a:lnTo>
                  <a:lnTo>
                    <a:pt x="10584079" y="4832933"/>
                  </a:lnTo>
                  <a:lnTo>
                    <a:pt x="10543771" y="4854110"/>
                  </a:lnTo>
                  <a:lnTo>
                    <a:pt x="10502187" y="4873085"/>
                  </a:lnTo>
                  <a:lnTo>
                    <a:pt x="10459404" y="4889780"/>
                  </a:lnTo>
                  <a:lnTo>
                    <a:pt x="10415499" y="4904119"/>
                  </a:lnTo>
                  <a:lnTo>
                    <a:pt x="10370548" y="4916024"/>
                  </a:lnTo>
                  <a:lnTo>
                    <a:pt x="10324631" y="4925417"/>
                  </a:lnTo>
                  <a:lnTo>
                    <a:pt x="10277823" y="4932223"/>
                  </a:lnTo>
                  <a:lnTo>
                    <a:pt x="10230201" y="4936362"/>
                  </a:lnTo>
                  <a:lnTo>
                    <a:pt x="10181844" y="4937760"/>
                  </a:lnTo>
                  <a:lnTo>
                    <a:pt x="822960" y="4937760"/>
                  </a:lnTo>
                  <a:lnTo>
                    <a:pt x="774606" y="4936362"/>
                  </a:lnTo>
                  <a:lnTo>
                    <a:pt x="726987" y="4932223"/>
                  </a:lnTo>
                  <a:lnTo>
                    <a:pt x="680182" y="4925417"/>
                  </a:lnTo>
                  <a:lnTo>
                    <a:pt x="634267" y="4916024"/>
                  </a:lnTo>
                  <a:lnTo>
                    <a:pt x="589318" y="4904119"/>
                  </a:lnTo>
                  <a:lnTo>
                    <a:pt x="545414" y="4889780"/>
                  </a:lnTo>
                  <a:lnTo>
                    <a:pt x="502632" y="4873085"/>
                  </a:lnTo>
                  <a:lnTo>
                    <a:pt x="461048" y="4854110"/>
                  </a:lnTo>
                  <a:lnTo>
                    <a:pt x="420741" y="4832933"/>
                  </a:lnTo>
                  <a:lnTo>
                    <a:pt x="381786" y="4809631"/>
                  </a:lnTo>
                  <a:lnTo>
                    <a:pt x="344262" y="4784280"/>
                  </a:lnTo>
                  <a:lnTo>
                    <a:pt x="308246" y="4756959"/>
                  </a:lnTo>
                  <a:lnTo>
                    <a:pt x="273814" y="4727745"/>
                  </a:lnTo>
                  <a:lnTo>
                    <a:pt x="241044" y="4696714"/>
                  </a:lnTo>
                  <a:lnTo>
                    <a:pt x="210013" y="4663943"/>
                  </a:lnTo>
                  <a:lnTo>
                    <a:pt x="180799" y="4629511"/>
                  </a:lnTo>
                  <a:lnTo>
                    <a:pt x="153478" y="4593494"/>
                  </a:lnTo>
                  <a:lnTo>
                    <a:pt x="128128" y="4555969"/>
                  </a:lnTo>
                  <a:lnTo>
                    <a:pt x="104826" y="4517014"/>
                  </a:lnTo>
                  <a:lnTo>
                    <a:pt x="83648" y="4476706"/>
                  </a:lnTo>
                  <a:lnTo>
                    <a:pt x="64674" y="4435122"/>
                  </a:lnTo>
                  <a:lnTo>
                    <a:pt x="47978" y="4392339"/>
                  </a:lnTo>
                  <a:lnTo>
                    <a:pt x="33640" y="4348434"/>
                  </a:lnTo>
                  <a:lnTo>
                    <a:pt x="21735" y="4303484"/>
                  </a:lnTo>
                  <a:lnTo>
                    <a:pt x="12342" y="4257568"/>
                  </a:lnTo>
                  <a:lnTo>
                    <a:pt x="5536" y="4210761"/>
                  </a:lnTo>
                  <a:lnTo>
                    <a:pt x="1397" y="4163142"/>
                  </a:lnTo>
                  <a:lnTo>
                    <a:pt x="0" y="4114787"/>
                  </a:lnTo>
                  <a:lnTo>
                    <a:pt x="0" y="822960"/>
                  </a:lnTo>
                  <a:close/>
                </a:path>
              </a:pathLst>
            </a:custGeom>
            <a:ln w="13716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5420" y="623771"/>
            <a:ext cx="5495925" cy="14382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/>
                <a:cs typeface="Calibri"/>
              </a:rPr>
              <a:t>IDEATION</a:t>
            </a:r>
            <a:endParaRPr sz="1800">
              <a:latin typeface="Calibri"/>
              <a:cs typeface="Calibri"/>
            </a:endParaRPr>
          </a:p>
          <a:p>
            <a:pPr marL="7874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Ideation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Recap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—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Options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Explored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Selected</a:t>
            </a:r>
            <a:r>
              <a:rPr sz="1800" spc="-20" dirty="0">
                <a:latin typeface="Calibri"/>
                <a:cs typeface="Calibri"/>
              </a:rPr>
              <a:t> Idea</a:t>
            </a:r>
            <a:endParaRPr sz="1800">
              <a:latin typeface="Calibri"/>
              <a:cs typeface="Calibri"/>
            </a:endParaRPr>
          </a:p>
          <a:p>
            <a:pPr marL="78740">
              <a:lnSpc>
                <a:spcPct val="100000"/>
              </a:lnSpc>
              <a:spcBef>
                <a:spcPts val="280"/>
              </a:spcBef>
            </a:pP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Ideation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stage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(ideas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explored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PoC).</a:t>
            </a:r>
            <a:endParaRPr sz="1800">
              <a:latin typeface="Calibri"/>
              <a:cs typeface="Calibri"/>
            </a:endParaRPr>
          </a:p>
          <a:p>
            <a:pPr marL="334645">
              <a:lnSpc>
                <a:spcPct val="100000"/>
              </a:lnSpc>
              <a:spcBef>
                <a:spcPts val="1914"/>
              </a:spcBef>
            </a:pPr>
            <a:r>
              <a:rPr sz="1800" dirty="0">
                <a:latin typeface="Calibri"/>
                <a:cs typeface="Calibri"/>
              </a:rPr>
              <a:t>Fill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(keep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short)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7945" y="2636265"/>
            <a:ext cx="1798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Ideas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explored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(≥3)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34790" y="2169414"/>
            <a:ext cx="7200900" cy="942340"/>
          </a:xfrm>
          <a:custGeom>
            <a:avLst/>
            <a:gdLst/>
            <a:ahLst/>
            <a:cxnLst/>
            <a:rect l="l" t="t" r="r" b="b"/>
            <a:pathLst>
              <a:path w="7200900" h="942339">
                <a:moveTo>
                  <a:pt x="7200900" y="0"/>
                </a:moveTo>
                <a:lnTo>
                  <a:pt x="0" y="0"/>
                </a:lnTo>
                <a:lnTo>
                  <a:pt x="0" y="941831"/>
                </a:lnTo>
                <a:lnTo>
                  <a:pt x="7200900" y="941831"/>
                </a:lnTo>
                <a:lnTo>
                  <a:pt x="7200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34790" y="2169414"/>
            <a:ext cx="7200900" cy="942340"/>
          </a:xfrm>
          <a:prstGeom prst="rect">
            <a:avLst/>
          </a:prstGeom>
          <a:ln w="13715">
            <a:solidFill>
              <a:srgbClr val="E4E7EB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98755" marR="3131820">
              <a:lnSpc>
                <a:spcPct val="100000"/>
              </a:lnSpc>
              <a:spcBef>
                <a:spcPts val="70"/>
              </a:spcBef>
            </a:pPr>
            <a:r>
              <a:rPr sz="1800" spc="-10" dirty="0">
                <a:latin typeface="Calibri"/>
                <a:cs typeface="Calibri"/>
              </a:rPr>
              <a:t>Idea1-SecureDonor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AgreementPlatform </a:t>
            </a:r>
            <a:r>
              <a:rPr sz="1800" spc="-20" dirty="0">
                <a:latin typeface="Calibri"/>
                <a:cs typeface="Calibri"/>
              </a:rPr>
              <a:t>Idea2-</a:t>
            </a:r>
            <a:r>
              <a:rPr sz="1800" dirty="0">
                <a:latin typeface="Calibri"/>
                <a:cs typeface="Calibri"/>
              </a:rPr>
              <a:t>SmartBlood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Match&amp;AlertSystem Idea3-Decentralized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BloodSupplyNetwork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7945" y="3260852"/>
            <a:ext cx="2626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Selected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(taken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PoC)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27804" y="3703192"/>
            <a:ext cx="7183120" cy="1746885"/>
            <a:chOff x="4027804" y="3703192"/>
            <a:chExt cx="7183120" cy="1746885"/>
          </a:xfrm>
        </p:grpSpPr>
        <p:sp>
          <p:nvSpPr>
            <p:cNvPr id="21" name="object 21"/>
            <p:cNvSpPr/>
            <p:nvPr/>
          </p:nvSpPr>
          <p:spPr>
            <a:xfrm>
              <a:off x="4034789" y="3710177"/>
              <a:ext cx="7169150" cy="1732914"/>
            </a:xfrm>
            <a:custGeom>
              <a:avLst/>
              <a:gdLst/>
              <a:ahLst/>
              <a:cxnLst/>
              <a:rect l="l" t="t" r="r" b="b"/>
              <a:pathLst>
                <a:path w="7169150" h="1732914">
                  <a:moveTo>
                    <a:pt x="7168896" y="0"/>
                  </a:moveTo>
                  <a:lnTo>
                    <a:pt x="0" y="0"/>
                  </a:lnTo>
                  <a:lnTo>
                    <a:pt x="0" y="1732788"/>
                  </a:lnTo>
                  <a:lnTo>
                    <a:pt x="7168896" y="1732788"/>
                  </a:lnTo>
                  <a:lnTo>
                    <a:pt x="71688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34789" y="3710177"/>
              <a:ext cx="7169150" cy="1732914"/>
            </a:xfrm>
            <a:custGeom>
              <a:avLst/>
              <a:gdLst/>
              <a:ahLst/>
              <a:cxnLst/>
              <a:rect l="l" t="t" r="r" b="b"/>
              <a:pathLst>
                <a:path w="7169150" h="1732914">
                  <a:moveTo>
                    <a:pt x="0" y="1732788"/>
                  </a:moveTo>
                  <a:lnTo>
                    <a:pt x="7168896" y="1732788"/>
                  </a:lnTo>
                  <a:lnTo>
                    <a:pt x="7168896" y="0"/>
                  </a:lnTo>
                  <a:lnTo>
                    <a:pt x="0" y="0"/>
                  </a:lnTo>
                  <a:lnTo>
                    <a:pt x="0" y="1732788"/>
                  </a:lnTo>
                  <a:close/>
                </a:path>
                <a:path w="7169150" h="1732914">
                  <a:moveTo>
                    <a:pt x="0" y="1732788"/>
                  </a:moveTo>
                  <a:lnTo>
                    <a:pt x="7168896" y="1732788"/>
                  </a:lnTo>
                  <a:lnTo>
                    <a:pt x="7168896" y="9144"/>
                  </a:lnTo>
                  <a:lnTo>
                    <a:pt x="0" y="9144"/>
                  </a:lnTo>
                  <a:lnTo>
                    <a:pt x="0" y="1732788"/>
                  </a:lnTo>
                  <a:close/>
                </a:path>
              </a:pathLst>
            </a:custGeom>
            <a:ln w="13716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37945" y="4461764"/>
            <a:ext cx="2856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Why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(Design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Thinking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lenses)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41647" y="3330905"/>
            <a:ext cx="7155180" cy="211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indent="-3378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19734" algn="l"/>
              </a:tabLst>
            </a:pPr>
            <a:r>
              <a:rPr sz="1800" dirty="0">
                <a:latin typeface="Calibri"/>
                <a:cs typeface="Calibri"/>
              </a:rPr>
              <a:t>Secure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Donor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Agreement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Platform</a:t>
            </a:r>
            <a:endParaRPr sz="1800">
              <a:latin typeface="Calibri"/>
              <a:cs typeface="Calibri"/>
            </a:endParaRPr>
          </a:p>
          <a:p>
            <a:pPr marL="369570" indent="-287655">
              <a:lnSpc>
                <a:spcPct val="100000"/>
              </a:lnSpc>
              <a:spcBef>
                <a:spcPts val="1355"/>
              </a:spcBef>
              <a:buFont typeface="Wingdings"/>
              <a:buChar char=""/>
              <a:tabLst>
                <a:tab pos="369570" algn="l"/>
              </a:tabLst>
            </a:pPr>
            <a:r>
              <a:rPr sz="1800" dirty="0">
                <a:latin typeface="Calibri"/>
                <a:cs typeface="Calibri"/>
              </a:rPr>
              <a:t>Highly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desirable: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ensures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safe,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verified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donor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hospitals</a:t>
            </a:r>
            <a:r>
              <a:rPr sz="1800" spc="-25" dirty="0">
                <a:latin typeface="Calibri"/>
                <a:cs typeface="Calibri"/>
              </a:rPr>
              <a:t> and</a:t>
            </a:r>
            <a:endParaRPr sz="1800">
              <a:latin typeface="Calibri"/>
              <a:cs typeface="Calibri"/>
            </a:endParaRPr>
          </a:p>
          <a:p>
            <a:pPr marL="36957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patients.</a:t>
            </a:r>
            <a:endParaRPr sz="1800">
              <a:latin typeface="Calibri"/>
              <a:cs typeface="Calibri"/>
            </a:endParaRPr>
          </a:p>
          <a:p>
            <a:pPr marL="36957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Feasible: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built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technologies</a:t>
            </a:r>
            <a:r>
              <a:rPr sz="1800" dirty="0">
                <a:latin typeface="Calibri"/>
                <a:cs typeface="Calibri"/>
              </a:rPr>
              <a:t> with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  <a:p>
            <a:pPr marL="36957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expertise.</a:t>
            </a:r>
            <a:endParaRPr sz="1800">
              <a:latin typeface="Calibri"/>
              <a:cs typeface="Calibri"/>
            </a:endParaRPr>
          </a:p>
          <a:p>
            <a:pPr marL="419734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Viable: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scalable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sustainable,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improving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trust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donors</a:t>
            </a:r>
            <a:endParaRPr sz="1800">
              <a:latin typeface="Calibri"/>
              <a:cs typeface="Calibri"/>
            </a:endParaRPr>
          </a:p>
          <a:p>
            <a:pPr marL="36957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hospitals.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7945" y="5673953"/>
            <a:ext cx="28149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MoSCoW: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Must-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PoC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027932" y="5641847"/>
            <a:ext cx="7073265" cy="749935"/>
            <a:chOff x="4027932" y="5641847"/>
            <a:chExt cx="7073265" cy="749935"/>
          </a:xfrm>
        </p:grpSpPr>
        <p:sp>
          <p:nvSpPr>
            <p:cNvPr id="27" name="object 27"/>
            <p:cNvSpPr/>
            <p:nvPr/>
          </p:nvSpPr>
          <p:spPr>
            <a:xfrm>
              <a:off x="4034790" y="5648705"/>
              <a:ext cx="7059295" cy="736600"/>
            </a:xfrm>
            <a:custGeom>
              <a:avLst/>
              <a:gdLst/>
              <a:ahLst/>
              <a:cxnLst/>
              <a:rect l="l" t="t" r="r" b="b"/>
              <a:pathLst>
                <a:path w="7059295" h="736600">
                  <a:moveTo>
                    <a:pt x="7059167" y="0"/>
                  </a:moveTo>
                  <a:lnTo>
                    <a:pt x="0" y="0"/>
                  </a:lnTo>
                  <a:lnTo>
                    <a:pt x="0" y="736092"/>
                  </a:lnTo>
                  <a:lnTo>
                    <a:pt x="7059167" y="736092"/>
                  </a:lnTo>
                  <a:lnTo>
                    <a:pt x="70591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34790" y="5648705"/>
              <a:ext cx="7059295" cy="736600"/>
            </a:xfrm>
            <a:custGeom>
              <a:avLst/>
              <a:gdLst/>
              <a:ahLst/>
              <a:cxnLst/>
              <a:rect l="l" t="t" r="r" b="b"/>
              <a:pathLst>
                <a:path w="7059295" h="736600">
                  <a:moveTo>
                    <a:pt x="0" y="736092"/>
                  </a:moveTo>
                  <a:lnTo>
                    <a:pt x="7059167" y="736092"/>
                  </a:lnTo>
                  <a:lnTo>
                    <a:pt x="7059167" y="0"/>
                  </a:lnTo>
                  <a:lnTo>
                    <a:pt x="0" y="0"/>
                  </a:lnTo>
                  <a:lnTo>
                    <a:pt x="0" y="736092"/>
                  </a:lnTo>
                  <a:close/>
                </a:path>
              </a:pathLst>
            </a:custGeom>
            <a:ln w="13716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110990" y="5596839"/>
            <a:ext cx="70237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Must-Have(criticalforPoC)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•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Verified</a:t>
            </a:r>
            <a:r>
              <a:rPr sz="1800" spc="3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donor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registration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authentication.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10990" y="5871768"/>
            <a:ext cx="712215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6975" algn="l"/>
              </a:tabLst>
            </a:pPr>
            <a:r>
              <a:rPr sz="1800" spc="-25" dirty="0">
                <a:latin typeface="Calibri"/>
                <a:cs typeface="Calibri"/>
              </a:rPr>
              <a:t>Should-</a:t>
            </a:r>
            <a:r>
              <a:rPr sz="1800" spc="-10" dirty="0">
                <a:latin typeface="Calibri"/>
                <a:cs typeface="Calibri"/>
              </a:rPr>
              <a:t>Have(important)</a:t>
            </a:r>
            <a:r>
              <a:rPr sz="1800" dirty="0">
                <a:latin typeface="Calibri"/>
                <a:cs typeface="Calibri"/>
              </a:rPr>
              <a:t>	•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Blood type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compatibility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matching</a:t>
            </a:r>
            <a:r>
              <a:rPr sz="1800" spc="3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alerts.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Could-</a:t>
            </a:r>
            <a:r>
              <a:rPr sz="1800" spc="-10" dirty="0">
                <a:latin typeface="Calibri"/>
                <a:cs typeface="Calibri"/>
              </a:rPr>
              <a:t>Have(nicetoinclude)•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Integration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notifications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fordonors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1880" y="6509410"/>
            <a:ext cx="37147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SoI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Prototype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Stage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—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Submission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949178" y="6582257"/>
            <a:ext cx="31813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20" dirty="0">
                <a:latin typeface="Calibri"/>
                <a:cs typeface="Calibri"/>
              </a:rPr>
              <a:t>4/23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-4572"/>
            <a:ext cx="12207240" cy="581025"/>
            <a:chOff x="-4572" y="-4572"/>
            <a:chExt cx="12207240" cy="581025"/>
          </a:xfrm>
        </p:grpSpPr>
        <p:sp>
          <p:nvSpPr>
            <p:cNvPr id="3" name="object 3"/>
            <p:cNvSpPr/>
            <p:nvPr/>
          </p:nvSpPr>
          <p:spPr>
            <a:xfrm>
              <a:off x="148590" y="2286"/>
              <a:ext cx="12047220" cy="567055"/>
            </a:xfrm>
            <a:custGeom>
              <a:avLst/>
              <a:gdLst/>
              <a:ahLst/>
              <a:cxnLst/>
              <a:rect l="l" t="t" r="r" b="b"/>
              <a:pathLst>
                <a:path w="12047220" h="567055">
                  <a:moveTo>
                    <a:pt x="0" y="566928"/>
                  </a:moveTo>
                  <a:lnTo>
                    <a:pt x="12047219" y="566928"/>
                  </a:lnTo>
                  <a:lnTo>
                    <a:pt x="12047219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" y="2286"/>
              <a:ext cx="12193905" cy="567055"/>
            </a:xfrm>
            <a:custGeom>
              <a:avLst/>
              <a:gdLst/>
              <a:ahLst/>
              <a:cxnLst/>
              <a:rect l="l" t="t" r="r" b="b"/>
              <a:pathLst>
                <a:path w="12193905" h="567055">
                  <a:moveTo>
                    <a:pt x="0" y="566928"/>
                  </a:moveTo>
                  <a:lnTo>
                    <a:pt x="12193524" y="566928"/>
                  </a:lnTo>
                  <a:lnTo>
                    <a:pt x="1219352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3716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" y="2286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8"/>
                  </a:lnTo>
                  <a:lnTo>
                    <a:pt x="146304" y="566928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" y="2286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8"/>
                  </a:moveTo>
                  <a:lnTo>
                    <a:pt x="146304" y="566928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3716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787255" y="140918"/>
            <a:ext cx="17316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9787" y="653795"/>
            <a:ext cx="1934210" cy="306705"/>
            <a:chOff x="589787" y="653795"/>
            <a:chExt cx="1934210" cy="306705"/>
          </a:xfrm>
        </p:grpSpPr>
        <p:sp>
          <p:nvSpPr>
            <p:cNvPr id="9" name="object 9"/>
            <p:cNvSpPr/>
            <p:nvPr/>
          </p:nvSpPr>
          <p:spPr>
            <a:xfrm>
              <a:off x="596645" y="660653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40" y="243840"/>
                  </a:lnTo>
                  <a:lnTo>
                    <a:pt x="1920240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6645" y="660653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40" y="48768"/>
                  </a:lnTo>
                  <a:lnTo>
                    <a:pt x="1920240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3716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5420" y="692022"/>
            <a:ext cx="190309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150" b="1" spc="-25" dirty="0">
                <a:solidFill>
                  <a:srgbClr val="FFFFFF"/>
                </a:solidFill>
                <a:latin typeface="Calibri"/>
                <a:cs typeface="Calibri"/>
              </a:rPr>
              <a:t>POC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8210"/>
            <a:ext cx="66198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111727"/>
                </a:solidFill>
              </a:rPr>
              <a:t>PoC</a:t>
            </a:r>
            <a:r>
              <a:rPr sz="3200" spc="-5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Recap</a:t>
            </a:r>
            <a:r>
              <a:rPr sz="3200" spc="-4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—</a:t>
            </a:r>
            <a:r>
              <a:rPr sz="3200" spc="-7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What</a:t>
            </a:r>
            <a:r>
              <a:rPr sz="3200" spc="-8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We</a:t>
            </a:r>
            <a:r>
              <a:rPr sz="3200" spc="-5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Built</a:t>
            </a:r>
            <a:r>
              <a:rPr sz="3200" spc="-8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&amp;</a:t>
            </a:r>
            <a:r>
              <a:rPr sz="3200" spc="-50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Learned</a:t>
            </a:r>
            <a:endParaRPr sz="3200"/>
          </a:p>
        </p:txBody>
      </p:sp>
      <p:sp>
        <p:nvSpPr>
          <p:cNvPr id="17" name="object 17"/>
          <p:cNvSpPr txBox="1"/>
          <p:nvPr/>
        </p:nvSpPr>
        <p:spPr>
          <a:xfrm>
            <a:off x="671880" y="1457020"/>
            <a:ext cx="4691380" cy="821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Summarize</a:t>
            </a:r>
            <a:r>
              <a:rPr sz="1550" spc="1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PoC</a:t>
            </a:r>
            <a:r>
              <a:rPr sz="1550" spc="9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outcomes</a:t>
            </a:r>
            <a:r>
              <a:rPr sz="1550" spc="10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and</a:t>
            </a:r>
            <a:r>
              <a:rPr sz="1550" spc="6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gaps</a:t>
            </a:r>
            <a:r>
              <a:rPr sz="1550" spc="6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that drive</a:t>
            </a:r>
            <a:r>
              <a:rPr sz="1550" spc="7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4A5462"/>
                </a:solidFill>
                <a:latin typeface="Calibri"/>
                <a:cs typeface="Calibri"/>
              </a:rPr>
              <a:t>prototype.</a:t>
            </a:r>
            <a:endParaRPr sz="15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550" dirty="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sz="1550" b="1" dirty="0">
                <a:solidFill>
                  <a:srgbClr val="111727"/>
                </a:solidFill>
                <a:latin typeface="Calibri"/>
                <a:cs typeface="Calibri"/>
              </a:rPr>
              <a:t>PoC</a:t>
            </a:r>
            <a:r>
              <a:rPr sz="1550" b="1" spc="13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11727"/>
                </a:solidFill>
                <a:latin typeface="Calibri"/>
                <a:cs typeface="Calibri"/>
              </a:rPr>
              <a:t>summary</a:t>
            </a:r>
            <a:r>
              <a:rPr sz="1550" b="1" spc="7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111727"/>
                </a:solidFill>
                <a:latin typeface="Calibri"/>
                <a:cs typeface="Calibri"/>
              </a:rPr>
              <a:t>(fill)</a:t>
            </a:r>
            <a:endParaRPr sz="155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7945" y="2678937"/>
            <a:ext cx="6356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PoC</a:t>
            </a:r>
            <a:r>
              <a:rPr sz="1300" b="1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built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7945" y="3245942"/>
            <a:ext cx="6769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PoC</a:t>
            </a:r>
            <a:r>
              <a:rPr sz="1300" b="1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focus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34788" y="3245942"/>
            <a:ext cx="7169149" cy="421614"/>
          </a:xfrm>
          <a:custGeom>
            <a:avLst/>
            <a:gdLst/>
            <a:ahLst/>
            <a:cxnLst/>
            <a:rect l="l" t="t" r="r" b="b"/>
            <a:pathLst>
              <a:path w="7169150" h="457200">
                <a:moveTo>
                  <a:pt x="0" y="457200"/>
                </a:moveTo>
                <a:lnTo>
                  <a:pt x="7168896" y="457200"/>
                </a:lnTo>
                <a:lnTo>
                  <a:pt x="7168896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13716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r>
              <a:rPr lang="en-US" sz="1300" dirty="0"/>
              <a:t>Our main goal was to prove that the core technical pieces actually work — secure authentication, trusted donor data, and accurate, real-time donor matching</a:t>
            </a:r>
            <a:endParaRPr sz="1300" dirty="0"/>
          </a:p>
        </p:txBody>
      </p:sp>
      <p:sp>
        <p:nvSpPr>
          <p:cNvPr id="27" name="object 27"/>
          <p:cNvSpPr txBox="1"/>
          <p:nvPr/>
        </p:nvSpPr>
        <p:spPr>
          <a:xfrm>
            <a:off x="1037945" y="3813809"/>
            <a:ext cx="931544" cy="4251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1300" b="1" dirty="0">
              <a:solidFill>
                <a:srgbClr val="4A5462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PoC</a:t>
            </a:r>
            <a:r>
              <a:rPr sz="1300" b="1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evidence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039704" y="4005254"/>
            <a:ext cx="7169253" cy="567055"/>
          </a:xfrm>
          <a:custGeom>
            <a:avLst/>
            <a:gdLst/>
            <a:ahLst/>
            <a:cxnLst/>
            <a:rect l="l" t="t" r="r" b="b"/>
            <a:pathLst>
              <a:path w="7169150" h="741045">
                <a:moveTo>
                  <a:pt x="0" y="740664"/>
                </a:moveTo>
                <a:lnTo>
                  <a:pt x="7168896" y="740664"/>
                </a:lnTo>
                <a:lnTo>
                  <a:pt x="7168896" y="0"/>
                </a:lnTo>
                <a:lnTo>
                  <a:pt x="0" y="0"/>
                </a:lnTo>
                <a:lnTo>
                  <a:pt x="0" y="740664"/>
                </a:lnTo>
                <a:close/>
              </a:path>
            </a:pathLst>
          </a:custGeom>
          <a:ln w="13716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r>
              <a:rPr lang="en-US" sz="1300" dirty="0"/>
              <a:t>During testing, the system consistently authenticated users, returned correct donor matches, and updated donor availability in real time, which shows the backend is working as expected.</a:t>
            </a:r>
            <a:endParaRPr sz="1300" dirty="0"/>
          </a:p>
        </p:txBody>
      </p:sp>
      <p:sp>
        <p:nvSpPr>
          <p:cNvPr id="34" name="object 34"/>
          <p:cNvSpPr txBox="1"/>
          <p:nvPr/>
        </p:nvSpPr>
        <p:spPr>
          <a:xfrm>
            <a:off x="1037945" y="4380738"/>
            <a:ext cx="617220" cy="637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1300" b="1" dirty="0">
              <a:solidFill>
                <a:srgbClr val="4A5462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1300" b="1" dirty="0">
              <a:solidFill>
                <a:srgbClr val="4A5462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Key</a:t>
            </a:r>
            <a:r>
              <a:rPr sz="1300" b="1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4A5462"/>
                </a:solidFill>
                <a:latin typeface="Calibri"/>
                <a:cs typeface="Calibri"/>
              </a:rPr>
              <a:t>gaps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63978" y="4913066"/>
            <a:ext cx="7090077" cy="423193"/>
          </a:xfrm>
          <a:prstGeom prst="rect">
            <a:avLst/>
          </a:prstGeom>
          <a:ln w="13715">
            <a:solidFill>
              <a:srgbClr val="E4E7EB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80"/>
              </a:spcBef>
            </a:pPr>
            <a:r>
              <a:rPr lang="en-US" sz="1300" dirty="0">
                <a:latin typeface="Arial MT"/>
                <a:cs typeface="Arial MT"/>
              </a:rPr>
              <a:t>We still need to add notifications, improve location accuracy for matching, and polish the hospital UI so the experience feels smoother.</a:t>
            </a:r>
            <a:endParaRPr sz="1300" dirty="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-4572" y="6560819"/>
            <a:ext cx="12207240" cy="306705"/>
            <a:chOff x="-4572" y="6560819"/>
            <a:chExt cx="12207240" cy="306705"/>
          </a:xfrm>
        </p:grpSpPr>
        <p:sp>
          <p:nvSpPr>
            <p:cNvPr id="39" name="object 39"/>
            <p:cNvSpPr/>
            <p:nvPr/>
          </p:nvSpPr>
          <p:spPr>
            <a:xfrm>
              <a:off x="2286" y="6567677"/>
              <a:ext cx="12193905" cy="292735"/>
            </a:xfrm>
            <a:custGeom>
              <a:avLst/>
              <a:gdLst/>
              <a:ahLst/>
              <a:cxnLst/>
              <a:rect l="l" t="t" r="r" b="b"/>
              <a:pathLst>
                <a:path w="12193905" h="292734">
                  <a:moveTo>
                    <a:pt x="12193524" y="0"/>
                  </a:moveTo>
                  <a:lnTo>
                    <a:pt x="0" y="0"/>
                  </a:lnTo>
                  <a:lnTo>
                    <a:pt x="0" y="292607"/>
                  </a:lnTo>
                  <a:lnTo>
                    <a:pt x="12193524" y="292607"/>
                  </a:lnTo>
                  <a:lnTo>
                    <a:pt x="12193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286" y="6567677"/>
              <a:ext cx="12193905" cy="292735"/>
            </a:xfrm>
            <a:custGeom>
              <a:avLst/>
              <a:gdLst/>
              <a:ahLst/>
              <a:cxnLst/>
              <a:rect l="l" t="t" r="r" b="b"/>
              <a:pathLst>
                <a:path w="12193905" h="292734">
                  <a:moveTo>
                    <a:pt x="0" y="292607"/>
                  </a:moveTo>
                  <a:lnTo>
                    <a:pt x="12193524" y="292607"/>
                  </a:lnTo>
                  <a:lnTo>
                    <a:pt x="12193524" y="0"/>
                  </a:lnTo>
                  <a:lnTo>
                    <a:pt x="0" y="0"/>
                  </a:lnTo>
                  <a:lnTo>
                    <a:pt x="0" y="292607"/>
                  </a:lnTo>
                  <a:close/>
                </a:path>
              </a:pathLst>
            </a:custGeom>
            <a:ln w="13716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662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-5" dirty="0"/>
              <a:t> </a:t>
            </a:r>
            <a:r>
              <a:rPr dirty="0"/>
              <a:t>Prototype</a:t>
            </a:r>
            <a:r>
              <a:rPr spc="-35" dirty="0"/>
              <a:t> </a:t>
            </a:r>
            <a:r>
              <a:rPr dirty="0"/>
              <a:t>Stage</a:t>
            </a:r>
            <a:r>
              <a:rPr spc="10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spc="-10" dirty="0"/>
              <a:t>Submission</a:t>
            </a:r>
            <a:r>
              <a:rPr spc="-70" dirty="0"/>
              <a:t> </a:t>
            </a:r>
            <a:r>
              <a:rPr spc="-20" dirty="0"/>
              <a:t>Deck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0180" rIns="0" bIns="0" rtlCol="0">
            <a:spAutoFit/>
          </a:bodyPr>
          <a:lstStyle/>
          <a:p>
            <a:pPr marL="257175">
              <a:lnSpc>
                <a:spcPts val="1155"/>
              </a:lnSpc>
            </a:pPr>
            <a:fld id="{81D60167-4931-47E6-BA6A-407CBD079E47}" type="slidenum">
              <a:rPr spc="-20" dirty="0"/>
              <a:t>5</a:t>
            </a:fld>
            <a:r>
              <a:rPr spc="-20" dirty="0"/>
              <a:t>/23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FC587C-9F7C-156F-A9DD-A566B954B4F6}"/>
              </a:ext>
            </a:extLst>
          </p:cNvPr>
          <p:cNvSpPr txBox="1"/>
          <p:nvPr/>
        </p:nvSpPr>
        <p:spPr>
          <a:xfrm>
            <a:off x="4034787" y="2624044"/>
            <a:ext cx="716914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We built a working prototype that lets hospitals securely log in, search for verified donors, and check their real-time availability and eligibility</a:t>
            </a:r>
            <a:r>
              <a:rPr lang="en-US" sz="1000" dirty="0"/>
              <a:t>.</a:t>
            </a:r>
            <a:endParaRPr lang="en-IN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-4572"/>
            <a:ext cx="12207240" cy="581025"/>
            <a:chOff x="-4572" y="-4572"/>
            <a:chExt cx="12207240" cy="581025"/>
          </a:xfrm>
        </p:grpSpPr>
        <p:sp>
          <p:nvSpPr>
            <p:cNvPr id="3" name="object 3"/>
            <p:cNvSpPr/>
            <p:nvPr/>
          </p:nvSpPr>
          <p:spPr>
            <a:xfrm>
              <a:off x="148590" y="2286"/>
              <a:ext cx="12047220" cy="567055"/>
            </a:xfrm>
            <a:custGeom>
              <a:avLst/>
              <a:gdLst/>
              <a:ahLst/>
              <a:cxnLst/>
              <a:rect l="l" t="t" r="r" b="b"/>
              <a:pathLst>
                <a:path w="12047220" h="567055">
                  <a:moveTo>
                    <a:pt x="0" y="566928"/>
                  </a:moveTo>
                  <a:lnTo>
                    <a:pt x="12047219" y="566928"/>
                  </a:lnTo>
                  <a:lnTo>
                    <a:pt x="12047219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" y="2286"/>
              <a:ext cx="12193905" cy="567055"/>
            </a:xfrm>
            <a:custGeom>
              <a:avLst/>
              <a:gdLst/>
              <a:ahLst/>
              <a:cxnLst/>
              <a:rect l="l" t="t" r="r" b="b"/>
              <a:pathLst>
                <a:path w="12193905" h="567055">
                  <a:moveTo>
                    <a:pt x="0" y="566928"/>
                  </a:moveTo>
                  <a:lnTo>
                    <a:pt x="12193524" y="566928"/>
                  </a:lnTo>
                  <a:lnTo>
                    <a:pt x="1219352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3716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" y="2286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8"/>
                  </a:lnTo>
                  <a:lnTo>
                    <a:pt x="146304" y="566928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" y="2286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8"/>
                  </a:moveTo>
                  <a:lnTo>
                    <a:pt x="146304" y="566928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3716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787255" y="140918"/>
            <a:ext cx="17316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9787" y="653795"/>
            <a:ext cx="1934210" cy="306705"/>
            <a:chOff x="589787" y="653795"/>
            <a:chExt cx="1934210" cy="306705"/>
          </a:xfrm>
        </p:grpSpPr>
        <p:sp>
          <p:nvSpPr>
            <p:cNvPr id="9" name="object 9"/>
            <p:cNvSpPr/>
            <p:nvPr/>
          </p:nvSpPr>
          <p:spPr>
            <a:xfrm>
              <a:off x="596645" y="660653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40" y="243840"/>
                  </a:lnTo>
                  <a:lnTo>
                    <a:pt x="1920240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6645" y="660653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40" y="48768"/>
                  </a:lnTo>
                  <a:lnTo>
                    <a:pt x="1920240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3716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5420" y="692022"/>
            <a:ext cx="190309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150" b="1" spc="-2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8210"/>
            <a:ext cx="66592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111727"/>
                </a:solidFill>
              </a:rPr>
              <a:t>Prototype</a:t>
            </a:r>
            <a:r>
              <a:rPr sz="3200" spc="-8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Objectives</a:t>
            </a:r>
            <a:r>
              <a:rPr sz="3200" spc="-11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&amp;</a:t>
            </a:r>
            <a:r>
              <a:rPr sz="3200" spc="-4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Success</a:t>
            </a:r>
            <a:r>
              <a:rPr sz="3200" spc="-80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Criteria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671880" y="1457020"/>
            <a:ext cx="430212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Define</a:t>
            </a:r>
            <a:r>
              <a:rPr sz="1550" spc="7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what</a:t>
            </a:r>
            <a:r>
              <a:rPr sz="1550" spc="7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“success”</a:t>
            </a:r>
            <a:r>
              <a:rPr sz="1550" spc="1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means</a:t>
            </a:r>
            <a:r>
              <a:rPr sz="1550" spc="10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and</a:t>
            </a:r>
            <a:r>
              <a:rPr sz="1550" spc="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how</a:t>
            </a:r>
            <a:r>
              <a:rPr sz="1550" spc="9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you</a:t>
            </a:r>
            <a:r>
              <a:rPr sz="1550" spc="10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4A5462"/>
                </a:solidFill>
                <a:latin typeface="Calibri"/>
                <a:cs typeface="Calibri"/>
              </a:rPr>
              <a:t>will</a:t>
            </a:r>
            <a:r>
              <a:rPr sz="1550" spc="7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4A5462"/>
                </a:solidFill>
                <a:latin typeface="Calibri"/>
                <a:cs typeface="Calibri"/>
              </a:rPr>
              <a:t>test.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96645" y="1915667"/>
            <a:ext cx="10979785" cy="471170"/>
            <a:chOff x="596645" y="1915667"/>
            <a:chExt cx="10979785" cy="471170"/>
          </a:xfrm>
        </p:grpSpPr>
        <p:sp>
          <p:nvSpPr>
            <p:cNvPr id="15" name="object 15"/>
            <p:cNvSpPr/>
            <p:nvPr/>
          </p:nvSpPr>
          <p:spPr>
            <a:xfrm>
              <a:off x="596646" y="1922525"/>
              <a:ext cx="5377180" cy="457200"/>
            </a:xfrm>
            <a:custGeom>
              <a:avLst/>
              <a:gdLst/>
              <a:ahLst/>
              <a:cxnLst/>
              <a:rect l="l" t="t" r="r" b="b"/>
              <a:pathLst>
                <a:path w="5377180" h="457200">
                  <a:moveTo>
                    <a:pt x="5376672" y="0"/>
                  </a:moveTo>
                  <a:lnTo>
                    <a:pt x="3621024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3621024" y="457200"/>
                  </a:lnTo>
                  <a:lnTo>
                    <a:pt x="5376672" y="457200"/>
                  </a:lnTo>
                  <a:lnTo>
                    <a:pt x="5376672" y="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17669" y="1922525"/>
              <a:ext cx="1755775" cy="457200"/>
            </a:xfrm>
            <a:custGeom>
              <a:avLst/>
              <a:gdLst/>
              <a:ahLst/>
              <a:cxnLst/>
              <a:rect l="l" t="t" r="r" b="b"/>
              <a:pathLst>
                <a:path w="1755775" h="457200">
                  <a:moveTo>
                    <a:pt x="0" y="457200"/>
                  </a:moveTo>
                  <a:lnTo>
                    <a:pt x="1755648" y="457200"/>
                  </a:lnTo>
                  <a:lnTo>
                    <a:pt x="1755648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73317" y="1922525"/>
              <a:ext cx="1975485" cy="457200"/>
            </a:xfrm>
            <a:custGeom>
              <a:avLst/>
              <a:gdLst/>
              <a:ahLst/>
              <a:cxnLst/>
              <a:rect l="l" t="t" r="r" b="b"/>
              <a:pathLst>
                <a:path w="1975484" h="457200">
                  <a:moveTo>
                    <a:pt x="1975104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975104" y="457200"/>
                  </a:lnTo>
                  <a:lnTo>
                    <a:pt x="1975104" y="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73317" y="1922525"/>
              <a:ext cx="1975485" cy="457200"/>
            </a:xfrm>
            <a:custGeom>
              <a:avLst/>
              <a:gdLst/>
              <a:ahLst/>
              <a:cxnLst/>
              <a:rect l="l" t="t" r="r" b="b"/>
              <a:pathLst>
                <a:path w="1975484" h="457200">
                  <a:moveTo>
                    <a:pt x="0" y="457200"/>
                  </a:moveTo>
                  <a:lnTo>
                    <a:pt x="1975104" y="457200"/>
                  </a:lnTo>
                  <a:lnTo>
                    <a:pt x="197510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48422" y="1922525"/>
              <a:ext cx="3621404" cy="457200"/>
            </a:xfrm>
            <a:custGeom>
              <a:avLst/>
              <a:gdLst/>
              <a:ahLst/>
              <a:cxnLst/>
              <a:rect l="l" t="t" r="r" b="b"/>
              <a:pathLst>
                <a:path w="3621404" h="457200">
                  <a:moveTo>
                    <a:pt x="3621024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621024" y="457200"/>
                  </a:lnTo>
                  <a:lnTo>
                    <a:pt x="3621024" y="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48422" y="1922525"/>
              <a:ext cx="3621404" cy="457200"/>
            </a:xfrm>
            <a:custGeom>
              <a:avLst/>
              <a:gdLst/>
              <a:ahLst/>
              <a:cxnLst/>
              <a:rect l="l" t="t" r="r" b="b"/>
              <a:pathLst>
                <a:path w="3621404" h="457200">
                  <a:moveTo>
                    <a:pt x="0" y="457200"/>
                  </a:moveTo>
                  <a:lnTo>
                    <a:pt x="3621024" y="457200"/>
                  </a:lnTo>
                  <a:lnTo>
                    <a:pt x="362102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63107" y="3264450"/>
            <a:ext cx="1694814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5"/>
              </a:lnSpc>
            </a:pPr>
            <a:r>
              <a:rPr sz="1800" spc="-10" dirty="0">
                <a:latin typeface="Arial MT"/>
                <a:cs typeface="Arial MT"/>
              </a:rPr>
              <a:t>registration/login</a:t>
            </a:r>
            <a:endParaRPr sz="1800">
              <a:latin typeface="Arial MT"/>
              <a:cs typeface="Arial MT"/>
            </a:endParaRPr>
          </a:p>
          <a:p>
            <a:pPr>
              <a:lnSpc>
                <a:spcPts val="2125"/>
              </a:lnSpc>
            </a:pP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entry.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63107" y="4051745"/>
            <a:ext cx="44767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spc="-20" dirty="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63107" y="4838764"/>
            <a:ext cx="1462405" cy="79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b="1" dirty="0">
                <a:latin typeface="Arial"/>
                <a:cs typeface="Arial"/>
              </a:rPr>
              <a:t>seconds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  <a:p>
            <a:pPr>
              <a:lnSpc>
                <a:spcPts val="2125"/>
              </a:lnSpc>
            </a:pPr>
            <a:r>
              <a:rPr sz="1800" dirty="0">
                <a:latin typeface="Arial MT"/>
                <a:cs typeface="Arial MT"/>
              </a:rPr>
              <a:t>donor</a:t>
            </a:r>
            <a:r>
              <a:rPr sz="1800" spc="-10" dirty="0">
                <a:latin typeface="Arial MT"/>
                <a:cs typeface="Arial MT"/>
              </a:rPr>
              <a:t> toggling</a:t>
            </a:r>
            <a:endParaRPr sz="1800">
              <a:latin typeface="Arial MT"/>
              <a:cs typeface="Arial MT"/>
            </a:endParaRPr>
          </a:p>
          <a:p>
            <a:pPr>
              <a:lnSpc>
                <a:spcPts val="2125"/>
              </a:lnSpc>
            </a:pPr>
            <a:r>
              <a:rPr sz="1800" dirty="0">
                <a:latin typeface="Arial MT"/>
                <a:cs typeface="Arial MT"/>
              </a:rPr>
              <a:t>their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status.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89787" y="1915667"/>
          <a:ext cx="10971528" cy="45421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0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Prototype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objective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2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reduce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B w="1905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B w="1905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B w="1905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How</a:t>
                      </a: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(prototype)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B w="19050">
                      <a:solidFill>
                        <a:srgbClr val="E4E7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130">
                <a:tc>
                  <a:txBody>
                    <a:bodyPr/>
                    <a:lstStyle/>
                    <a:p>
                      <a:pPr marL="87630" marR="1504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we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successfully</a:t>
                      </a:r>
                      <a:r>
                        <a:rPr sz="18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implement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6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secure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donor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registration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87630">
                        <a:lnSpc>
                          <a:spcPts val="146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system?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150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88900">
                        <a:lnSpc>
                          <a:spcPts val="1515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Authentication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88900">
                        <a:lnSpc>
                          <a:spcPts val="1835"/>
                        </a:lnSpc>
                      </a:pPr>
                      <a:r>
                        <a:rPr sz="1800" spc="-30" dirty="0">
                          <a:latin typeface="Arial MT"/>
                          <a:cs typeface="Arial MT"/>
                        </a:rPr>
                        <a:t>Test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Pass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Rate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89535" marR="3994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100%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test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cases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pass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for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donor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5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Attempt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donor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registration</a:t>
                      </a:r>
                      <a:r>
                        <a:rPr sz="18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and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0805">
                        <a:lnSpc>
                          <a:spcPts val="1515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login</a:t>
                      </a:r>
                      <a:r>
                        <a:rPr sz="18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sample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user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0805">
                        <a:lnSpc>
                          <a:spcPts val="1835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accounts.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130"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18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hospitals</a:t>
                      </a:r>
                      <a:r>
                        <a:rPr sz="18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securely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access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donor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data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1505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Hospital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Login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88900">
                        <a:lnSpc>
                          <a:spcPts val="151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View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88900">
                        <a:lnSpc>
                          <a:spcPts val="1835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Success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Rate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 marR="12953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Hospitals</a:t>
                      </a:r>
                      <a:r>
                        <a:rPr sz="18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18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log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view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verified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donor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5748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Use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test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hospital</a:t>
                      </a:r>
                      <a:r>
                        <a:rPr sz="18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account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log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attempt</a:t>
                      </a:r>
                      <a:r>
                        <a:rPr sz="18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query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donor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data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860">
                <a:tc rowSpan="2">
                  <a:txBody>
                    <a:bodyPr/>
                    <a:lstStyle/>
                    <a:p>
                      <a:pPr marL="87630">
                        <a:lnSpc>
                          <a:spcPts val="2125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real-time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availability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status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87630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functional?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8900" marR="2387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Availability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Update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8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/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Accuracy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Donor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availability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updates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0805">
                        <a:lnSpc>
                          <a:spcPts val="151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difference</a:t>
                      </a:r>
                      <a:r>
                        <a:rPr sz="18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between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0805">
                        <a:lnSpc>
                          <a:spcPts val="1515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donor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hospital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0805">
                        <a:lnSpc>
                          <a:spcPts val="1835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dashboard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update.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6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91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within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6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E4E7EB"/>
                      </a:solidFill>
                      <a:prstDash val="solid"/>
                    </a:lnR>
                    <a:lnT w="19050">
                      <a:solidFill>
                        <a:srgbClr val="E4E7EB"/>
                      </a:solidFill>
                      <a:prstDash val="solid"/>
                    </a:lnT>
                    <a:lnB w="1905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671880" y="6264351"/>
            <a:ext cx="215646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Add</a:t>
            </a:r>
            <a:r>
              <a:rPr sz="1150" i="1" spc="6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3–5</a:t>
            </a:r>
            <a:r>
              <a:rPr sz="1150" i="1" spc="7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rows.</a:t>
            </a:r>
            <a:r>
              <a:rPr sz="1150" i="1" spc="9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Keep</a:t>
            </a:r>
            <a:r>
              <a:rPr sz="1150" i="1" spc="6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6B7180"/>
                </a:solidFill>
                <a:latin typeface="Calibri"/>
                <a:cs typeface="Calibri"/>
              </a:rPr>
              <a:t>it</a:t>
            </a:r>
            <a:r>
              <a:rPr sz="1150" i="1" spc="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50" i="1" spc="-10" dirty="0">
                <a:solidFill>
                  <a:srgbClr val="6B7180"/>
                </a:solidFill>
                <a:latin typeface="Calibri"/>
                <a:cs typeface="Calibri"/>
              </a:rPr>
              <a:t>measurable.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86" y="6567678"/>
            <a:ext cx="12193905" cy="292735"/>
          </a:xfrm>
          <a:custGeom>
            <a:avLst/>
            <a:gdLst/>
            <a:ahLst/>
            <a:cxnLst/>
            <a:rect l="l" t="t" r="r" b="b"/>
            <a:pathLst>
              <a:path w="12193905" h="292734">
                <a:moveTo>
                  <a:pt x="0" y="292607"/>
                </a:moveTo>
                <a:lnTo>
                  <a:pt x="12193524" y="292607"/>
                </a:lnTo>
                <a:lnTo>
                  <a:pt x="12193524" y="0"/>
                </a:lnTo>
                <a:lnTo>
                  <a:pt x="0" y="0"/>
                </a:lnTo>
                <a:lnTo>
                  <a:pt x="0" y="292607"/>
                </a:lnTo>
                <a:close/>
              </a:path>
            </a:pathLst>
          </a:custGeom>
          <a:ln w="13716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3662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-5" dirty="0"/>
              <a:t> </a:t>
            </a:r>
            <a:r>
              <a:rPr dirty="0"/>
              <a:t>Prototype</a:t>
            </a:r>
            <a:r>
              <a:rPr spc="-35" dirty="0"/>
              <a:t> </a:t>
            </a:r>
            <a:r>
              <a:rPr dirty="0"/>
              <a:t>Stage</a:t>
            </a:r>
            <a:r>
              <a:rPr spc="10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spc="-10" dirty="0"/>
              <a:t>Submission</a:t>
            </a:r>
            <a:r>
              <a:rPr spc="-70" dirty="0"/>
              <a:t> </a:t>
            </a:r>
            <a:r>
              <a:rPr spc="-20" dirty="0"/>
              <a:t>Deck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0180" rIns="0" bIns="0" rtlCol="0">
            <a:spAutoFit/>
          </a:bodyPr>
          <a:lstStyle/>
          <a:p>
            <a:pPr marL="257175">
              <a:lnSpc>
                <a:spcPts val="1155"/>
              </a:lnSpc>
            </a:pPr>
            <a:fld id="{81D60167-4931-47E6-BA6A-407CBD079E47}" type="slidenum">
              <a:rPr spc="-20" dirty="0"/>
              <a:t>6</a:t>
            </a:fld>
            <a:r>
              <a:rPr spc="-20" dirty="0"/>
              <a:t>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5"/>
            <a:ext cx="12204700" cy="579120"/>
            <a:chOff x="-6095" y="-6095"/>
            <a:chExt cx="12204700" cy="57912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567055"/>
            </a:xfrm>
            <a:custGeom>
              <a:avLst/>
              <a:gdLst/>
              <a:ahLst/>
              <a:cxnLst/>
              <a:rect l="l" t="t" r="r" b="b"/>
              <a:pathLst>
                <a:path w="12045950" h="567055">
                  <a:moveTo>
                    <a:pt x="0" y="566927"/>
                  </a:moveTo>
                  <a:lnTo>
                    <a:pt x="12045696" y="566927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567055"/>
            </a:xfrm>
            <a:custGeom>
              <a:avLst/>
              <a:gdLst/>
              <a:ahLst/>
              <a:cxnLst/>
              <a:rect l="l" t="t" r="r" b="b"/>
              <a:pathLst>
                <a:path w="12192000" h="567055">
                  <a:moveTo>
                    <a:pt x="0" y="566927"/>
                  </a:moveTo>
                  <a:lnTo>
                    <a:pt x="12192000" y="5669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146304" y="566927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7"/>
                  </a:moveTo>
                  <a:lnTo>
                    <a:pt x="146304" y="566927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2400" y="141223"/>
            <a:ext cx="120338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667385" algn="r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9" name="object 9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STRATEGY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6179" y="1503475"/>
            <a:ext cx="11506200" cy="4876799"/>
            <a:chOff x="6181719" y="1914144"/>
            <a:chExt cx="5416550" cy="2094864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1719" y="1914890"/>
              <a:ext cx="5416440" cy="209375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196583" y="1920240"/>
              <a:ext cx="5370830" cy="2057400"/>
            </a:xfrm>
            <a:custGeom>
              <a:avLst/>
              <a:gdLst/>
              <a:ahLst/>
              <a:cxnLst/>
              <a:rect l="l" t="t" r="r" b="b"/>
              <a:pathLst>
                <a:path w="5370830" h="2057400">
                  <a:moveTo>
                    <a:pt x="5027675" y="0"/>
                  </a:moveTo>
                  <a:lnTo>
                    <a:pt x="342899" y="0"/>
                  </a:lnTo>
                  <a:lnTo>
                    <a:pt x="296375" y="3130"/>
                  </a:lnTo>
                  <a:lnTo>
                    <a:pt x="251751" y="12250"/>
                  </a:lnTo>
                  <a:lnTo>
                    <a:pt x="209436" y="26949"/>
                  </a:lnTo>
                  <a:lnTo>
                    <a:pt x="169841" y="46820"/>
                  </a:lnTo>
                  <a:lnTo>
                    <a:pt x="133373" y="71454"/>
                  </a:lnTo>
                  <a:lnTo>
                    <a:pt x="100441" y="100441"/>
                  </a:lnTo>
                  <a:lnTo>
                    <a:pt x="71454" y="133373"/>
                  </a:lnTo>
                  <a:lnTo>
                    <a:pt x="46820" y="169841"/>
                  </a:lnTo>
                  <a:lnTo>
                    <a:pt x="26949" y="209436"/>
                  </a:lnTo>
                  <a:lnTo>
                    <a:pt x="12250" y="251751"/>
                  </a:lnTo>
                  <a:lnTo>
                    <a:pt x="3130" y="296375"/>
                  </a:lnTo>
                  <a:lnTo>
                    <a:pt x="0" y="342900"/>
                  </a:lnTo>
                  <a:lnTo>
                    <a:pt x="0" y="1714500"/>
                  </a:lnTo>
                  <a:lnTo>
                    <a:pt x="3130" y="1761024"/>
                  </a:lnTo>
                  <a:lnTo>
                    <a:pt x="12250" y="1805648"/>
                  </a:lnTo>
                  <a:lnTo>
                    <a:pt x="26949" y="1847963"/>
                  </a:lnTo>
                  <a:lnTo>
                    <a:pt x="46820" y="1887558"/>
                  </a:lnTo>
                  <a:lnTo>
                    <a:pt x="71454" y="1924026"/>
                  </a:lnTo>
                  <a:lnTo>
                    <a:pt x="100441" y="1956958"/>
                  </a:lnTo>
                  <a:lnTo>
                    <a:pt x="133373" y="1985945"/>
                  </a:lnTo>
                  <a:lnTo>
                    <a:pt x="169841" y="2010579"/>
                  </a:lnTo>
                  <a:lnTo>
                    <a:pt x="209436" y="2030450"/>
                  </a:lnTo>
                  <a:lnTo>
                    <a:pt x="251751" y="2045149"/>
                  </a:lnTo>
                  <a:lnTo>
                    <a:pt x="296375" y="2054269"/>
                  </a:lnTo>
                  <a:lnTo>
                    <a:pt x="342899" y="2057400"/>
                  </a:lnTo>
                  <a:lnTo>
                    <a:pt x="5027675" y="2057400"/>
                  </a:lnTo>
                  <a:lnTo>
                    <a:pt x="5074200" y="2054269"/>
                  </a:lnTo>
                  <a:lnTo>
                    <a:pt x="5118824" y="2045149"/>
                  </a:lnTo>
                  <a:lnTo>
                    <a:pt x="5161139" y="2030450"/>
                  </a:lnTo>
                  <a:lnTo>
                    <a:pt x="5200734" y="2010579"/>
                  </a:lnTo>
                  <a:lnTo>
                    <a:pt x="5237202" y="1985945"/>
                  </a:lnTo>
                  <a:lnTo>
                    <a:pt x="5270134" y="1956958"/>
                  </a:lnTo>
                  <a:lnTo>
                    <a:pt x="5299121" y="1924026"/>
                  </a:lnTo>
                  <a:lnTo>
                    <a:pt x="5323755" y="1887558"/>
                  </a:lnTo>
                  <a:lnTo>
                    <a:pt x="5343626" y="1847963"/>
                  </a:lnTo>
                  <a:lnTo>
                    <a:pt x="5358325" y="1805648"/>
                  </a:lnTo>
                  <a:lnTo>
                    <a:pt x="5367445" y="1761024"/>
                  </a:lnTo>
                  <a:lnTo>
                    <a:pt x="5370575" y="1714500"/>
                  </a:lnTo>
                  <a:lnTo>
                    <a:pt x="5370575" y="342900"/>
                  </a:lnTo>
                  <a:lnTo>
                    <a:pt x="5367445" y="296375"/>
                  </a:lnTo>
                  <a:lnTo>
                    <a:pt x="5358325" y="251751"/>
                  </a:lnTo>
                  <a:lnTo>
                    <a:pt x="5343626" y="209436"/>
                  </a:lnTo>
                  <a:lnTo>
                    <a:pt x="5323755" y="169841"/>
                  </a:lnTo>
                  <a:lnTo>
                    <a:pt x="5299121" y="133373"/>
                  </a:lnTo>
                  <a:lnTo>
                    <a:pt x="5270134" y="100441"/>
                  </a:lnTo>
                  <a:lnTo>
                    <a:pt x="5237202" y="71454"/>
                  </a:lnTo>
                  <a:lnTo>
                    <a:pt x="5200734" y="46820"/>
                  </a:lnTo>
                  <a:lnTo>
                    <a:pt x="5161139" y="26949"/>
                  </a:lnTo>
                  <a:lnTo>
                    <a:pt x="5118824" y="12250"/>
                  </a:lnTo>
                  <a:lnTo>
                    <a:pt x="5074200" y="3130"/>
                  </a:lnTo>
                  <a:lnTo>
                    <a:pt x="5027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Option B- UX/Clickable</a:t>
              </a:r>
            </a:p>
            <a:p>
              <a:r>
                <a:rPr lang="en-US" dirty="0"/>
                <a:t>     </a:t>
              </a:r>
            </a:p>
            <a:p>
              <a:r>
                <a:rPr lang="en-US" dirty="0"/>
                <a:t> Idea Name: Secure Donor Agreement Platform</a:t>
              </a:r>
            </a:p>
            <a:p>
              <a:endParaRPr lang="en-US" dirty="0"/>
            </a:p>
            <a:p>
              <a:r>
                <a:rPr lang="en-US" dirty="0"/>
                <a:t>One-line Pitch:</a:t>
              </a:r>
            </a:p>
            <a:p>
              <a:r>
                <a:rPr lang="en-US" dirty="0"/>
                <a:t>A secure web platform that verifies and stores immutable donor blood type data, allowing hospitals to quickly access trusted and available local donors to reduce life-threatening delays.</a:t>
              </a:r>
            </a:p>
            <a:p>
              <a:endParaRPr lang="en-US" dirty="0"/>
            </a:p>
            <a:p>
              <a:r>
                <a:rPr lang="en-US" dirty="0"/>
                <a:t>Value Proposition:</a:t>
              </a:r>
            </a:p>
            <a:p>
              <a:r>
                <a:rPr lang="en-US" dirty="0"/>
                <a:t>Ensures trustworthy donor data (blood type cannot be edited), reduces mismatches, and improves hospital decision-making by providing real-time donor eligibility status.</a:t>
              </a:r>
            </a:p>
            <a:p>
              <a:endParaRPr lang="en-US" dirty="0"/>
            </a:p>
            <a:p>
              <a:r>
                <a:rPr lang="en-US" dirty="0"/>
                <a:t>Key PoC Focus:</a:t>
              </a:r>
            </a:p>
            <a:p>
              <a:r>
                <a:rPr lang="en-US" dirty="0"/>
                <a:t>Prove the technical feasibility of implementing secure authenticated access for hospitals to view verified donor data and real-time availability.</a:t>
              </a:r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196583" y="1920240"/>
              <a:ext cx="5370830" cy="2057400"/>
            </a:xfrm>
            <a:custGeom>
              <a:avLst/>
              <a:gdLst/>
              <a:ahLst/>
              <a:cxnLst/>
              <a:rect l="l" t="t" r="r" b="b"/>
              <a:pathLst>
                <a:path w="5370830" h="2057400">
                  <a:moveTo>
                    <a:pt x="0" y="342900"/>
                  </a:moveTo>
                  <a:lnTo>
                    <a:pt x="3130" y="296375"/>
                  </a:lnTo>
                  <a:lnTo>
                    <a:pt x="12250" y="251751"/>
                  </a:lnTo>
                  <a:lnTo>
                    <a:pt x="26949" y="209436"/>
                  </a:lnTo>
                  <a:lnTo>
                    <a:pt x="46820" y="169841"/>
                  </a:lnTo>
                  <a:lnTo>
                    <a:pt x="71454" y="133373"/>
                  </a:lnTo>
                  <a:lnTo>
                    <a:pt x="100441" y="100441"/>
                  </a:lnTo>
                  <a:lnTo>
                    <a:pt x="133373" y="71454"/>
                  </a:lnTo>
                  <a:lnTo>
                    <a:pt x="169841" y="46820"/>
                  </a:lnTo>
                  <a:lnTo>
                    <a:pt x="209436" y="26949"/>
                  </a:lnTo>
                  <a:lnTo>
                    <a:pt x="251751" y="12250"/>
                  </a:lnTo>
                  <a:lnTo>
                    <a:pt x="296375" y="3130"/>
                  </a:lnTo>
                  <a:lnTo>
                    <a:pt x="342899" y="0"/>
                  </a:lnTo>
                  <a:lnTo>
                    <a:pt x="5027675" y="0"/>
                  </a:lnTo>
                  <a:lnTo>
                    <a:pt x="5074200" y="3130"/>
                  </a:lnTo>
                  <a:lnTo>
                    <a:pt x="5118824" y="12250"/>
                  </a:lnTo>
                  <a:lnTo>
                    <a:pt x="5161139" y="26949"/>
                  </a:lnTo>
                  <a:lnTo>
                    <a:pt x="5200734" y="46820"/>
                  </a:lnTo>
                  <a:lnTo>
                    <a:pt x="5237202" y="71454"/>
                  </a:lnTo>
                  <a:lnTo>
                    <a:pt x="5270134" y="100441"/>
                  </a:lnTo>
                  <a:lnTo>
                    <a:pt x="5299121" y="133373"/>
                  </a:lnTo>
                  <a:lnTo>
                    <a:pt x="5323755" y="169841"/>
                  </a:lnTo>
                  <a:lnTo>
                    <a:pt x="5343626" y="209436"/>
                  </a:lnTo>
                  <a:lnTo>
                    <a:pt x="5358325" y="251751"/>
                  </a:lnTo>
                  <a:lnTo>
                    <a:pt x="5367445" y="296375"/>
                  </a:lnTo>
                  <a:lnTo>
                    <a:pt x="5370575" y="342900"/>
                  </a:lnTo>
                  <a:lnTo>
                    <a:pt x="5370575" y="1714500"/>
                  </a:lnTo>
                  <a:lnTo>
                    <a:pt x="5367445" y="1761024"/>
                  </a:lnTo>
                  <a:lnTo>
                    <a:pt x="5358325" y="1805648"/>
                  </a:lnTo>
                  <a:lnTo>
                    <a:pt x="5343626" y="1847963"/>
                  </a:lnTo>
                  <a:lnTo>
                    <a:pt x="5323755" y="1887558"/>
                  </a:lnTo>
                  <a:lnTo>
                    <a:pt x="5299121" y="1924026"/>
                  </a:lnTo>
                  <a:lnTo>
                    <a:pt x="5270134" y="1956958"/>
                  </a:lnTo>
                  <a:lnTo>
                    <a:pt x="5237202" y="1985945"/>
                  </a:lnTo>
                  <a:lnTo>
                    <a:pt x="5200734" y="2010579"/>
                  </a:lnTo>
                  <a:lnTo>
                    <a:pt x="5161139" y="2030450"/>
                  </a:lnTo>
                  <a:lnTo>
                    <a:pt x="5118824" y="2045149"/>
                  </a:lnTo>
                  <a:lnTo>
                    <a:pt x="5074200" y="2054269"/>
                  </a:lnTo>
                  <a:lnTo>
                    <a:pt x="5027675" y="2057400"/>
                  </a:lnTo>
                  <a:lnTo>
                    <a:pt x="342899" y="2057400"/>
                  </a:lnTo>
                  <a:lnTo>
                    <a:pt x="296375" y="2054269"/>
                  </a:lnTo>
                  <a:lnTo>
                    <a:pt x="251751" y="2045149"/>
                  </a:lnTo>
                  <a:lnTo>
                    <a:pt x="209436" y="2030450"/>
                  </a:lnTo>
                  <a:lnTo>
                    <a:pt x="169841" y="2010579"/>
                  </a:lnTo>
                  <a:lnTo>
                    <a:pt x="133373" y="1985945"/>
                  </a:lnTo>
                  <a:lnTo>
                    <a:pt x="100441" y="1956958"/>
                  </a:lnTo>
                  <a:lnTo>
                    <a:pt x="71454" y="1924026"/>
                  </a:lnTo>
                  <a:lnTo>
                    <a:pt x="46820" y="1887558"/>
                  </a:lnTo>
                  <a:lnTo>
                    <a:pt x="26949" y="1847963"/>
                  </a:lnTo>
                  <a:lnTo>
                    <a:pt x="12250" y="1805648"/>
                  </a:lnTo>
                  <a:lnTo>
                    <a:pt x="3130" y="1761024"/>
                  </a:lnTo>
                  <a:lnTo>
                    <a:pt x="0" y="1714500"/>
                  </a:lnTo>
                  <a:lnTo>
                    <a:pt x="0" y="342900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138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5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Stage</a:t>
            </a:r>
            <a:r>
              <a:rPr spc="1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Submission</a:t>
            </a:r>
            <a:r>
              <a:rPr spc="-55" dirty="0"/>
              <a:t> </a:t>
            </a:r>
            <a:r>
              <a:rPr spc="-20" dirty="0"/>
              <a:t>Deck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1042142" y="6671335"/>
            <a:ext cx="29210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spc="-20" dirty="0">
                <a:latin typeface="Calibri"/>
                <a:cs typeface="Calibri"/>
              </a:rPr>
              <a:t>7/23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Title 41">
            <a:extLst>
              <a:ext uri="{FF2B5EF4-FFF2-40B4-BE49-F238E27FC236}">
                <a16:creationId xmlns:a16="http://schemas.microsoft.com/office/drawing/2014/main" id="{47B6802C-B8DC-9F68-5F61-5A822BAA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5"/>
            <a:ext cx="12204700" cy="579120"/>
            <a:chOff x="-6095" y="-6095"/>
            <a:chExt cx="12204700" cy="57912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567055"/>
            </a:xfrm>
            <a:custGeom>
              <a:avLst/>
              <a:gdLst/>
              <a:ahLst/>
              <a:cxnLst/>
              <a:rect l="l" t="t" r="r" b="b"/>
              <a:pathLst>
                <a:path w="12045950" h="567055">
                  <a:moveTo>
                    <a:pt x="0" y="566927"/>
                  </a:moveTo>
                  <a:lnTo>
                    <a:pt x="12045696" y="566927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567055"/>
            </a:xfrm>
            <a:custGeom>
              <a:avLst/>
              <a:gdLst/>
              <a:ahLst/>
              <a:cxnLst/>
              <a:rect l="l" t="t" r="r" b="b"/>
              <a:pathLst>
                <a:path w="12192000" h="567055">
                  <a:moveTo>
                    <a:pt x="0" y="566927"/>
                  </a:moveTo>
                  <a:lnTo>
                    <a:pt x="12192000" y="5669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146304" y="566927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7"/>
                  </a:moveTo>
                  <a:lnTo>
                    <a:pt x="146304" y="566927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805796" y="141223"/>
            <a:ext cx="17176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009" y="652018"/>
            <a:ext cx="1932939" cy="305435"/>
            <a:chOff x="588009" y="652018"/>
            <a:chExt cx="1932939" cy="305435"/>
          </a:xfrm>
        </p:grpSpPr>
        <p:sp>
          <p:nvSpPr>
            <p:cNvPr id="9" name="object 9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71880" y="819353"/>
            <a:ext cx="478917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111727"/>
                </a:solidFill>
              </a:rPr>
              <a:t>Prototype</a:t>
            </a:r>
            <a:r>
              <a:rPr sz="3200" spc="-120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Strategy</a:t>
            </a:r>
            <a:r>
              <a:rPr sz="3200" spc="-12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Option</a:t>
            </a:r>
            <a:r>
              <a:rPr sz="3200" spc="-135" dirty="0">
                <a:solidFill>
                  <a:srgbClr val="111727"/>
                </a:solidFill>
              </a:rPr>
              <a:t> </a:t>
            </a:r>
            <a:r>
              <a:rPr sz="3200" spc="-50" dirty="0">
                <a:solidFill>
                  <a:srgbClr val="111727"/>
                </a:solidFill>
              </a:rPr>
              <a:t>A</a:t>
            </a:r>
            <a:endParaRPr sz="3200"/>
          </a:p>
        </p:txBody>
      </p:sp>
      <p:sp>
        <p:nvSpPr>
          <p:cNvPr id="12" name="object 12"/>
          <p:cNvSpPr txBox="1"/>
          <p:nvPr/>
        </p:nvSpPr>
        <p:spPr>
          <a:xfrm>
            <a:off x="671880" y="1454023"/>
            <a:ext cx="40462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30" dirty="0">
                <a:solidFill>
                  <a:srgbClr val="4A5462"/>
                </a:solidFill>
                <a:latin typeface="Calibri"/>
                <a:cs typeface="Calibri"/>
              </a:rPr>
              <a:t>Works-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like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functional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(integration</a:t>
            </a:r>
            <a:r>
              <a:rPr sz="1600" spc="-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&amp;</a:t>
            </a:r>
            <a:r>
              <a:rPr sz="16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metrics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first)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14" name="object 14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5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200" b="1" spc="-25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b="1" spc="-37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b="1" spc="-29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200" b="1" spc="-4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200" b="1" spc="-229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b="1" spc="-5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b="1" spc="-7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b="1" spc="-48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b="1" spc="-37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b="1" spc="-15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200" b="1" spc="-6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9057" y="1810791"/>
            <a:ext cx="5868670" cy="4609465"/>
            <a:chOff x="8889" y="1807210"/>
            <a:chExt cx="5868670" cy="460946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09" y="1808282"/>
              <a:ext cx="5867572" cy="460833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5239" y="1813560"/>
              <a:ext cx="5831205" cy="4572000"/>
            </a:xfrm>
            <a:custGeom>
              <a:avLst/>
              <a:gdLst/>
              <a:ahLst/>
              <a:cxnLst/>
              <a:rect l="l" t="t" r="r" b="b"/>
              <a:pathLst>
                <a:path w="5831205" h="4572000">
                  <a:moveTo>
                    <a:pt x="5068824" y="0"/>
                  </a:moveTo>
                  <a:lnTo>
                    <a:pt x="762012" y="0"/>
                  </a:lnTo>
                  <a:lnTo>
                    <a:pt x="713822" y="1498"/>
                  </a:lnTo>
                  <a:lnTo>
                    <a:pt x="666429" y="5936"/>
                  </a:lnTo>
                  <a:lnTo>
                    <a:pt x="619921" y="13223"/>
                  </a:lnTo>
                  <a:lnTo>
                    <a:pt x="574387" y="23269"/>
                  </a:lnTo>
                  <a:lnTo>
                    <a:pt x="529919" y="35987"/>
                  </a:lnTo>
                  <a:lnTo>
                    <a:pt x="486603" y="51286"/>
                  </a:lnTo>
                  <a:lnTo>
                    <a:pt x="444530" y="69078"/>
                  </a:lnTo>
                  <a:lnTo>
                    <a:pt x="403790" y="89272"/>
                  </a:lnTo>
                  <a:lnTo>
                    <a:pt x="364470" y="111781"/>
                  </a:lnTo>
                  <a:lnTo>
                    <a:pt x="326661" y="136514"/>
                  </a:lnTo>
                  <a:lnTo>
                    <a:pt x="290452" y="163383"/>
                  </a:lnTo>
                  <a:lnTo>
                    <a:pt x="255932" y="192298"/>
                  </a:lnTo>
                  <a:lnTo>
                    <a:pt x="223191" y="223170"/>
                  </a:lnTo>
                  <a:lnTo>
                    <a:pt x="192317" y="255910"/>
                  </a:lnTo>
                  <a:lnTo>
                    <a:pt x="163400" y="290429"/>
                  </a:lnTo>
                  <a:lnTo>
                    <a:pt x="136529" y="326636"/>
                  </a:lnTo>
                  <a:lnTo>
                    <a:pt x="111794" y="364444"/>
                  </a:lnTo>
                  <a:lnTo>
                    <a:pt x="89283" y="403763"/>
                  </a:lnTo>
                  <a:lnTo>
                    <a:pt x="69086" y="444504"/>
                  </a:lnTo>
                  <a:lnTo>
                    <a:pt x="51293" y="486577"/>
                  </a:lnTo>
                  <a:lnTo>
                    <a:pt x="35992" y="529893"/>
                  </a:lnTo>
                  <a:lnTo>
                    <a:pt x="23273" y="574363"/>
                  </a:lnTo>
                  <a:lnTo>
                    <a:pt x="13225" y="619898"/>
                  </a:lnTo>
                  <a:lnTo>
                    <a:pt x="5937" y="666409"/>
                  </a:lnTo>
                  <a:lnTo>
                    <a:pt x="1499" y="713805"/>
                  </a:lnTo>
                  <a:lnTo>
                    <a:pt x="0" y="762000"/>
                  </a:lnTo>
                  <a:lnTo>
                    <a:pt x="0" y="3809987"/>
                  </a:lnTo>
                  <a:lnTo>
                    <a:pt x="1499" y="3858177"/>
                  </a:lnTo>
                  <a:lnTo>
                    <a:pt x="5937" y="3905570"/>
                  </a:lnTo>
                  <a:lnTo>
                    <a:pt x="13225" y="3952078"/>
                  </a:lnTo>
                  <a:lnTo>
                    <a:pt x="23273" y="3997612"/>
                  </a:lnTo>
                  <a:lnTo>
                    <a:pt x="35992" y="4042080"/>
                  </a:lnTo>
                  <a:lnTo>
                    <a:pt x="51293" y="4085396"/>
                  </a:lnTo>
                  <a:lnTo>
                    <a:pt x="69086" y="4127469"/>
                  </a:lnTo>
                  <a:lnTo>
                    <a:pt x="89283" y="4168209"/>
                  </a:lnTo>
                  <a:lnTo>
                    <a:pt x="111794" y="4207529"/>
                  </a:lnTo>
                  <a:lnTo>
                    <a:pt x="136529" y="4245338"/>
                  </a:lnTo>
                  <a:lnTo>
                    <a:pt x="163400" y="4281547"/>
                  </a:lnTo>
                  <a:lnTo>
                    <a:pt x="192317" y="4316067"/>
                  </a:lnTo>
                  <a:lnTo>
                    <a:pt x="223191" y="4348808"/>
                  </a:lnTo>
                  <a:lnTo>
                    <a:pt x="255932" y="4379682"/>
                  </a:lnTo>
                  <a:lnTo>
                    <a:pt x="290452" y="4408599"/>
                  </a:lnTo>
                  <a:lnTo>
                    <a:pt x="326661" y="4435470"/>
                  </a:lnTo>
                  <a:lnTo>
                    <a:pt x="364470" y="4460205"/>
                  </a:lnTo>
                  <a:lnTo>
                    <a:pt x="403790" y="4482716"/>
                  </a:lnTo>
                  <a:lnTo>
                    <a:pt x="444530" y="4502913"/>
                  </a:lnTo>
                  <a:lnTo>
                    <a:pt x="486603" y="4520706"/>
                  </a:lnTo>
                  <a:lnTo>
                    <a:pt x="529919" y="4536007"/>
                  </a:lnTo>
                  <a:lnTo>
                    <a:pt x="574387" y="4548726"/>
                  </a:lnTo>
                  <a:lnTo>
                    <a:pt x="619921" y="4558774"/>
                  </a:lnTo>
                  <a:lnTo>
                    <a:pt x="666429" y="4566062"/>
                  </a:lnTo>
                  <a:lnTo>
                    <a:pt x="713822" y="4570500"/>
                  </a:lnTo>
                  <a:lnTo>
                    <a:pt x="762012" y="4572000"/>
                  </a:lnTo>
                  <a:lnTo>
                    <a:pt x="5068824" y="4572000"/>
                  </a:lnTo>
                  <a:lnTo>
                    <a:pt x="5117018" y="4570500"/>
                  </a:lnTo>
                  <a:lnTo>
                    <a:pt x="5164414" y="4566062"/>
                  </a:lnTo>
                  <a:lnTo>
                    <a:pt x="5210925" y="4558774"/>
                  </a:lnTo>
                  <a:lnTo>
                    <a:pt x="5256460" y="4548726"/>
                  </a:lnTo>
                  <a:lnTo>
                    <a:pt x="5300930" y="4536007"/>
                  </a:lnTo>
                  <a:lnTo>
                    <a:pt x="5344246" y="4520706"/>
                  </a:lnTo>
                  <a:lnTo>
                    <a:pt x="5386319" y="4502913"/>
                  </a:lnTo>
                  <a:lnTo>
                    <a:pt x="5427060" y="4482716"/>
                  </a:lnTo>
                  <a:lnTo>
                    <a:pt x="5466379" y="4460205"/>
                  </a:lnTo>
                  <a:lnTo>
                    <a:pt x="5504187" y="4435470"/>
                  </a:lnTo>
                  <a:lnTo>
                    <a:pt x="5540394" y="4408599"/>
                  </a:lnTo>
                  <a:lnTo>
                    <a:pt x="5574913" y="4379682"/>
                  </a:lnTo>
                  <a:lnTo>
                    <a:pt x="5607653" y="4348808"/>
                  </a:lnTo>
                  <a:lnTo>
                    <a:pt x="5638525" y="4316067"/>
                  </a:lnTo>
                  <a:lnTo>
                    <a:pt x="5667440" y="4281547"/>
                  </a:lnTo>
                  <a:lnTo>
                    <a:pt x="5694309" y="4245338"/>
                  </a:lnTo>
                  <a:lnTo>
                    <a:pt x="5719042" y="4207529"/>
                  </a:lnTo>
                  <a:lnTo>
                    <a:pt x="5741551" y="4168209"/>
                  </a:lnTo>
                  <a:lnTo>
                    <a:pt x="5761745" y="4127469"/>
                  </a:lnTo>
                  <a:lnTo>
                    <a:pt x="5779537" y="4085396"/>
                  </a:lnTo>
                  <a:lnTo>
                    <a:pt x="5794836" y="4042080"/>
                  </a:lnTo>
                  <a:lnTo>
                    <a:pt x="5807554" y="3997612"/>
                  </a:lnTo>
                  <a:lnTo>
                    <a:pt x="5817600" y="3952078"/>
                  </a:lnTo>
                  <a:lnTo>
                    <a:pt x="5824887" y="3905570"/>
                  </a:lnTo>
                  <a:lnTo>
                    <a:pt x="5829325" y="3858177"/>
                  </a:lnTo>
                  <a:lnTo>
                    <a:pt x="5830824" y="3809987"/>
                  </a:lnTo>
                  <a:lnTo>
                    <a:pt x="5830824" y="762000"/>
                  </a:lnTo>
                  <a:lnTo>
                    <a:pt x="5829325" y="713805"/>
                  </a:lnTo>
                  <a:lnTo>
                    <a:pt x="5824887" y="666409"/>
                  </a:lnTo>
                  <a:lnTo>
                    <a:pt x="5817600" y="619898"/>
                  </a:lnTo>
                  <a:lnTo>
                    <a:pt x="5807554" y="574363"/>
                  </a:lnTo>
                  <a:lnTo>
                    <a:pt x="5794836" y="529893"/>
                  </a:lnTo>
                  <a:lnTo>
                    <a:pt x="5779537" y="486577"/>
                  </a:lnTo>
                  <a:lnTo>
                    <a:pt x="5761745" y="444504"/>
                  </a:lnTo>
                  <a:lnTo>
                    <a:pt x="5741551" y="403763"/>
                  </a:lnTo>
                  <a:lnTo>
                    <a:pt x="5719042" y="364444"/>
                  </a:lnTo>
                  <a:lnTo>
                    <a:pt x="5694309" y="326636"/>
                  </a:lnTo>
                  <a:lnTo>
                    <a:pt x="5667440" y="290429"/>
                  </a:lnTo>
                  <a:lnTo>
                    <a:pt x="5638525" y="255910"/>
                  </a:lnTo>
                  <a:lnTo>
                    <a:pt x="5607653" y="223170"/>
                  </a:lnTo>
                  <a:lnTo>
                    <a:pt x="5574913" y="192298"/>
                  </a:lnTo>
                  <a:lnTo>
                    <a:pt x="5540394" y="163383"/>
                  </a:lnTo>
                  <a:lnTo>
                    <a:pt x="5504187" y="136514"/>
                  </a:lnTo>
                  <a:lnTo>
                    <a:pt x="5466379" y="111781"/>
                  </a:lnTo>
                  <a:lnTo>
                    <a:pt x="5427060" y="89272"/>
                  </a:lnTo>
                  <a:lnTo>
                    <a:pt x="5386319" y="69078"/>
                  </a:lnTo>
                  <a:lnTo>
                    <a:pt x="5344246" y="51286"/>
                  </a:lnTo>
                  <a:lnTo>
                    <a:pt x="5300930" y="35987"/>
                  </a:lnTo>
                  <a:lnTo>
                    <a:pt x="5256460" y="23269"/>
                  </a:lnTo>
                  <a:lnTo>
                    <a:pt x="5210925" y="13223"/>
                  </a:lnTo>
                  <a:lnTo>
                    <a:pt x="5164414" y="5936"/>
                  </a:lnTo>
                  <a:lnTo>
                    <a:pt x="5117018" y="1498"/>
                  </a:lnTo>
                  <a:lnTo>
                    <a:pt x="5068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239" y="1813560"/>
              <a:ext cx="5831205" cy="4572000"/>
            </a:xfrm>
            <a:custGeom>
              <a:avLst/>
              <a:gdLst/>
              <a:ahLst/>
              <a:cxnLst/>
              <a:rect l="l" t="t" r="r" b="b"/>
              <a:pathLst>
                <a:path w="5831205" h="4572000">
                  <a:moveTo>
                    <a:pt x="0" y="762000"/>
                  </a:moveTo>
                  <a:lnTo>
                    <a:pt x="1499" y="713805"/>
                  </a:lnTo>
                  <a:lnTo>
                    <a:pt x="5937" y="666409"/>
                  </a:lnTo>
                  <a:lnTo>
                    <a:pt x="13225" y="619898"/>
                  </a:lnTo>
                  <a:lnTo>
                    <a:pt x="23273" y="574363"/>
                  </a:lnTo>
                  <a:lnTo>
                    <a:pt x="35992" y="529893"/>
                  </a:lnTo>
                  <a:lnTo>
                    <a:pt x="51293" y="486577"/>
                  </a:lnTo>
                  <a:lnTo>
                    <a:pt x="69086" y="444504"/>
                  </a:lnTo>
                  <a:lnTo>
                    <a:pt x="89283" y="403763"/>
                  </a:lnTo>
                  <a:lnTo>
                    <a:pt x="111794" y="364444"/>
                  </a:lnTo>
                  <a:lnTo>
                    <a:pt x="136529" y="326636"/>
                  </a:lnTo>
                  <a:lnTo>
                    <a:pt x="163400" y="290429"/>
                  </a:lnTo>
                  <a:lnTo>
                    <a:pt x="192317" y="255910"/>
                  </a:lnTo>
                  <a:lnTo>
                    <a:pt x="223191" y="223170"/>
                  </a:lnTo>
                  <a:lnTo>
                    <a:pt x="255932" y="192298"/>
                  </a:lnTo>
                  <a:lnTo>
                    <a:pt x="290452" y="163383"/>
                  </a:lnTo>
                  <a:lnTo>
                    <a:pt x="326661" y="136514"/>
                  </a:lnTo>
                  <a:lnTo>
                    <a:pt x="364470" y="111781"/>
                  </a:lnTo>
                  <a:lnTo>
                    <a:pt x="403790" y="89272"/>
                  </a:lnTo>
                  <a:lnTo>
                    <a:pt x="444530" y="69078"/>
                  </a:lnTo>
                  <a:lnTo>
                    <a:pt x="486603" y="51286"/>
                  </a:lnTo>
                  <a:lnTo>
                    <a:pt x="529919" y="35987"/>
                  </a:lnTo>
                  <a:lnTo>
                    <a:pt x="574387" y="23269"/>
                  </a:lnTo>
                  <a:lnTo>
                    <a:pt x="619921" y="13223"/>
                  </a:lnTo>
                  <a:lnTo>
                    <a:pt x="666429" y="5936"/>
                  </a:lnTo>
                  <a:lnTo>
                    <a:pt x="713822" y="1498"/>
                  </a:lnTo>
                  <a:lnTo>
                    <a:pt x="762012" y="0"/>
                  </a:lnTo>
                  <a:lnTo>
                    <a:pt x="5068824" y="0"/>
                  </a:lnTo>
                  <a:lnTo>
                    <a:pt x="5117018" y="1498"/>
                  </a:lnTo>
                  <a:lnTo>
                    <a:pt x="5164414" y="5936"/>
                  </a:lnTo>
                  <a:lnTo>
                    <a:pt x="5210925" y="13223"/>
                  </a:lnTo>
                  <a:lnTo>
                    <a:pt x="5256460" y="23269"/>
                  </a:lnTo>
                  <a:lnTo>
                    <a:pt x="5300930" y="35987"/>
                  </a:lnTo>
                  <a:lnTo>
                    <a:pt x="5344246" y="51286"/>
                  </a:lnTo>
                  <a:lnTo>
                    <a:pt x="5386319" y="69078"/>
                  </a:lnTo>
                  <a:lnTo>
                    <a:pt x="5427060" y="89272"/>
                  </a:lnTo>
                  <a:lnTo>
                    <a:pt x="5466379" y="111781"/>
                  </a:lnTo>
                  <a:lnTo>
                    <a:pt x="5504187" y="136514"/>
                  </a:lnTo>
                  <a:lnTo>
                    <a:pt x="5540394" y="163383"/>
                  </a:lnTo>
                  <a:lnTo>
                    <a:pt x="5574913" y="192298"/>
                  </a:lnTo>
                  <a:lnTo>
                    <a:pt x="5607653" y="223170"/>
                  </a:lnTo>
                  <a:lnTo>
                    <a:pt x="5638525" y="255910"/>
                  </a:lnTo>
                  <a:lnTo>
                    <a:pt x="5667440" y="290429"/>
                  </a:lnTo>
                  <a:lnTo>
                    <a:pt x="5694309" y="326636"/>
                  </a:lnTo>
                  <a:lnTo>
                    <a:pt x="5719042" y="364444"/>
                  </a:lnTo>
                  <a:lnTo>
                    <a:pt x="5741551" y="403763"/>
                  </a:lnTo>
                  <a:lnTo>
                    <a:pt x="5761745" y="444504"/>
                  </a:lnTo>
                  <a:lnTo>
                    <a:pt x="5779537" y="486577"/>
                  </a:lnTo>
                  <a:lnTo>
                    <a:pt x="5794836" y="529893"/>
                  </a:lnTo>
                  <a:lnTo>
                    <a:pt x="5807554" y="574363"/>
                  </a:lnTo>
                  <a:lnTo>
                    <a:pt x="5817600" y="619898"/>
                  </a:lnTo>
                  <a:lnTo>
                    <a:pt x="5824887" y="666409"/>
                  </a:lnTo>
                  <a:lnTo>
                    <a:pt x="5829325" y="713805"/>
                  </a:lnTo>
                  <a:lnTo>
                    <a:pt x="5830824" y="762000"/>
                  </a:lnTo>
                  <a:lnTo>
                    <a:pt x="5830824" y="3809987"/>
                  </a:lnTo>
                  <a:lnTo>
                    <a:pt x="5829325" y="3858177"/>
                  </a:lnTo>
                  <a:lnTo>
                    <a:pt x="5824887" y="3905570"/>
                  </a:lnTo>
                  <a:lnTo>
                    <a:pt x="5817600" y="3952078"/>
                  </a:lnTo>
                  <a:lnTo>
                    <a:pt x="5807554" y="3997612"/>
                  </a:lnTo>
                  <a:lnTo>
                    <a:pt x="5794836" y="4042080"/>
                  </a:lnTo>
                  <a:lnTo>
                    <a:pt x="5779537" y="4085396"/>
                  </a:lnTo>
                  <a:lnTo>
                    <a:pt x="5761745" y="4127469"/>
                  </a:lnTo>
                  <a:lnTo>
                    <a:pt x="5741551" y="4168209"/>
                  </a:lnTo>
                  <a:lnTo>
                    <a:pt x="5719042" y="4207529"/>
                  </a:lnTo>
                  <a:lnTo>
                    <a:pt x="5694309" y="4245338"/>
                  </a:lnTo>
                  <a:lnTo>
                    <a:pt x="5667440" y="4281547"/>
                  </a:lnTo>
                  <a:lnTo>
                    <a:pt x="5638525" y="4316067"/>
                  </a:lnTo>
                  <a:lnTo>
                    <a:pt x="5607653" y="4348808"/>
                  </a:lnTo>
                  <a:lnTo>
                    <a:pt x="5574913" y="4379682"/>
                  </a:lnTo>
                  <a:lnTo>
                    <a:pt x="5540394" y="4408599"/>
                  </a:lnTo>
                  <a:lnTo>
                    <a:pt x="5504187" y="4435470"/>
                  </a:lnTo>
                  <a:lnTo>
                    <a:pt x="5466379" y="4460205"/>
                  </a:lnTo>
                  <a:lnTo>
                    <a:pt x="5427060" y="4482716"/>
                  </a:lnTo>
                  <a:lnTo>
                    <a:pt x="5386319" y="4502913"/>
                  </a:lnTo>
                  <a:lnTo>
                    <a:pt x="5344246" y="4520706"/>
                  </a:lnTo>
                  <a:lnTo>
                    <a:pt x="5300930" y="4536007"/>
                  </a:lnTo>
                  <a:lnTo>
                    <a:pt x="5256460" y="4548726"/>
                  </a:lnTo>
                  <a:lnTo>
                    <a:pt x="5210925" y="4558774"/>
                  </a:lnTo>
                  <a:lnTo>
                    <a:pt x="5164414" y="4566062"/>
                  </a:lnTo>
                  <a:lnTo>
                    <a:pt x="5117018" y="4570500"/>
                  </a:lnTo>
                  <a:lnTo>
                    <a:pt x="5068824" y="4572000"/>
                  </a:lnTo>
                  <a:lnTo>
                    <a:pt x="762012" y="4572000"/>
                  </a:lnTo>
                  <a:lnTo>
                    <a:pt x="713822" y="4570500"/>
                  </a:lnTo>
                  <a:lnTo>
                    <a:pt x="666429" y="4566062"/>
                  </a:lnTo>
                  <a:lnTo>
                    <a:pt x="619921" y="4558774"/>
                  </a:lnTo>
                  <a:lnTo>
                    <a:pt x="574387" y="4548726"/>
                  </a:lnTo>
                  <a:lnTo>
                    <a:pt x="529919" y="4536007"/>
                  </a:lnTo>
                  <a:lnTo>
                    <a:pt x="486603" y="4520706"/>
                  </a:lnTo>
                  <a:lnTo>
                    <a:pt x="444530" y="4502913"/>
                  </a:lnTo>
                  <a:lnTo>
                    <a:pt x="403790" y="4482716"/>
                  </a:lnTo>
                  <a:lnTo>
                    <a:pt x="364470" y="4460205"/>
                  </a:lnTo>
                  <a:lnTo>
                    <a:pt x="326661" y="4435470"/>
                  </a:lnTo>
                  <a:lnTo>
                    <a:pt x="290452" y="4408599"/>
                  </a:lnTo>
                  <a:lnTo>
                    <a:pt x="255932" y="4379682"/>
                  </a:lnTo>
                  <a:lnTo>
                    <a:pt x="223191" y="4348808"/>
                  </a:lnTo>
                  <a:lnTo>
                    <a:pt x="192317" y="4316067"/>
                  </a:lnTo>
                  <a:lnTo>
                    <a:pt x="163400" y="4281547"/>
                  </a:lnTo>
                  <a:lnTo>
                    <a:pt x="136529" y="4245338"/>
                  </a:lnTo>
                  <a:lnTo>
                    <a:pt x="111794" y="4207529"/>
                  </a:lnTo>
                  <a:lnTo>
                    <a:pt x="89283" y="4168209"/>
                  </a:lnTo>
                  <a:lnTo>
                    <a:pt x="69086" y="4127469"/>
                  </a:lnTo>
                  <a:lnTo>
                    <a:pt x="51293" y="4085396"/>
                  </a:lnTo>
                  <a:lnTo>
                    <a:pt x="35992" y="4042080"/>
                  </a:lnTo>
                  <a:lnTo>
                    <a:pt x="23273" y="3997612"/>
                  </a:lnTo>
                  <a:lnTo>
                    <a:pt x="13225" y="3952078"/>
                  </a:lnTo>
                  <a:lnTo>
                    <a:pt x="5937" y="3905570"/>
                  </a:lnTo>
                  <a:lnTo>
                    <a:pt x="1499" y="3858177"/>
                  </a:lnTo>
                  <a:lnTo>
                    <a:pt x="0" y="3809987"/>
                  </a:lnTo>
                  <a:lnTo>
                    <a:pt x="0" y="762000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27912" y="2053208"/>
            <a:ext cx="13049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Choose</a:t>
            </a:r>
            <a:r>
              <a:rPr sz="1600" b="1" spc="-5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this</a:t>
            </a:r>
            <a:r>
              <a:rPr sz="1600" b="1" spc="-2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111727"/>
                </a:solidFill>
                <a:latin typeface="Calibri"/>
                <a:cs typeface="Calibri"/>
              </a:rPr>
              <a:t>if…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36603" y="1742879"/>
            <a:ext cx="6029325" cy="4791710"/>
          </a:xfrm>
          <a:custGeom>
            <a:avLst/>
            <a:gdLst/>
            <a:ahLst/>
            <a:cxnLst/>
            <a:rect l="l" t="t" r="r" b="b"/>
            <a:pathLst>
              <a:path w="6029325" h="4791710">
                <a:moveTo>
                  <a:pt x="0" y="798576"/>
                </a:moveTo>
                <a:lnTo>
                  <a:pt x="1457" y="749925"/>
                </a:lnTo>
                <a:lnTo>
                  <a:pt x="5773" y="702047"/>
                </a:lnTo>
                <a:lnTo>
                  <a:pt x="12865" y="655023"/>
                </a:lnTo>
                <a:lnTo>
                  <a:pt x="22648" y="608937"/>
                </a:lnTo>
                <a:lnTo>
                  <a:pt x="35040" y="563873"/>
                </a:lnTo>
                <a:lnTo>
                  <a:pt x="49957" y="519915"/>
                </a:lnTo>
                <a:lnTo>
                  <a:pt x="67315" y="477145"/>
                </a:lnTo>
                <a:lnTo>
                  <a:pt x="87031" y="435647"/>
                </a:lnTo>
                <a:lnTo>
                  <a:pt x="109022" y="395506"/>
                </a:lnTo>
                <a:lnTo>
                  <a:pt x="133203" y="356803"/>
                </a:lnTo>
                <a:lnTo>
                  <a:pt x="159492" y="319624"/>
                </a:lnTo>
                <a:lnTo>
                  <a:pt x="187805" y="284051"/>
                </a:lnTo>
                <a:lnTo>
                  <a:pt x="218058" y="250168"/>
                </a:lnTo>
                <a:lnTo>
                  <a:pt x="250168" y="218058"/>
                </a:lnTo>
                <a:lnTo>
                  <a:pt x="284051" y="187805"/>
                </a:lnTo>
                <a:lnTo>
                  <a:pt x="319624" y="159492"/>
                </a:lnTo>
                <a:lnTo>
                  <a:pt x="356803" y="133203"/>
                </a:lnTo>
                <a:lnTo>
                  <a:pt x="395506" y="109022"/>
                </a:lnTo>
                <a:lnTo>
                  <a:pt x="435647" y="87031"/>
                </a:lnTo>
                <a:lnTo>
                  <a:pt x="477145" y="67315"/>
                </a:lnTo>
                <a:lnTo>
                  <a:pt x="519915" y="49957"/>
                </a:lnTo>
                <a:lnTo>
                  <a:pt x="563873" y="35040"/>
                </a:lnTo>
                <a:lnTo>
                  <a:pt x="608937" y="22648"/>
                </a:lnTo>
                <a:lnTo>
                  <a:pt x="655023" y="12865"/>
                </a:lnTo>
                <a:lnTo>
                  <a:pt x="702047" y="5773"/>
                </a:lnTo>
                <a:lnTo>
                  <a:pt x="749925" y="1457"/>
                </a:lnTo>
                <a:lnTo>
                  <a:pt x="798575" y="0"/>
                </a:lnTo>
                <a:lnTo>
                  <a:pt x="5230368" y="0"/>
                </a:lnTo>
                <a:lnTo>
                  <a:pt x="5279018" y="1457"/>
                </a:lnTo>
                <a:lnTo>
                  <a:pt x="5326896" y="5773"/>
                </a:lnTo>
                <a:lnTo>
                  <a:pt x="5373920" y="12865"/>
                </a:lnTo>
                <a:lnTo>
                  <a:pt x="5420006" y="22648"/>
                </a:lnTo>
                <a:lnTo>
                  <a:pt x="5465070" y="35040"/>
                </a:lnTo>
                <a:lnTo>
                  <a:pt x="5509028" y="49957"/>
                </a:lnTo>
                <a:lnTo>
                  <a:pt x="5551798" y="67315"/>
                </a:lnTo>
                <a:lnTo>
                  <a:pt x="5593296" y="87031"/>
                </a:lnTo>
                <a:lnTo>
                  <a:pt x="5633437" y="109022"/>
                </a:lnTo>
                <a:lnTo>
                  <a:pt x="5672140" y="133203"/>
                </a:lnTo>
                <a:lnTo>
                  <a:pt x="5709319" y="159492"/>
                </a:lnTo>
                <a:lnTo>
                  <a:pt x="5744892" y="187805"/>
                </a:lnTo>
                <a:lnTo>
                  <a:pt x="5778775" y="218058"/>
                </a:lnTo>
                <a:lnTo>
                  <a:pt x="5810885" y="250168"/>
                </a:lnTo>
                <a:lnTo>
                  <a:pt x="5841138" y="284051"/>
                </a:lnTo>
                <a:lnTo>
                  <a:pt x="5869451" y="319624"/>
                </a:lnTo>
                <a:lnTo>
                  <a:pt x="5895740" y="356803"/>
                </a:lnTo>
                <a:lnTo>
                  <a:pt x="5919921" y="395506"/>
                </a:lnTo>
                <a:lnTo>
                  <a:pt x="5941912" y="435647"/>
                </a:lnTo>
                <a:lnTo>
                  <a:pt x="5961628" y="477145"/>
                </a:lnTo>
                <a:lnTo>
                  <a:pt x="5978986" y="519915"/>
                </a:lnTo>
                <a:lnTo>
                  <a:pt x="5993903" y="563873"/>
                </a:lnTo>
                <a:lnTo>
                  <a:pt x="6006295" y="608937"/>
                </a:lnTo>
                <a:lnTo>
                  <a:pt x="6016078" y="655023"/>
                </a:lnTo>
                <a:lnTo>
                  <a:pt x="6023170" y="702047"/>
                </a:lnTo>
                <a:lnTo>
                  <a:pt x="6027486" y="749925"/>
                </a:lnTo>
                <a:lnTo>
                  <a:pt x="6028944" y="798576"/>
                </a:lnTo>
                <a:lnTo>
                  <a:pt x="6028944" y="3992867"/>
                </a:lnTo>
                <a:lnTo>
                  <a:pt x="6027486" y="4041514"/>
                </a:lnTo>
                <a:lnTo>
                  <a:pt x="6023170" y="4089391"/>
                </a:lnTo>
                <a:lnTo>
                  <a:pt x="6016078" y="4136413"/>
                </a:lnTo>
                <a:lnTo>
                  <a:pt x="6006295" y="4182498"/>
                </a:lnTo>
                <a:lnTo>
                  <a:pt x="5993903" y="4227561"/>
                </a:lnTo>
                <a:lnTo>
                  <a:pt x="5978986" y="4271519"/>
                </a:lnTo>
                <a:lnTo>
                  <a:pt x="5961628" y="4314289"/>
                </a:lnTo>
                <a:lnTo>
                  <a:pt x="5941912" y="4355786"/>
                </a:lnTo>
                <a:lnTo>
                  <a:pt x="5919921" y="4395929"/>
                </a:lnTo>
                <a:lnTo>
                  <a:pt x="5895740" y="4434632"/>
                </a:lnTo>
                <a:lnTo>
                  <a:pt x="5869451" y="4471812"/>
                </a:lnTo>
                <a:lnTo>
                  <a:pt x="5841138" y="4507386"/>
                </a:lnTo>
                <a:lnTo>
                  <a:pt x="5810885" y="4541271"/>
                </a:lnTo>
                <a:lnTo>
                  <a:pt x="5778775" y="4573382"/>
                </a:lnTo>
                <a:lnTo>
                  <a:pt x="5744892" y="4603637"/>
                </a:lnTo>
                <a:lnTo>
                  <a:pt x="5709319" y="4631951"/>
                </a:lnTo>
                <a:lnTo>
                  <a:pt x="5672140" y="4658241"/>
                </a:lnTo>
                <a:lnTo>
                  <a:pt x="5633437" y="4682424"/>
                </a:lnTo>
                <a:lnTo>
                  <a:pt x="5593296" y="4704416"/>
                </a:lnTo>
                <a:lnTo>
                  <a:pt x="5551798" y="4724134"/>
                </a:lnTo>
                <a:lnTo>
                  <a:pt x="5509028" y="4741493"/>
                </a:lnTo>
                <a:lnTo>
                  <a:pt x="5465070" y="4756412"/>
                </a:lnTo>
                <a:lnTo>
                  <a:pt x="5420006" y="4768805"/>
                </a:lnTo>
                <a:lnTo>
                  <a:pt x="5373920" y="4778589"/>
                </a:lnTo>
                <a:lnTo>
                  <a:pt x="5326896" y="4785681"/>
                </a:lnTo>
                <a:lnTo>
                  <a:pt x="5279018" y="4789998"/>
                </a:lnTo>
                <a:lnTo>
                  <a:pt x="5230368" y="4791456"/>
                </a:lnTo>
                <a:lnTo>
                  <a:pt x="798575" y="4791456"/>
                </a:lnTo>
                <a:lnTo>
                  <a:pt x="749925" y="4789998"/>
                </a:lnTo>
                <a:lnTo>
                  <a:pt x="702047" y="4785681"/>
                </a:lnTo>
                <a:lnTo>
                  <a:pt x="655023" y="4778589"/>
                </a:lnTo>
                <a:lnTo>
                  <a:pt x="608937" y="4768805"/>
                </a:lnTo>
                <a:lnTo>
                  <a:pt x="563873" y="4756412"/>
                </a:lnTo>
                <a:lnTo>
                  <a:pt x="519915" y="4741493"/>
                </a:lnTo>
                <a:lnTo>
                  <a:pt x="477145" y="4724134"/>
                </a:lnTo>
                <a:lnTo>
                  <a:pt x="435647" y="4704416"/>
                </a:lnTo>
                <a:lnTo>
                  <a:pt x="395506" y="4682424"/>
                </a:lnTo>
                <a:lnTo>
                  <a:pt x="356803" y="4658241"/>
                </a:lnTo>
                <a:lnTo>
                  <a:pt x="319624" y="4631951"/>
                </a:lnTo>
                <a:lnTo>
                  <a:pt x="284051" y="4603637"/>
                </a:lnTo>
                <a:lnTo>
                  <a:pt x="250168" y="4573382"/>
                </a:lnTo>
                <a:lnTo>
                  <a:pt x="218058" y="4541271"/>
                </a:lnTo>
                <a:lnTo>
                  <a:pt x="187805" y="4507386"/>
                </a:lnTo>
                <a:lnTo>
                  <a:pt x="159492" y="4471812"/>
                </a:lnTo>
                <a:lnTo>
                  <a:pt x="133203" y="4434632"/>
                </a:lnTo>
                <a:lnTo>
                  <a:pt x="109022" y="4395929"/>
                </a:lnTo>
                <a:lnTo>
                  <a:pt x="87031" y="4355786"/>
                </a:lnTo>
                <a:lnTo>
                  <a:pt x="67315" y="4314289"/>
                </a:lnTo>
                <a:lnTo>
                  <a:pt x="49957" y="4271519"/>
                </a:lnTo>
                <a:lnTo>
                  <a:pt x="35040" y="4227561"/>
                </a:lnTo>
                <a:lnTo>
                  <a:pt x="22648" y="4182498"/>
                </a:lnTo>
                <a:lnTo>
                  <a:pt x="12865" y="4136413"/>
                </a:lnTo>
                <a:lnTo>
                  <a:pt x="5773" y="4089391"/>
                </a:lnTo>
                <a:lnTo>
                  <a:pt x="1457" y="4041514"/>
                </a:lnTo>
                <a:lnTo>
                  <a:pt x="0" y="3992867"/>
                </a:lnTo>
                <a:lnTo>
                  <a:pt x="0" y="798576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872985" y="1840483"/>
            <a:ext cx="120523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30" dirty="0">
                <a:solidFill>
                  <a:srgbClr val="111727"/>
                </a:solidFill>
                <a:latin typeface="Calibri"/>
                <a:cs typeface="Calibri"/>
              </a:rPr>
              <a:t>Your</a:t>
            </a:r>
            <a:r>
              <a:rPr sz="1600" b="1" spc="-5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plan</a:t>
            </a:r>
            <a:r>
              <a:rPr sz="1600" b="1" spc="-2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11727"/>
                </a:solidFill>
                <a:latin typeface="Calibri"/>
                <a:cs typeface="Calibri"/>
              </a:rPr>
              <a:t>(fill)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67805" y="3105734"/>
            <a:ext cx="88074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Why</a:t>
            </a:r>
            <a:r>
              <a:rPr sz="1300" b="1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this</a:t>
            </a:r>
            <a:r>
              <a:rPr sz="1300" b="1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4A5462"/>
                </a:solidFill>
                <a:latin typeface="Calibri"/>
                <a:cs typeface="Calibri"/>
              </a:rPr>
              <a:t>fits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059168" y="3574770"/>
            <a:ext cx="4694499" cy="633658"/>
          </a:xfrm>
          <a:custGeom>
            <a:avLst/>
            <a:gdLst/>
            <a:ahLst/>
            <a:cxnLst/>
            <a:rect l="l" t="t" r="r" b="b"/>
            <a:pathLst>
              <a:path w="4462780" h="402589">
                <a:moveTo>
                  <a:pt x="0" y="402336"/>
                </a:moveTo>
                <a:lnTo>
                  <a:pt x="4462272" y="402336"/>
                </a:lnTo>
                <a:lnTo>
                  <a:pt x="4462272" y="0"/>
                </a:lnTo>
                <a:lnTo>
                  <a:pt x="0" y="0"/>
                </a:lnTo>
                <a:lnTo>
                  <a:pt x="0" y="402336"/>
                </a:lnTo>
                <a:close/>
              </a:path>
            </a:pathLst>
          </a:custGeom>
          <a:ln w="12191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r>
              <a:rPr lang="en-IN" sz="1100" dirty="0"/>
              <a:t>Our first version will be a working web prototype where hospitals can log in securely, search for nearby donors, and see verified, immutable blood donor information along with their real-time eligibility status.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127241" y="3874134"/>
            <a:ext cx="5137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v1</a:t>
            </a:r>
            <a:r>
              <a:rPr sz="1300" b="1" spc="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4A5462"/>
                </a:solidFill>
                <a:latin typeface="Calibri"/>
                <a:cs typeface="Calibri"/>
              </a:rPr>
              <a:t>goal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21198" y="4349118"/>
            <a:ext cx="4531063" cy="849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dirty="0"/>
              <a:t>To do this, we’ll integrate:</a:t>
            </a:r>
          </a:p>
          <a:p>
            <a:r>
              <a:rPr lang="en-IN" sz="1100" dirty="0"/>
              <a:t>Secure authentication</a:t>
            </a:r>
          </a:p>
          <a:p>
            <a:r>
              <a:rPr lang="en-IN" sz="1100" dirty="0"/>
              <a:t>A donor database that stores trusted, </a:t>
            </a:r>
            <a:r>
              <a:rPr lang="en-IN" sz="1100" dirty="0" err="1"/>
              <a:t>uneditable</a:t>
            </a:r>
            <a:r>
              <a:rPr lang="en-IN" sz="1100" dirty="0"/>
              <a:t> records</a:t>
            </a:r>
          </a:p>
          <a:p>
            <a:r>
              <a:rPr lang="en-IN" sz="1100" dirty="0"/>
              <a:t>A real-time availability system</a:t>
            </a:r>
          </a:p>
          <a:p>
            <a:pPr>
              <a:lnSpc>
                <a:spcPts val="1325"/>
              </a:lnSpc>
            </a:pPr>
            <a:endParaRPr sz="14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38540" y="2578340"/>
            <a:ext cx="4693340" cy="682878"/>
          </a:xfrm>
          <a:prstGeom prst="rect">
            <a:avLst/>
          </a:prstGeom>
          <a:ln w="12192">
            <a:solidFill>
              <a:srgbClr val="E4E7EB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90805" marR="213995">
              <a:lnSpc>
                <a:spcPct val="100000"/>
              </a:lnSpc>
              <a:spcBef>
                <a:spcPts val="284"/>
              </a:spcBef>
            </a:pPr>
            <a:r>
              <a:rPr lang="en-US" sz="1400" dirty="0">
                <a:latin typeface="Calibri"/>
                <a:cs typeface="Calibri"/>
              </a:rPr>
              <a:t>This fits because our biggest risk is proving secure, real-time technical integration, making a works-like functional prototype the best way to validate the core system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86094" y="4239230"/>
            <a:ext cx="5193030" cy="199136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063625">
              <a:lnSpc>
                <a:spcPct val="100000"/>
              </a:lnSpc>
              <a:spcBef>
                <a:spcPts val="505"/>
              </a:spcBef>
            </a:pP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Integrations</a:t>
            </a:r>
            <a:endParaRPr sz="1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300" dirty="0">
              <a:latin typeface="Calibri"/>
              <a:cs typeface="Calibri"/>
            </a:endParaRPr>
          </a:p>
          <a:p>
            <a:pPr marL="76835">
              <a:lnSpc>
                <a:spcPct val="100000"/>
              </a:lnSpc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Definition</a:t>
            </a:r>
            <a:r>
              <a:rPr sz="1300" b="1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4A5462"/>
                </a:solidFill>
                <a:latin typeface="Calibri"/>
                <a:cs typeface="Calibri"/>
              </a:rPr>
              <a:t>of</a:t>
            </a:r>
            <a:endParaRPr sz="1300" dirty="0">
              <a:latin typeface="Calibri"/>
              <a:cs typeface="Calibri"/>
            </a:endParaRPr>
          </a:p>
          <a:p>
            <a:pPr marL="76835">
              <a:lnSpc>
                <a:spcPct val="100000"/>
              </a:lnSpc>
              <a:spcBef>
                <a:spcPts val="5"/>
              </a:spcBef>
            </a:pPr>
            <a:r>
              <a:rPr sz="1300" b="1" spc="-20" dirty="0">
                <a:solidFill>
                  <a:srgbClr val="4A5462"/>
                </a:solidFill>
                <a:latin typeface="Calibri"/>
                <a:cs typeface="Calibri"/>
              </a:rPr>
              <a:t>Done</a:t>
            </a:r>
            <a:endParaRPr sz="1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300" dirty="0">
              <a:latin typeface="Calibri"/>
              <a:cs typeface="Calibri"/>
            </a:endParaRPr>
          </a:p>
          <a:p>
            <a:pPr marL="76835">
              <a:lnSpc>
                <a:spcPct val="100000"/>
              </a:lnSpc>
            </a:pP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Validation</a:t>
            </a:r>
            <a:endParaRPr sz="1300" dirty="0">
              <a:latin typeface="Calibri"/>
              <a:cs typeface="Calibri"/>
            </a:endParaRPr>
          </a:p>
          <a:p>
            <a:pPr marL="76835">
              <a:lnSpc>
                <a:spcPct val="100000"/>
              </a:lnSpc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+</a:t>
            </a:r>
            <a:r>
              <a:rPr sz="1300" b="1" spc="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metrics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135368" y="5257340"/>
            <a:ext cx="4752340" cy="1221793"/>
            <a:chOff x="7135368" y="5699759"/>
            <a:chExt cx="4392295" cy="399415"/>
          </a:xfrm>
        </p:grpSpPr>
        <p:sp>
          <p:nvSpPr>
            <p:cNvPr id="43" name="object 43"/>
            <p:cNvSpPr/>
            <p:nvPr/>
          </p:nvSpPr>
          <p:spPr>
            <a:xfrm>
              <a:off x="7141464" y="5705855"/>
              <a:ext cx="4380230" cy="387350"/>
            </a:xfrm>
            <a:custGeom>
              <a:avLst/>
              <a:gdLst/>
              <a:ahLst/>
              <a:cxnLst/>
              <a:rect l="l" t="t" r="r" b="b"/>
              <a:pathLst>
                <a:path w="4380230" h="387350">
                  <a:moveTo>
                    <a:pt x="4379976" y="0"/>
                  </a:moveTo>
                  <a:lnTo>
                    <a:pt x="0" y="0"/>
                  </a:lnTo>
                  <a:lnTo>
                    <a:pt x="0" y="387096"/>
                  </a:lnTo>
                  <a:lnTo>
                    <a:pt x="4379976" y="387096"/>
                  </a:lnTo>
                  <a:lnTo>
                    <a:pt x="43799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41464" y="5705855"/>
              <a:ext cx="4380230" cy="387350"/>
            </a:xfrm>
            <a:custGeom>
              <a:avLst/>
              <a:gdLst/>
              <a:ahLst/>
              <a:cxnLst/>
              <a:rect l="l" t="t" r="r" b="b"/>
              <a:pathLst>
                <a:path w="4380230" h="387350">
                  <a:moveTo>
                    <a:pt x="0" y="387096"/>
                  </a:moveTo>
                  <a:lnTo>
                    <a:pt x="4379976" y="387096"/>
                  </a:lnTo>
                  <a:lnTo>
                    <a:pt x="4379976" y="0"/>
                  </a:lnTo>
                  <a:lnTo>
                    <a:pt x="0" y="0"/>
                  </a:lnTo>
                  <a:lnTo>
                    <a:pt x="0" y="387096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0" y="6565391"/>
            <a:ext cx="12192000" cy="292735"/>
          </a:xfrm>
          <a:custGeom>
            <a:avLst/>
            <a:gdLst/>
            <a:ahLst/>
            <a:cxnLst/>
            <a:rect l="l" t="t" r="r" b="b"/>
            <a:pathLst>
              <a:path w="12192000" h="292734">
                <a:moveTo>
                  <a:pt x="0" y="292608"/>
                </a:moveTo>
                <a:lnTo>
                  <a:pt x="12192000" y="292608"/>
                </a:lnTo>
                <a:lnTo>
                  <a:pt x="12192000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180"/>
              </a:lnSpc>
            </a:pPr>
            <a:r>
              <a:rPr spc="-10" dirty="0"/>
              <a:t>8/23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138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5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Stage</a:t>
            </a:r>
            <a:r>
              <a:rPr spc="1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Submission</a:t>
            </a:r>
            <a:r>
              <a:rPr spc="-55" dirty="0"/>
              <a:t> </a:t>
            </a:r>
            <a:r>
              <a:rPr spc="-20" dirty="0"/>
              <a:t>Deck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C6C88A-CDF3-B155-ADD8-97A8B8E8FC15}"/>
              </a:ext>
            </a:extLst>
          </p:cNvPr>
          <p:cNvSpPr txBox="1"/>
          <p:nvPr/>
        </p:nvSpPr>
        <p:spPr>
          <a:xfrm>
            <a:off x="416814" y="2413337"/>
            <a:ext cx="53035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“We chose Option A because our biggest risk right now is technical feasibility, not design.</a:t>
            </a:r>
          </a:p>
          <a:p>
            <a:r>
              <a:rPr lang="en-US" dirty="0"/>
              <a:t>For our solution to work in real hospitals, we must prove that the whole system can run end-to-end — things like secure login, donor verification, database integration, and real-time availability must all function correctly.”</a:t>
            </a:r>
          </a:p>
          <a:p>
            <a:r>
              <a:rPr lang="en-US" dirty="0"/>
              <a:t>We also care about performance metrics:</a:t>
            </a:r>
          </a:p>
          <a:p>
            <a:r>
              <a:rPr lang="en-US" dirty="0"/>
              <a:t>How accurate is the donor data?</a:t>
            </a:r>
          </a:p>
          <a:p>
            <a:r>
              <a:rPr lang="en-US" dirty="0"/>
              <a:t>How fast can the system return matching donors?</a:t>
            </a:r>
          </a:p>
          <a:p>
            <a:r>
              <a:rPr lang="en-US" dirty="0"/>
              <a:t>Can the authentication and search flow work reliably?</a:t>
            </a:r>
            <a:endParaRPr lang="en-I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F62BEC-A0CD-4169-8843-9B995D531FD8}"/>
              </a:ext>
            </a:extLst>
          </p:cNvPr>
          <p:cNvSpPr txBox="1"/>
          <p:nvPr/>
        </p:nvSpPr>
        <p:spPr>
          <a:xfrm>
            <a:off x="7141463" y="5291755"/>
            <a:ext cx="459041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Hospitals can authenticate without issues</a:t>
            </a:r>
          </a:p>
          <a:p>
            <a:r>
              <a:rPr lang="en-IN" sz="1100" dirty="0"/>
              <a:t>Verified donor data displays correctly and cannot be changed</a:t>
            </a:r>
          </a:p>
          <a:p>
            <a:r>
              <a:rPr lang="en-IN" sz="1100" dirty="0"/>
              <a:t>Donor search results appear with acceptable speed</a:t>
            </a:r>
          </a:p>
          <a:p>
            <a:r>
              <a:rPr lang="en-IN" sz="1100" dirty="0"/>
              <a:t>Real-time availability updates correctly show who is eligible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9964E9-61C9-245A-AF83-7925376D89D4}"/>
              </a:ext>
            </a:extLst>
          </p:cNvPr>
          <p:cNvSpPr txBox="1"/>
          <p:nvPr/>
        </p:nvSpPr>
        <p:spPr>
          <a:xfrm>
            <a:off x="6872985" y="6091921"/>
            <a:ext cx="494634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We will validate that the system accurately displays verified donor data and returns matching donors with acceptable speed. Successful end-to-end hospital workflows without manual fixes will confirm technical feasibility</a:t>
            </a:r>
            <a:r>
              <a:rPr lang="en-US" sz="1000" dirty="0"/>
              <a:t>.</a:t>
            </a:r>
            <a:endParaRPr lang="en-IN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5"/>
            <a:ext cx="12204700" cy="579120"/>
            <a:chOff x="-6095" y="-6095"/>
            <a:chExt cx="12204700" cy="57912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567055"/>
            </a:xfrm>
            <a:custGeom>
              <a:avLst/>
              <a:gdLst/>
              <a:ahLst/>
              <a:cxnLst/>
              <a:rect l="l" t="t" r="r" b="b"/>
              <a:pathLst>
                <a:path w="12045950" h="567055">
                  <a:moveTo>
                    <a:pt x="0" y="566927"/>
                  </a:moveTo>
                  <a:lnTo>
                    <a:pt x="12045696" y="566927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567055"/>
            </a:xfrm>
            <a:custGeom>
              <a:avLst/>
              <a:gdLst/>
              <a:ahLst/>
              <a:cxnLst/>
              <a:rect l="l" t="t" r="r" b="b"/>
              <a:pathLst>
                <a:path w="12192000" h="567055">
                  <a:moveTo>
                    <a:pt x="0" y="566927"/>
                  </a:moveTo>
                  <a:lnTo>
                    <a:pt x="12192000" y="5669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146304" y="566927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7"/>
                  </a:moveTo>
                  <a:lnTo>
                    <a:pt x="146304" y="566927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805796" y="141223"/>
            <a:ext cx="17176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9" name="object 9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9353"/>
            <a:ext cx="772668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111727"/>
                </a:solidFill>
              </a:rPr>
              <a:t>Prototype</a:t>
            </a:r>
            <a:r>
              <a:rPr sz="3200" spc="-9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Scope,</a:t>
            </a:r>
            <a:r>
              <a:rPr sz="3200" spc="-110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Requirements</a:t>
            </a:r>
            <a:r>
              <a:rPr sz="3200" spc="-6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&amp;</a:t>
            </a:r>
            <a:r>
              <a:rPr sz="3200" spc="-120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Constraints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671880" y="1454023"/>
            <a:ext cx="50095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Define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what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you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WILL</a:t>
            </a:r>
            <a:r>
              <a:rPr sz="1600" spc="-6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build,</a:t>
            </a:r>
            <a:r>
              <a:rPr sz="16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what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you</a:t>
            </a:r>
            <a:r>
              <a:rPr sz="1600" spc="-2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WON’T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(for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now).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7568" y="1929129"/>
            <a:ext cx="5669915" cy="4563745"/>
            <a:chOff x="457568" y="1929129"/>
            <a:chExt cx="5669915" cy="456374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568" y="1930044"/>
              <a:ext cx="5669570" cy="45628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2439" y="1935479"/>
              <a:ext cx="5623560" cy="4526280"/>
            </a:xfrm>
            <a:custGeom>
              <a:avLst/>
              <a:gdLst/>
              <a:ahLst/>
              <a:cxnLst/>
              <a:rect l="l" t="t" r="r" b="b"/>
              <a:pathLst>
                <a:path w="5623560" h="4526280">
                  <a:moveTo>
                    <a:pt x="4869180" y="0"/>
                  </a:moveTo>
                  <a:lnTo>
                    <a:pt x="754392" y="0"/>
                  </a:lnTo>
                  <a:lnTo>
                    <a:pt x="706684" y="1483"/>
                  </a:lnTo>
                  <a:lnTo>
                    <a:pt x="659763" y="5876"/>
                  </a:lnTo>
                  <a:lnTo>
                    <a:pt x="613720" y="13090"/>
                  </a:lnTo>
                  <a:lnTo>
                    <a:pt x="568642" y="23036"/>
                  </a:lnTo>
                  <a:lnTo>
                    <a:pt x="524618" y="35626"/>
                  </a:lnTo>
                  <a:lnTo>
                    <a:pt x="481735" y="50771"/>
                  </a:lnTo>
                  <a:lnTo>
                    <a:pt x="440083" y="68384"/>
                  </a:lnTo>
                  <a:lnTo>
                    <a:pt x="399750" y="88376"/>
                  </a:lnTo>
                  <a:lnTo>
                    <a:pt x="360824" y="110659"/>
                  </a:lnTo>
                  <a:lnTo>
                    <a:pt x="323393" y="135144"/>
                  </a:lnTo>
                  <a:lnTo>
                    <a:pt x="287546" y="161744"/>
                  </a:lnTo>
                  <a:lnTo>
                    <a:pt x="253371" y="190369"/>
                  </a:lnTo>
                  <a:lnTo>
                    <a:pt x="220957" y="220932"/>
                  </a:lnTo>
                  <a:lnTo>
                    <a:pt x="190392" y="253344"/>
                  </a:lnTo>
                  <a:lnTo>
                    <a:pt x="161764" y="287517"/>
                  </a:lnTo>
                  <a:lnTo>
                    <a:pt x="135162" y="323362"/>
                  </a:lnTo>
                  <a:lnTo>
                    <a:pt x="110675" y="360792"/>
                  </a:lnTo>
                  <a:lnTo>
                    <a:pt x="88389" y="399718"/>
                  </a:lnTo>
                  <a:lnTo>
                    <a:pt x="68395" y="440051"/>
                  </a:lnTo>
                  <a:lnTo>
                    <a:pt x="50779" y="481704"/>
                  </a:lnTo>
                  <a:lnTo>
                    <a:pt x="35631" y="524587"/>
                  </a:lnTo>
                  <a:lnTo>
                    <a:pt x="23040" y="568613"/>
                  </a:lnTo>
                  <a:lnTo>
                    <a:pt x="13092" y="613694"/>
                  </a:lnTo>
                  <a:lnTo>
                    <a:pt x="5877" y="659741"/>
                  </a:lnTo>
                  <a:lnTo>
                    <a:pt x="1484" y="706666"/>
                  </a:lnTo>
                  <a:lnTo>
                    <a:pt x="0" y="754380"/>
                  </a:lnTo>
                  <a:lnTo>
                    <a:pt x="0" y="3771887"/>
                  </a:lnTo>
                  <a:lnTo>
                    <a:pt x="1484" y="3819595"/>
                  </a:lnTo>
                  <a:lnTo>
                    <a:pt x="5877" y="3866516"/>
                  </a:lnTo>
                  <a:lnTo>
                    <a:pt x="13092" y="3912559"/>
                  </a:lnTo>
                  <a:lnTo>
                    <a:pt x="23040" y="3957637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5" y="4086196"/>
                  </a:lnTo>
                  <a:lnTo>
                    <a:pt x="88389" y="4126529"/>
                  </a:lnTo>
                  <a:lnTo>
                    <a:pt x="110675" y="4165455"/>
                  </a:lnTo>
                  <a:lnTo>
                    <a:pt x="135162" y="4202886"/>
                  </a:lnTo>
                  <a:lnTo>
                    <a:pt x="161764" y="4238733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3" y="4391117"/>
                  </a:lnTo>
                  <a:lnTo>
                    <a:pt x="360824" y="4415604"/>
                  </a:lnTo>
                  <a:lnTo>
                    <a:pt x="399750" y="4437890"/>
                  </a:lnTo>
                  <a:lnTo>
                    <a:pt x="440083" y="4457884"/>
                  </a:lnTo>
                  <a:lnTo>
                    <a:pt x="481735" y="4475500"/>
                  </a:lnTo>
                  <a:lnTo>
                    <a:pt x="524618" y="4490648"/>
                  </a:lnTo>
                  <a:lnTo>
                    <a:pt x="568642" y="4503239"/>
                  </a:lnTo>
                  <a:lnTo>
                    <a:pt x="613720" y="4513187"/>
                  </a:lnTo>
                  <a:lnTo>
                    <a:pt x="659763" y="4520402"/>
                  </a:lnTo>
                  <a:lnTo>
                    <a:pt x="706684" y="4524795"/>
                  </a:lnTo>
                  <a:lnTo>
                    <a:pt x="754392" y="4526280"/>
                  </a:lnTo>
                  <a:lnTo>
                    <a:pt x="4869180" y="4526280"/>
                  </a:lnTo>
                  <a:lnTo>
                    <a:pt x="4916893" y="4524795"/>
                  </a:lnTo>
                  <a:lnTo>
                    <a:pt x="4963818" y="4520402"/>
                  </a:lnTo>
                  <a:lnTo>
                    <a:pt x="5009865" y="4513187"/>
                  </a:lnTo>
                  <a:lnTo>
                    <a:pt x="5054946" y="4503239"/>
                  </a:lnTo>
                  <a:lnTo>
                    <a:pt x="5098972" y="4490648"/>
                  </a:lnTo>
                  <a:lnTo>
                    <a:pt x="5141855" y="4475500"/>
                  </a:lnTo>
                  <a:lnTo>
                    <a:pt x="5183508" y="4457884"/>
                  </a:lnTo>
                  <a:lnTo>
                    <a:pt x="5223841" y="4437890"/>
                  </a:lnTo>
                  <a:lnTo>
                    <a:pt x="5262767" y="4415604"/>
                  </a:lnTo>
                  <a:lnTo>
                    <a:pt x="5300197" y="4391117"/>
                  </a:lnTo>
                  <a:lnTo>
                    <a:pt x="5336042" y="4364515"/>
                  </a:lnTo>
                  <a:lnTo>
                    <a:pt x="5370215" y="4335887"/>
                  </a:lnTo>
                  <a:lnTo>
                    <a:pt x="5402627" y="4305322"/>
                  </a:lnTo>
                  <a:lnTo>
                    <a:pt x="5433190" y="4272908"/>
                  </a:lnTo>
                  <a:lnTo>
                    <a:pt x="5461815" y="4238733"/>
                  </a:lnTo>
                  <a:lnTo>
                    <a:pt x="5488415" y="4202886"/>
                  </a:lnTo>
                  <a:lnTo>
                    <a:pt x="5512900" y="4165455"/>
                  </a:lnTo>
                  <a:lnTo>
                    <a:pt x="5535183" y="4126529"/>
                  </a:lnTo>
                  <a:lnTo>
                    <a:pt x="5555175" y="4086196"/>
                  </a:lnTo>
                  <a:lnTo>
                    <a:pt x="5572788" y="4044544"/>
                  </a:lnTo>
                  <a:lnTo>
                    <a:pt x="5587933" y="4001661"/>
                  </a:lnTo>
                  <a:lnTo>
                    <a:pt x="5600523" y="3957637"/>
                  </a:lnTo>
                  <a:lnTo>
                    <a:pt x="5610469" y="3912559"/>
                  </a:lnTo>
                  <a:lnTo>
                    <a:pt x="5617683" y="3866516"/>
                  </a:lnTo>
                  <a:lnTo>
                    <a:pt x="5622076" y="3819595"/>
                  </a:lnTo>
                  <a:lnTo>
                    <a:pt x="5623560" y="3771887"/>
                  </a:lnTo>
                  <a:lnTo>
                    <a:pt x="5623560" y="754380"/>
                  </a:lnTo>
                  <a:lnTo>
                    <a:pt x="5622076" y="706666"/>
                  </a:lnTo>
                  <a:lnTo>
                    <a:pt x="5617683" y="659741"/>
                  </a:lnTo>
                  <a:lnTo>
                    <a:pt x="5610469" y="613694"/>
                  </a:lnTo>
                  <a:lnTo>
                    <a:pt x="5600523" y="568613"/>
                  </a:lnTo>
                  <a:lnTo>
                    <a:pt x="5587933" y="524587"/>
                  </a:lnTo>
                  <a:lnTo>
                    <a:pt x="5572788" y="481704"/>
                  </a:lnTo>
                  <a:lnTo>
                    <a:pt x="5555175" y="440051"/>
                  </a:lnTo>
                  <a:lnTo>
                    <a:pt x="5535183" y="399718"/>
                  </a:lnTo>
                  <a:lnTo>
                    <a:pt x="5512900" y="360792"/>
                  </a:lnTo>
                  <a:lnTo>
                    <a:pt x="5488415" y="323362"/>
                  </a:lnTo>
                  <a:lnTo>
                    <a:pt x="5461815" y="287517"/>
                  </a:lnTo>
                  <a:lnTo>
                    <a:pt x="5433190" y="253344"/>
                  </a:lnTo>
                  <a:lnTo>
                    <a:pt x="5402627" y="220932"/>
                  </a:lnTo>
                  <a:lnTo>
                    <a:pt x="5370215" y="190369"/>
                  </a:lnTo>
                  <a:lnTo>
                    <a:pt x="5336042" y="161744"/>
                  </a:lnTo>
                  <a:lnTo>
                    <a:pt x="5300197" y="135144"/>
                  </a:lnTo>
                  <a:lnTo>
                    <a:pt x="5262767" y="110659"/>
                  </a:lnTo>
                  <a:lnTo>
                    <a:pt x="5223841" y="88376"/>
                  </a:lnTo>
                  <a:lnTo>
                    <a:pt x="5183508" y="68384"/>
                  </a:lnTo>
                  <a:lnTo>
                    <a:pt x="5141855" y="50771"/>
                  </a:lnTo>
                  <a:lnTo>
                    <a:pt x="5098972" y="35626"/>
                  </a:lnTo>
                  <a:lnTo>
                    <a:pt x="5054946" y="23036"/>
                  </a:lnTo>
                  <a:lnTo>
                    <a:pt x="5009865" y="13090"/>
                  </a:lnTo>
                  <a:lnTo>
                    <a:pt x="4963818" y="5876"/>
                  </a:lnTo>
                  <a:lnTo>
                    <a:pt x="4916893" y="1483"/>
                  </a:lnTo>
                  <a:lnTo>
                    <a:pt x="48691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2439" y="1935479"/>
              <a:ext cx="5623560" cy="4526280"/>
            </a:xfrm>
            <a:custGeom>
              <a:avLst/>
              <a:gdLst/>
              <a:ahLst/>
              <a:cxnLst/>
              <a:rect l="l" t="t" r="r" b="b"/>
              <a:pathLst>
                <a:path w="5623560" h="4526280">
                  <a:moveTo>
                    <a:pt x="0" y="754380"/>
                  </a:moveTo>
                  <a:lnTo>
                    <a:pt x="1484" y="706666"/>
                  </a:lnTo>
                  <a:lnTo>
                    <a:pt x="5877" y="659741"/>
                  </a:lnTo>
                  <a:lnTo>
                    <a:pt x="13092" y="613694"/>
                  </a:lnTo>
                  <a:lnTo>
                    <a:pt x="23040" y="568613"/>
                  </a:lnTo>
                  <a:lnTo>
                    <a:pt x="35631" y="524587"/>
                  </a:lnTo>
                  <a:lnTo>
                    <a:pt x="50779" y="481704"/>
                  </a:lnTo>
                  <a:lnTo>
                    <a:pt x="68395" y="440051"/>
                  </a:lnTo>
                  <a:lnTo>
                    <a:pt x="88389" y="399718"/>
                  </a:lnTo>
                  <a:lnTo>
                    <a:pt x="110675" y="360792"/>
                  </a:lnTo>
                  <a:lnTo>
                    <a:pt x="135162" y="323362"/>
                  </a:lnTo>
                  <a:lnTo>
                    <a:pt x="161764" y="287517"/>
                  </a:lnTo>
                  <a:lnTo>
                    <a:pt x="190392" y="253344"/>
                  </a:lnTo>
                  <a:lnTo>
                    <a:pt x="220957" y="220932"/>
                  </a:lnTo>
                  <a:lnTo>
                    <a:pt x="253371" y="190369"/>
                  </a:lnTo>
                  <a:lnTo>
                    <a:pt x="287546" y="161744"/>
                  </a:lnTo>
                  <a:lnTo>
                    <a:pt x="323393" y="135144"/>
                  </a:lnTo>
                  <a:lnTo>
                    <a:pt x="360824" y="110659"/>
                  </a:lnTo>
                  <a:lnTo>
                    <a:pt x="399750" y="88376"/>
                  </a:lnTo>
                  <a:lnTo>
                    <a:pt x="440083" y="68384"/>
                  </a:lnTo>
                  <a:lnTo>
                    <a:pt x="481735" y="50771"/>
                  </a:lnTo>
                  <a:lnTo>
                    <a:pt x="524618" y="35626"/>
                  </a:lnTo>
                  <a:lnTo>
                    <a:pt x="568642" y="23036"/>
                  </a:lnTo>
                  <a:lnTo>
                    <a:pt x="613720" y="13090"/>
                  </a:lnTo>
                  <a:lnTo>
                    <a:pt x="659763" y="5876"/>
                  </a:lnTo>
                  <a:lnTo>
                    <a:pt x="706684" y="1483"/>
                  </a:lnTo>
                  <a:lnTo>
                    <a:pt x="754392" y="0"/>
                  </a:lnTo>
                  <a:lnTo>
                    <a:pt x="4869180" y="0"/>
                  </a:lnTo>
                  <a:lnTo>
                    <a:pt x="4916893" y="1483"/>
                  </a:lnTo>
                  <a:lnTo>
                    <a:pt x="4963818" y="5876"/>
                  </a:lnTo>
                  <a:lnTo>
                    <a:pt x="5009865" y="13090"/>
                  </a:lnTo>
                  <a:lnTo>
                    <a:pt x="5054946" y="23036"/>
                  </a:lnTo>
                  <a:lnTo>
                    <a:pt x="5098972" y="35626"/>
                  </a:lnTo>
                  <a:lnTo>
                    <a:pt x="5141855" y="50771"/>
                  </a:lnTo>
                  <a:lnTo>
                    <a:pt x="5183508" y="68384"/>
                  </a:lnTo>
                  <a:lnTo>
                    <a:pt x="5223841" y="88376"/>
                  </a:lnTo>
                  <a:lnTo>
                    <a:pt x="5262767" y="110659"/>
                  </a:lnTo>
                  <a:lnTo>
                    <a:pt x="5300197" y="135144"/>
                  </a:lnTo>
                  <a:lnTo>
                    <a:pt x="5336042" y="161744"/>
                  </a:lnTo>
                  <a:lnTo>
                    <a:pt x="5370215" y="190369"/>
                  </a:lnTo>
                  <a:lnTo>
                    <a:pt x="5402627" y="220932"/>
                  </a:lnTo>
                  <a:lnTo>
                    <a:pt x="5433190" y="253344"/>
                  </a:lnTo>
                  <a:lnTo>
                    <a:pt x="5461815" y="287517"/>
                  </a:lnTo>
                  <a:lnTo>
                    <a:pt x="5488415" y="323362"/>
                  </a:lnTo>
                  <a:lnTo>
                    <a:pt x="5512900" y="360792"/>
                  </a:lnTo>
                  <a:lnTo>
                    <a:pt x="5535183" y="399718"/>
                  </a:lnTo>
                  <a:lnTo>
                    <a:pt x="5555175" y="440051"/>
                  </a:lnTo>
                  <a:lnTo>
                    <a:pt x="5572788" y="481704"/>
                  </a:lnTo>
                  <a:lnTo>
                    <a:pt x="5587933" y="524587"/>
                  </a:lnTo>
                  <a:lnTo>
                    <a:pt x="5600523" y="568613"/>
                  </a:lnTo>
                  <a:lnTo>
                    <a:pt x="5610469" y="613694"/>
                  </a:lnTo>
                  <a:lnTo>
                    <a:pt x="5617683" y="659741"/>
                  </a:lnTo>
                  <a:lnTo>
                    <a:pt x="5622076" y="706666"/>
                  </a:lnTo>
                  <a:lnTo>
                    <a:pt x="5623560" y="754380"/>
                  </a:lnTo>
                  <a:lnTo>
                    <a:pt x="5623560" y="3771887"/>
                  </a:lnTo>
                  <a:lnTo>
                    <a:pt x="5622076" y="3819595"/>
                  </a:lnTo>
                  <a:lnTo>
                    <a:pt x="5617683" y="3866516"/>
                  </a:lnTo>
                  <a:lnTo>
                    <a:pt x="5610469" y="3912559"/>
                  </a:lnTo>
                  <a:lnTo>
                    <a:pt x="5600523" y="3957637"/>
                  </a:lnTo>
                  <a:lnTo>
                    <a:pt x="5587933" y="4001661"/>
                  </a:lnTo>
                  <a:lnTo>
                    <a:pt x="5572788" y="4044544"/>
                  </a:lnTo>
                  <a:lnTo>
                    <a:pt x="5555175" y="4086196"/>
                  </a:lnTo>
                  <a:lnTo>
                    <a:pt x="5535183" y="4126529"/>
                  </a:lnTo>
                  <a:lnTo>
                    <a:pt x="5512900" y="4165455"/>
                  </a:lnTo>
                  <a:lnTo>
                    <a:pt x="5488415" y="4202886"/>
                  </a:lnTo>
                  <a:lnTo>
                    <a:pt x="5461815" y="4238733"/>
                  </a:lnTo>
                  <a:lnTo>
                    <a:pt x="5433190" y="4272908"/>
                  </a:lnTo>
                  <a:lnTo>
                    <a:pt x="5402627" y="4305322"/>
                  </a:lnTo>
                  <a:lnTo>
                    <a:pt x="5370215" y="4335887"/>
                  </a:lnTo>
                  <a:lnTo>
                    <a:pt x="5336042" y="4364515"/>
                  </a:lnTo>
                  <a:lnTo>
                    <a:pt x="5300197" y="4391117"/>
                  </a:lnTo>
                  <a:lnTo>
                    <a:pt x="5262767" y="4415604"/>
                  </a:lnTo>
                  <a:lnTo>
                    <a:pt x="5223841" y="4437890"/>
                  </a:lnTo>
                  <a:lnTo>
                    <a:pt x="5183508" y="4457884"/>
                  </a:lnTo>
                  <a:lnTo>
                    <a:pt x="5141855" y="4475500"/>
                  </a:lnTo>
                  <a:lnTo>
                    <a:pt x="5098972" y="4490648"/>
                  </a:lnTo>
                  <a:lnTo>
                    <a:pt x="5054946" y="4503239"/>
                  </a:lnTo>
                  <a:lnTo>
                    <a:pt x="5009865" y="4513187"/>
                  </a:lnTo>
                  <a:lnTo>
                    <a:pt x="4963818" y="4520402"/>
                  </a:lnTo>
                  <a:lnTo>
                    <a:pt x="4916893" y="4524795"/>
                  </a:lnTo>
                  <a:lnTo>
                    <a:pt x="4869180" y="4526280"/>
                  </a:lnTo>
                  <a:lnTo>
                    <a:pt x="754392" y="4526280"/>
                  </a:lnTo>
                  <a:lnTo>
                    <a:pt x="706684" y="4524795"/>
                  </a:lnTo>
                  <a:lnTo>
                    <a:pt x="659763" y="4520402"/>
                  </a:lnTo>
                  <a:lnTo>
                    <a:pt x="613720" y="4513187"/>
                  </a:lnTo>
                  <a:lnTo>
                    <a:pt x="568642" y="4503239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4"/>
                  </a:lnTo>
                  <a:lnTo>
                    <a:pt x="399750" y="4437890"/>
                  </a:lnTo>
                  <a:lnTo>
                    <a:pt x="360824" y="4415604"/>
                  </a:lnTo>
                  <a:lnTo>
                    <a:pt x="323393" y="4391117"/>
                  </a:lnTo>
                  <a:lnTo>
                    <a:pt x="287546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3"/>
                  </a:lnTo>
                  <a:lnTo>
                    <a:pt x="135162" y="4202886"/>
                  </a:lnTo>
                  <a:lnTo>
                    <a:pt x="110675" y="4165455"/>
                  </a:lnTo>
                  <a:lnTo>
                    <a:pt x="88389" y="4126529"/>
                  </a:lnTo>
                  <a:lnTo>
                    <a:pt x="68395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40" y="3957637"/>
                  </a:lnTo>
                  <a:lnTo>
                    <a:pt x="13092" y="3912559"/>
                  </a:lnTo>
                  <a:lnTo>
                    <a:pt x="5877" y="3866516"/>
                  </a:lnTo>
                  <a:lnTo>
                    <a:pt x="1484" y="3819595"/>
                  </a:lnTo>
                  <a:lnTo>
                    <a:pt x="0" y="3771887"/>
                  </a:lnTo>
                  <a:lnTo>
                    <a:pt x="0" y="754380"/>
                  </a:lnTo>
                  <a:close/>
                </a:path>
              </a:pathLst>
            </a:custGeom>
            <a:ln w="12191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27912" y="2053208"/>
            <a:ext cx="9118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Scope</a:t>
            </a:r>
            <a:r>
              <a:rPr sz="1600" b="1" spc="-4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11727"/>
                </a:solidFill>
                <a:latin typeface="Calibri"/>
                <a:cs typeface="Calibri"/>
              </a:rPr>
              <a:t>(fill)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1920" y="2705861"/>
            <a:ext cx="5924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In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 scope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55850" y="1944370"/>
            <a:ext cx="3131185" cy="1094740"/>
            <a:chOff x="2355850" y="1944370"/>
            <a:chExt cx="3131185" cy="1094740"/>
          </a:xfrm>
        </p:grpSpPr>
        <p:sp>
          <p:nvSpPr>
            <p:cNvPr id="21" name="object 21"/>
            <p:cNvSpPr/>
            <p:nvPr/>
          </p:nvSpPr>
          <p:spPr>
            <a:xfrm>
              <a:off x="2362200" y="1950720"/>
              <a:ext cx="3118485" cy="1082040"/>
            </a:xfrm>
            <a:custGeom>
              <a:avLst/>
              <a:gdLst/>
              <a:ahLst/>
              <a:cxnLst/>
              <a:rect l="l" t="t" r="r" b="b"/>
              <a:pathLst>
                <a:path w="3118485" h="1082039">
                  <a:moveTo>
                    <a:pt x="3118104" y="0"/>
                  </a:moveTo>
                  <a:lnTo>
                    <a:pt x="0" y="0"/>
                  </a:lnTo>
                  <a:lnTo>
                    <a:pt x="0" y="1082039"/>
                  </a:lnTo>
                  <a:lnTo>
                    <a:pt x="3118104" y="1082039"/>
                  </a:lnTo>
                  <a:lnTo>
                    <a:pt x="3118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62200" y="1950720"/>
              <a:ext cx="3118485" cy="1082040"/>
            </a:xfrm>
            <a:custGeom>
              <a:avLst/>
              <a:gdLst/>
              <a:ahLst/>
              <a:cxnLst/>
              <a:rect l="l" t="t" r="r" b="b"/>
              <a:pathLst>
                <a:path w="3118485" h="1082039">
                  <a:moveTo>
                    <a:pt x="0" y="1082039"/>
                  </a:moveTo>
                  <a:lnTo>
                    <a:pt x="3118104" y="1082039"/>
                  </a:lnTo>
                  <a:lnTo>
                    <a:pt x="3118104" y="0"/>
                  </a:lnTo>
                  <a:lnTo>
                    <a:pt x="0" y="0"/>
                  </a:lnTo>
                  <a:lnTo>
                    <a:pt x="0" y="1082039"/>
                  </a:lnTo>
                  <a:close/>
                </a:path>
              </a:pathLst>
            </a:custGeom>
            <a:ln w="12191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368295" y="1990470"/>
            <a:ext cx="3106420" cy="1094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9570" indent="-286385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369570" algn="l"/>
              </a:tabLst>
            </a:pPr>
            <a:r>
              <a:rPr sz="1300" spc="-10" dirty="0">
                <a:solidFill>
                  <a:srgbClr val="111727"/>
                </a:solidFill>
                <a:latin typeface="Calibri"/>
                <a:cs typeface="Calibri"/>
              </a:rPr>
              <a:t>[</a:t>
            </a:r>
            <a:r>
              <a:rPr sz="1400" spc="-10" dirty="0">
                <a:latin typeface="Arial MT"/>
                <a:cs typeface="Arial MT"/>
              </a:rPr>
              <a:t>Verified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donor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registration</a:t>
            </a:r>
            <a:endParaRPr sz="1400" dirty="0">
              <a:latin typeface="Arial MT"/>
              <a:cs typeface="Arial MT"/>
            </a:endParaRPr>
          </a:p>
          <a:p>
            <a:pPr marL="369570" indent="-286385">
              <a:lnSpc>
                <a:spcPct val="100000"/>
              </a:lnSpc>
              <a:spcBef>
                <a:spcPts val="25"/>
              </a:spcBef>
              <a:buFont typeface="Wingdings"/>
              <a:buChar char=""/>
              <a:tabLst>
                <a:tab pos="369570" algn="l"/>
              </a:tabLst>
            </a:pPr>
            <a:r>
              <a:rPr sz="1400" dirty="0">
                <a:latin typeface="Arial MT"/>
                <a:cs typeface="Arial MT"/>
              </a:rPr>
              <a:t>Hospital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authentication</a:t>
            </a:r>
            <a:endParaRPr sz="1400" dirty="0">
              <a:latin typeface="Arial MT"/>
              <a:cs typeface="Arial MT"/>
            </a:endParaRPr>
          </a:p>
          <a:p>
            <a:pPr marL="369570" indent="-286385">
              <a:lnSpc>
                <a:spcPct val="100000"/>
              </a:lnSpc>
              <a:buFont typeface="Wingdings"/>
              <a:buChar char=""/>
              <a:tabLst>
                <a:tab pos="369570" algn="l"/>
              </a:tabLst>
            </a:pPr>
            <a:r>
              <a:rPr sz="1400" spc="-20" dirty="0">
                <a:latin typeface="Arial MT"/>
                <a:cs typeface="Arial MT"/>
              </a:rPr>
              <a:t>Real-</a:t>
            </a:r>
            <a:r>
              <a:rPr sz="1400" dirty="0">
                <a:latin typeface="Arial MT"/>
                <a:cs typeface="Arial MT"/>
              </a:rPr>
              <a:t>time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donor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availability</a:t>
            </a:r>
            <a:endParaRPr sz="1400" dirty="0">
              <a:latin typeface="Arial MT"/>
              <a:cs typeface="Arial MT"/>
            </a:endParaRPr>
          </a:p>
          <a:p>
            <a:pPr marL="369570" indent="-286385">
              <a:lnSpc>
                <a:spcPct val="100000"/>
              </a:lnSpc>
              <a:buFont typeface="Wingdings"/>
              <a:buChar char=""/>
              <a:tabLst>
                <a:tab pos="369570" algn="l"/>
              </a:tabLst>
            </a:pPr>
            <a:r>
              <a:rPr sz="1400" dirty="0">
                <a:latin typeface="Arial MT"/>
                <a:cs typeface="Arial MT"/>
              </a:rPr>
              <a:t>Blood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compatibility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alerts</a:t>
            </a:r>
            <a:endParaRPr sz="1400" dirty="0">
              <a:latin typeface="Arial MT"/>
              <a:cs typeface="Arial MT"/>
            </a:endParaRPr>
          </a:p>
          <a:p>
            <a:pPr marL="369570" indent="-28638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69570" algn="l"/>
              </a:tabLst>
            </a:pPr>
            <a:r>
              <a:rPr sz="1400" dirty="0">
                <a:latin typeface="Arial MT"/>
                <a:cs typeface="Arial MT"/>
              </a:rPr>
              <a:t>Secure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backend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APIs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1920" y="4388053"/>
            <a:ext cx="8972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Out</a:t>
            </a:r>
            <a:r>
              <a:rPr sz="1300" b="1" spc="-2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of 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scope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55850" y="3056889"/>
            <a:ext cx="3578860" cy="1292860"/>
            <a:chOff x="2355850" y="3056889"/>
            <a:chExt cx="3578860" cy="1292860"/>
          </a:xfrm>
        </p:grpSpPr>
        <p:sp>
          <p:nvSpPr>
            <p:cNvPr id="26" name="object 26"/>
            <p:cNvSpPr/>
            <p:nvPr/>
          </p:nvSpPr>
          <p:spPr>
            <a:xfrm>
              <a:off x="2362200" y="3063239"/>
              <a:ext cx="3566160" cy="1280160"/>
            </a:xfrm>
            <a:custGeom>
              <a:avLst/>
              <a:gdLst/>
              <a:ahLst/>
              <a:cxnLst/>
              <a:rect l="l" t="t" r="r" b="b"/>
              <a:pathLst>
                <a:path w="3566160" h="1280160">
                  <a:moveTo>
                    <a:pt x="3566160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3566160" y="1280160"/>
                  </a:lnTo>
                  <a:lnTo>
                    <a:pt x="3566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62200" y="3063239"/>
              <a:ext cx="3566160" cy="1280160"/>
            </a:xfrm>
            <a:custGeom>
              <a:avLst/>
              <a:gdLst/>
              <a:ahLst/>
              <a:cxnLst/>
              <a:rect l="l" t="t" r="r" b="b"/>
              <a:pathLst>
                <a:path w="3566160" h="1280160">
                  <a:moveTo>
                    <a:pt x="0" y="1280160"/>
                  </a:moveTo>
                  <a:lnTo>
                    <a:pt x="3566160" y="1280160"/>
                  </a:lnTo>
                  <a:lnTo>
                    <a:pt x="3566160" y="0"/>
                  </a:lnTo>
                  <a:lnTo>
                    <a:pt x="0" y="0"/>
                  </a:lnTo>
                  <a:lnTo>
                    <a:pt x="0" y="1280160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39161" y="3082798"/>
            <a:ext cx="2750185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8450" algn="l"/>
              </a:tabLst>
            </a:pPr>
            <a:r>
              <a:rPr sz="1600" dirty="0">
                <a:latin typeface="Calibri"/>
                <a:cs typeface="Calibri"/>
              </a:rPr>
              <a:t>Mobile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application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sz="1600" spc="-10" dirty="0">
                <a:latin typeface="Calibri"/>
                <a:cs typeface="Calibri"/>
              </a:rPr>
              <a:t>National-</a:t>
            </a:r>
            <a:r>
              <a:rPr sz="1600" dirty="0">
                <a:latin typeface="Calibri"/>
                <a:cs typeface="Calibri"/>
              </a:rPr>
              <a:t>scale</a:t>
            </a:r>
            <a:r>
              <a:rPr sz="1600" spc="-10" dirty="0">
                <a:latin typeface="Calibri"/>
                <a:cs typeface="Calibri"/>
              </a:rPr>
              <a:t> deployment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sz="1600" dirty="0">
                <a:latin typeface="Calibri"/>
                <a:cs typeface="Calibri"/>
              </a:rPr>
              <a:t>Legal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compliance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automation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8450" algn="l"/>
              </a:tabLst>
            </a:pPr>
            <a:r>
              <a:rPr sz="1600" spc="-10" dirty="0">
                <a:latin typeface="Calibri"/>
                <a:cs typeface="Calibri"/>
              </a:rPr>
              <a:t>Payment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incentive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91920" y="5262498"/>
            <a:ext cx="9105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Assumptions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355850" y="4452873"/>
            <a:ext cx="3563620" cy="948690"/>
            <a:chOff x="2355850" y="4452873"/>
            <a:chExt cx="3563620" cy="948690"/>
          </a:xfrm>
        </p:grpSpPr>
        <p:sp>
          <p:nvSpPr>
            <p:cNvPr id="31" name="object 31"/>
            <p:cNvSpPr/>
            <p:nvPr/>
          </p:nvSpPr>
          <p:spPr>
            <a:xfrm>
              <a:off x="2362200" y="4459223"/>
              <a:ext cx="3550920" cy="935990"/>
            </a:xfrm>
            <a:custGeom>
              <a:avLst/>
              <a:gdLst/>
              <a:ahLst/>
              <a:cxnLst/>
              <a:rect l="l" t="t" r="r" b="b"/>
              <a:pathLst>
                <a:path w="3550920" h="935989">
                  <a:moveTo>
                    <a:pt x="3550920" y="0"/>
                  </a:moveTo>
                  <a:lnTo>
                    <a:pt x="0" y="0"/>
                  </a:lnTo>
                  <a:lnTo>
                    <a:pt x="0" y="935735"/>
                  </a:lnTo>
                  <a:lnTo>
                    <a:pt x="3550920" y="935735"/>
                  </a:lnTo>
                  <a:lnTo>
                    <a:pt x="3550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62200" y="4459223"/>
              <a:ext cx="3550920" cy="935990"/>
            </a:xfrm>
            <a:custGeom>
              <a:avLst/>
              <a:gdLst/>
              <a:ahLst/>
              <a:cxnLst/>
              <a:rect l="l" t="t" r="r" b="b"/>
              <a:pathLst>
                <a:path w="3550920" h="935989">
                  <a:moveTo>
                    <a:pt x="0" y="935735"/>
                  </a:moveTo>
                  <a:lnTo>
                    <a:pt x="3550920" y="935735"/>
                  </a:lnTo>
                  <a:lnTo>
                    <a:pt x="3550920" y="0"/>
                  </a:lnTo>
                  <a:lnTo>
                    <a:pt x="0" y="0"/>
                  </a:lnTo>
                  <a:lnTo>
                    <a:pt x="0" y="935735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362200" y="4459223"/>
            <a:ext cx="3543300" cy="744220"/>
          </a:xfrm>
          <a:prstGeom prst="rect">
            <a:avLst/>
          </a:prstGeom>
          <a:ln w="12192">
            <a:solidFill>
              <a:srgbClr val="E4E7E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8765" indent="-286385">
              <a:lnSpc>
                <a:spcPts val="1345"/>
              </a:lnSpc>
              <a:buFont typeface="Wingdings"/>
              <a:buChar char=""/>
              <a:tabLst>
                <a:tab pos="278765" algn="l"/>
              </a:tabLst>
            </a:pPr>
            <a:r>
              <a:rPr sz="1600" dirty="0">
                <a:latin typeface="Calibri"/>
                <a:cs typeface="Calibri"/>
              </a:rPr>
              <a:t>Donors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keep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availability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status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updated</a:t>
            </a:r>
            <a:endParaRPr sz="1600">
              <a:latin typeface="Calibri"/>
              <a:cs typeface="Calibri"/>
            </a:endParaRPr>
          </a:p>
          <a:p>
            <a:pPr marL="278130" indent="-285750">
              <a:lnSpc>
                <a:spcPct val="100000"/>
              </a:lnSpc>
              <a:buFont typeface="Wingdings"/>
              <a:buChar char=""/>
              <a:tabLst>
                <a:tab pos="278130" algn="l"/>
              </a:tabLst>
            </a:pPr>
            <a:r>
              <a:rPr sz="1600" dirty="0">
                <a:latin typeface="Calibri"/>
                <a:cs typeface="Calibri"/>
              </a:rPr>
              <a:t>Hospitals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internet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access</a:t>
            </a:r>
            <a:endParaRPr sz="1600">
              <a:latin typeface="Calibri"/>
              <a:cs typeface="Calibri"/>
            </a:endParaRPr>
          </a:p>
          <a:p>
            <a:pPr marL="278765" indent="-286385">
              <a:lnSpc>
                <a:spcPct val="100000"/>
              </a:lnSpc>
              <a:buFont typeface="Wingdings"/>
              <a:buChar char=""/>
              <a:tabLst>
                <a:tab pos="278765" algn="l"/>
              </a:tabLst>
            </a:pPr>
            <a:r>
              <a:rPr sz="1600" dirty="0">
                <a:latin typeface="Calibri"/>
                <a:cs typeface="Calibri"/>
              </a:rPr>
              <a:t>Sample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represents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usage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91920" y="5843727"/>
            <a:ext cx="7975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Constraints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258567" y="5196840"/>
            <a:ext cx="3645535" cy="1091565"/>
            <a:chOff x="2258567" y="5196840"/>
            <a:chExt cx="3645535" cy="1091565"/>
          </a:xfrm>
        </p:grpSpPr>
        <p:sp>
          <p:nvSpPr>
            <p:cNvPr id="36" name="object 36"/>
            <p:cNvSpPr/>
            <p:nvPr/>
          </p:nvSpPr>
          <p:spPr>
            <a:xfrm>
              <a:off x="2264663" y="5202936"/>
              <a:ext cx="3633470" cy="1079500"/>
            </a:xfrm>
            <a:custGeom>
              <a:avLst/>
              <a:gdLst/>
              <a:ahLst/>
              <a:cxnLst/>
              <a:rect l="l" t="t" r="r" b="b"/>
              <a:pathLst>
                <a:path w="3633470" h="1079500">
                  <a:moveTo>
                    <a:pt x="3633216" y="0"/>
                  </a:moveTo>
                  <a:lnTo>
                    <a:pt x="0" y="0"/>
                  </a:lnTo>
                  <a:lnTo>
                    <a:pt x="0" y="1078992"/>
                  </a:lnTo>
                  <a:lnTo>
                    <a:pt x="3633216" y="1078992"/>
                  </a:lnTo>
                  <a:lnTo>
                    <a:pt x="36332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64663" y="5202936"/>
              <a:ext cx="3633470" cy="1079500"/>
            </a:xfrm>
            <a:custGeom>
              <a:avLst/>
              <a:gdLst/>
              <a:ahLst/>
              <a:cxnLst/>
              <a:rect l="l" t="t" r="r" b="b"/>
              <a:pathLst>
                <a:path w="3633470" h="1079500">
                  <a:moveTo>
                    <a:pt x="0" y="1078992"/>
                  </a:moveTo>
                  <a:lnTo>
                    <a:pt x="3633216" y="1078992"/>
                  </a:lnTo>
                  <a:lnTo>
                    <a:pt x="3633216" y="0"/>
                  </a:lnTo>
                  <a:lnTo>
                    <a:pt x="0" y="0"/>
                  </a:lnTo>
                  <a:lnTo>
                    <a:pt x="0" y="1078992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342514" y="5232603"/>
            <a:ext cx="3230245" cy="1003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Wingdings"/>
              <a:buChar char=""/>
              <a:tabLst>
                <a:tab pos="298450" algn="l"/>
              </a:tabLst>
            </a:pPr>
            <a:r>
              <a:rPr sz="1600" dirty="0">
                <a:latin typeface="Arial MT"/>
                <a:cs typeface="Arial MT"/>
              </a:rPr>
              <a:t>Limited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time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(academic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timeline)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600" spc="-10" dirty="0">
                <a:latin typeface="Arial MT"/>
                <a:cs typeface="Arial MT"/>
              </a:rPr>
              <a:t>Free-</a:t>
            </a:r>
            <a:r>
              <a:rPr sz="1600" dirty="0">
                <a:latin typeface="Arial MT"/>
                <a:cs typeface="Arial MT"/>
              </a:rPr>
              <a:t>tier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cloud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resources</a:t>
            </a:r>
            <a:endParaRPr sz="1600">
              <a:latin typeface="Arial MT"/>
              <a:cs typeface="Arial MT"/>
            </a:endParaRPr>
          </a:p>
          <a:p>
            <a:pPr marL="299085" marR="661035" indent="-287020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Privacy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&amp;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protection requirements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477368" y="1868423"/>
            <a:ext cx="5441315" cy="4563745"/>
            <a:chOff x="6477368" y="1868423"/>
            <a:chExt cx="5441315" cy="4563745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368" y="1869084"/>
              <a:ext cx="5440972" cy="456280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492240" y="1874519"/>
              <a:ext cx="5394960" cy="4526280"/>
            </a:xfrm>
            <a:custGeom>
              <a:avLst/>
              <a:gdLst/>
              <a:ahLst/>
              <a:cxnLst/>
              <a:rect l="l" t="t" r="r" b="b"/>
              <a:pathLst>
                <a:path w="5394959" h="4526280">
                  <a:moveTo>
                    <a:pt x="4640580" y="0"/>
                  </a:moveTo>
                  <a:lnTo>
                    <a:pt x="754380" y="0"/>
                  </a:lnTo>
                  <a:lnTo>
                    <a:pt x="706666" y="1483"/>
                  </a:lnTo>
                  <a:lnTo>
                    <a:pt x="659741" y="5876"/>
                  </a:lnTo>
                  <a:lnTo>
                    <a:pt x="613694" y="13090"/>
                  </a:lnTo>
                  <a:lnTo>
                    <a:pt x="568613" y="23036"/>
                  </a:lnTo>
                  <a:lnTo>
                    <a:pt x="524587" y="35626"/>
                  </a:lnTo>
                  <a:lnTo>
                    <a:pt x="481704" y="50771"/>
                  </a:lnTo>
                  <a:lnTo>
                    <a:pt x="440051" y="68384"/>
                  </a:lnTo>
                  <a:lnTo>
                    <a:pt x="399718" y="88376"/>
                  </a:lnTo>
                  <a:lnTo>
                    <a:pt x="360792" y="110659"/>
                  </a:lnTo>
                  <a:lnTo>
                    <a:pt x="323362" y="135144"/>
                  </a:lnTo>
                  <a:lnTo>
                    <a:pt x="287517" y="161744"/>
                  </a:lnTo>
                  <a:lnTo>
                    <a:pt x="253344" y="190369"/>
                  </a:lnTo>
                  <a:lnTo>
                    <a:pt x="220932" y="220932"/>
                  </a:lnTo>
                  <a:lnTo>
                    <a:pt x="190369" y="253344"/>
                  </a:lnTo>
                  <a:lnTo>
                    <a:pt x="161744" y="287517"/>
                  </a:lnTo>
                  <a:lnTo>
                    <a:pt x="135144" y="323362"/>
                  </a:lnTo>
                  <a:lnTo>
                    <a:pt x="110659" y="360792"/>
                  </a:lnTo>
                  <a:lnTo>
                    <a:pt x="88376" y="399718"/>
                  </a:lnTo>
                  <a:lnTo>
                    <a:pt x="68384" y="440051"/>
                  </a:lnTo>
                  <a:lnTo>
                    <a:pt x="50771" y="481704"/>
                  </a:lnTo>
                  <a:lnTo>
                    <a:pt x="35626" y="524587"/>
                  </a:lnTo>
                  <a:lnTo>
                    <a:pt x="23036" y="568613"/>
                  </a:lnTo>
                  <a:lnTo>
                    <a:pt x="13090" y="613694"/>
                  </a:lnTo>
                  <a:lnTo>
                    <a:pt x="5876" y="659741"/>
                  </a:lnTo>
                  <a:lnTo>
                    <a:pt x="1483" y="706666"/>
                  </a:lnTo>
                  <a:lnTo>
                    <a:pt x="0" y="754379"/>
                  </a:lnTo>
                  <a:lnTo>
                    <a:pt x="0" y="3771887"/>
                  </a:lnTo>
                  <a:lnTo>
                    <a:pt x="1483" y="3819595"/>
                  </a:lnTo>
                  <a:lnTo>
                    <a:pt x="5876" y="3866516"/>
                  </a:lnTo>
                  <a:lnTo>
                    <a:pt x="13090" y="3912559"/>
                  </a:lnTo>
                  <a:lnTo>
                    <a:pt x="23036" y="3957637"/>
                  </a:lnTo>
                  <a:lnTo>
                    <a:pt x="35626" y="4001661"/>
                  </a:lnTo>
                  <a:lnTo>
                    <a:pt x="50771" y="4044544"/>
                  </a:lnTo>
                  <a:lnTo>
                    <a:pt x="68384" y="4086196"/>
                  </a:lnTo>
                  <a:lnTo>
                    <a:pt x="88376" y="4126529"/>
                  </a:lnTo>
                  <a:lnTo>
                    <a:pt x="110659" y="4165455"/>
                  </a:lnTo>
                  <a:lnTo>
                    <a:pt x="135144" y="4202886"/>
                  </a:lnTo>
                  <a:lnTo>
                    <a:pt x="161744" y="4238733"/>
                  </a:lnTo>
                  <a:lnTo>
                    <a:pt x="190369" y="4272908"/>
                  </a:lnTo>
                  <a:lnTo>
                    <a:pt x="220932" y="4305322"/>
                  </a:lnTo>
                  <a:lnTo>
                    <a:pt x="253344" y="4335887"/>
                  </a:lnTo>
                  <a:lnTo>
                    <a:pt x="287517" y="4364515"/>
                  </a:lnTo>
                  <a:lnTo>
                    <a:pt x="323362" y="4391117"/>
                  </a:lnTo>
                  <a:lnTo>
                    <a:pt x="360792" y="4415604"/>
                  </a:lnTo>
                  <a:lnTo>
                    <a:pt x="399718" y="4437890"/>
                  </a:lnTo>
                  <a:lnTo>
                    <a:pt x="440051" y="4457884"/>
                  </a:lnTo>
                  <a:lnTo>
                    <a:pt x="481704" y="4475500"/>
                  </a:lnTo>
                  <a:lnTo>
                    <a:pt x="524587" y="4490648"/>
                  </a:lnTo>
                  <a:lnTo>
                    <a:pt x="568613" y="4503239"/>
                  </a:lnTo>
                  <a:lnTo>
                    <a:pt x="613694" y="4513187"/>
                  </a:lnTo>
                  <a:lnTo>
                    <a:pt x="659741" y="4520402"/>
                  </a:lnTo>
                  <a:lnTo>
                    <a:pt x="706666" y="4524795"/>
                  </a:lnTo>
                  <a:lnTo>
                    <a:pt x="754380" y="4526280"/>
                  </a:lnTo>
                  <a:lnTo>
                    <a:pt x="4640580" y="4526280"/>
                  </a:lnTo>
                  <a:lnTo>
                    <a:pt x="4688293" y="4524795"/>
                  </a:lnTo>
                  <a:lnTo>
                    <a:pt x="4735218" y="4520402"/>
                  </a:lnTo>
                  <a:lnTo>
                    <a:pt x="4781265" y="4513187"/>
                  </a:lnTo>
                  <a:lnTo>
                    <a:pt x="4826346" y="4503239"/>
                  </a:lnTo>
                  <a:lnTo>
                    <a:pt x="4870372" y="4490648"/>
                  </a:lnTo>
                  <a:lnTo>
                    <a:pt x="4913255" y="4475500"/>
                  </a:lnTo>
                  <a:lnTo>
                    <a:pt x="4954908" y="4457884"/>
                  </a:lnTo>
                  <a:lnTo>
                    <a:pt x="4995241" y="4437890"/>
                  </a:lnTo>
                  <a:lnTo>
                    <a:pt x="5034167" y="4415604"/>
                  </a:lnTo>
                  <a:lnTo>
                    <a:pt x="5071597" y="4391117"/>
                  </a:lnTo>
                  <a:lnTo>
                    <a:pt x="5107442" y="4364515"/>
                  </a:lnTo>
                  <a:lnTo>
                    <a:pt x="5141615" y="4335887"/>
                  </a:lnTo>
                  <a:lnTo>
                    <a:pt x="5174027" y="4305322"/>
                  </a:lnTo>
                  <a:lnTo>
                    <a:pt x="5204590" y="4272908"/>
                  </a:lnTo>
                  <a:lnTo>
                    <a:pt x="5233215" y="4238733"/>
                  </a:lnTo>
                  <a:lnTo>
                    <a:pt x="5259815" y="4202886"/>
                  </a:lnTo>
                  <a:lnTo>
                    <a:pt x="5284300" y="4165455"/>
                  </a:lnTo>
                  <a:lnTo>
                    <a:pt x="5306583" y="4126529"/>
                  </a:lnTo>
                  <a:lnTo>
                    <a:pt x="5326575" y="4086196"/>
                  </a:lnTo>
                  <a:lnTo>
                    <a:pt x="5344188" y="4044544"/>
                  </a:lnTo>
                  <a:lnTo>
                    <a:pt x="5359333" y="4001661"/>
                  </a:lnTo>
                  <a:lnTo>
                    <a:pt x="5371923" y="3957637"/>
                  </a:lnTo>
                  <a:lnTo>
                    <a:pt x="5381869" y="3912559"/>
                  </a:lnTo>
                  <a:lnTo>
                    <a:pt x="5389083" y="3866516"/>
                  </a:lnTo>
                  <a:lnTo>
                    <a:pt x="5393476" y="3819595"/>
                  </a:lnTo>
                  <a:lnTo>
                    <a:pt x="5394960" y="3771887"/>
                  </a:lnTo>
                  <a:lnTo>
                    <a:pt x="5394960" y="754379"/>
                  </a:lnTo>
                  <a:lnTo>
                    <a:pt x="5393476" y="706666"/>
                  </a:lnTo>
                  <a:lnTo>
                    <a:pt x="5389083" y="659741"/>
                  </a:lnTo>
                  <a:lnTo>
                    <a:pt x="5381869" y="613694"/>
                  </a:lnTo>
                  <a:lnTo>
                    <a:pt x="5371923" y="568613"/>
                  </a:lnTo>
                  <a:lnTo>
                    <a:pt x="5359333" y="524587"/>
                  </a:lnTo>
                  <a:lnTo>
                    <a:pt x="5344188" y="481704"/>
                  </a:lnTo>
                  <a:lnTo>
                    <a:pt x="5326575" y="440051"/>
                  </a:lnTo>
                  <a:lnTo>
                    <a:pt x="5306583" y="399718"/>
                  </a:lnTo>
                  <a:lnTo>
                    <a:pt x="5284300" y="360792"/>
                  </a:lnTo>
                  <a:lnTo>
                    <a:pt x="5259815" y="323362"/>
                  </a:lnTo>
                  <a:lnTo>
                    <a:pt x="5233215" y="287517"/>
                  </a:lnTo>
                  <a:lnTo>
                    <a:pt x="5204590" y="253344"/>
                  </a:lnTo>
                  <a:lnTo>
                    <a:pt x="5174027" y="220932"/>
                  </a:lnTo>
                  <a:lnTo>
                    <a:pt x="5141615" y="190369"/>
                  </a:lnTo>
                  <a:lnTo>
                    <a:pt x="5107442" y="161744"/>
                  </a:lnTo>
                  <a:lnTo>
                    <a:pt x="5071597" y="135144"/>
                  </a:lnTo>
                  <a:lnTo>
                    <a:pt x="5034167" y="110659"/>
                  </a:lnTo>
                  <a:lnTo>
                    <a:pt x="4995241" y="88376"/>
                  </a:lnTo>
                  <a:lnTo>
                    <a:pt x="4954908" y="68384"/>
                  </a:lnTo>
                  <a:lnTo>
                    <a:pt x="4913255" y="50771"/>
                  </a:lnTo>
                  <a:lnTo>
                    <a:pt x="4870372" y="35626"/>
                  </a:lnTo>
                  <a:lnTo>
                    <a:pt x="4826346" y="23036"/>
                  </a:lnTo>
                  <a:lnTo>
                    <a:pt x="4781265" y="13090"/>
                  </a:lnTo>
                  <a:lnTo>
                    <a:pt x="4735218" y="5876"/>
                  </a:lnTo>
                  <a:lnTo>
                    <a:pt x="4688293" y="1483"/>
                  </a:lnTo>
                  <a:lnTo>
                    <a:pt x="46405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92240" y="1874519"/>
              <a:ext cx="5394960" cy="4526280"/>
            </a:xfrm>
            <a:custGeom>
              <a:avLst/>
              <a:gdLst/>
              <a:ahLst/>
              <a:cxnLst/>
              <a:rect l="l" t="t" r="r" b="b"/>
              <a:pathLst>
                <a:path w="5394959" h="4526280">
                  <a:moveTo>
                    <a:pt x="0" y="754379"/>
                  </a:moveTo>
                  <a:lnTo>
                    <a:pt x="1483" y="706666"/>
                  </a:lnTo>
                  <a:lnTo>
                    <a:pt x="5876" y="659741"/>
                  </a:lnTo>
                  <a:lnTo>
                    <a:pt x="13090" y="613694"/>
                  </a:lnTo>
                  <a:lnTo>
                    <a:pt x="23036" y="568613"/>
                  </a:lnTo>
                  <a:lnTo>
                    <a:pt x="35626" y="524587"/>
                  </a:lnTo>
                  <a:lnTo>
                    <a:pt x="50771" y="481704"/>
                  </a:lnTo>
                  <a:lnTo>
                    <a:pt x="68384" y="440051"/>
                  </a:lnTo>
                  <a:lnTo>
                    <a:pt x="88376" y="399718"/>
                  </a:lnTo>
                  <a:lnTo>
                    <a:pt x="110659" y="360792"/>
                  </a:lnTo>
                  <a:lnTo>
                    <a:pt x="135144" y="323362"/>
                  </a:lnTo>
                  <a:lnTo>
                    <a:pt x="161744" y="287517"/>
                  </a:lnTo>
                  <a:lnTo>
                    <a:pt x="190369" y="253344"/>
                  </a:lnTo>
                  <a:lnTo>
                    <a:pt x="220932" y="220932"/>
                  </a:lnTo>
                  <a:lnTo>
                    <a:pt x="253344" y="190369"/>
                  </a:lnTo>
                  <a:lnTo>
                    <a:pt x="287517" y="161744"/>
                  </a:lnTo>
                  <a:lnTo>
                    <a:pt x="323362" y="135144"/>
                  </a:lnTo>
                  <a:lnTo>
                    <a:pt x="360792" y="110659"/>
                  </a:lnTo>
                  <a:lnTo>
                    <a:pt x="399718" y="88376"/>
                  </a:lnTo>
                  <a:lnTo>
                    <a:pt x="440051" y="68384"/>
                  </a:lnTo>
                  <a:lnTo>
                    <a:pt x="481704" y="50771"/>
                  </a:lnTo>
                  <a:lnTo>
                    <a:pt x="524587" y="35626"/>
                  </a:lnTo>
                  <a:lnTo>
                    <a:pt x="568613" y="23036"/>
                  </a:lnTo>
                  <a:lnTo>
                    <a:pt x="613694" y="13090"/>
                  </a:lnTo>
                  <a:lnTo>
                    <a:pt x="659741" y="5876"/>
                  </a:lnTo>
                  <a:lnTo>
                    <a:pt x="706666" y="1483"/>
                  </a:lnTo>
                  <a:lnTo>
                    <a:pt x="754380" y="0"/>
                  </a:lnTo>
                  <a:lnTo>
                    <a:pt x="4640580" y="0"/>
                  </a:lnTo>
                  <a:lnTo>
                    <a:pt x="4688293" y="1483"/>
                  </a:lnTo>
                  <a:lnTo>
                    <a:pt x="4735218" y="5876"/>
                  </a:lnTo>
                  <a:lnTo>
                    <a:pt x="4781265" y="13090"/>
                  </a:lnTo>
                  <a:lnTo>
                    <a:pt x="4826346" y="23036"/>
                  </a:lnTo>
                  <a:lnTo>
                    <a:pt x="4870372" y="35626"/>
                  </a:lnTo>
                  <a:lnTo>
                    <a:pt x="4913255" y="50771"/>
                  </a:lnTo>
                  <a:lnTo>
                    <a:pt x="4954908" y="68384"/>
                  </a:lnTo>
                  <a:lnTo>
                    <a:pt x="4995241" y="88376"/>
                  </a:lnTo>
                  <a:lnTo>
                    <a:pt x="5034167" y="110659"/>
                  </a:lnTo>
                  <a:lnTo>
                    <a:pt x="5071597" y="135144"/>
                  </a:lnTo>
                  <a:lnTo>
                    <a:pt x="5107442" y="161744"/>
                  </a:lnTo>
                  <a:lnTo>
                    <a:pt x="5141615" y="190369"/>
                  </a:lnTo>
                  <a:lnTo>
                    <a:pt x="5174027" y="220932"/>
                  </a:lnTo>
                  <a:lnTo>
                    <a:pt x="5204590" y="253344"/>
                  </a:lnTo>
                  <a:lnTo>
                    <a:pt x="5233215" y="287517"/>
                  </a:lnTo>
                  <a:lnTo>
                    <a:pt x="5259815" y="323362"/>
                  </a:lnTo>
                  <a:lnTo>
                    <a:pt x="5284300" y="360792"/>
                  </a:lnTo>
                  <a:lnTo>
                    <a:pt x="5306583" y="399718"/>
                  </a:lnTo>
                  <a:lnTo>
                    <a:pt x="5326575" y="440051"/>
                  </a:lnTo>
                  <a:lnTo>
                    <a:pt x="5344188" y="481704"/>
                  </a:lnTo>
                  <a:lnTo>
                    <a:pt x="5359333" y="524587"/>
                  </a:lnTo>
                  <a:lnTo>
                    <a:pt x="5371923" y="568613"/>
                  </a:lnTo>
                  <a:lnTo>
                    <a:pt x="5381869" y="613694"/>
                  </a:lnTo>
                  <a:lnTo>
                    <a:pt x="5389083" y="659741"/>
                  </a:lnTo>
                  <a:lnTo>
                    <a:pt x="5393476" y="706666"/>
                  </a:lnTo>
                  <a:lnTo>
                    <a:pt x="5394960" y="754379"/>
                  </a:lnTo>
                  <a:lnTo>
                    <a:pt x="5394960" y="3771887"/>
                  </a:lnTo>
                  <a:lnTo>
                    <a:pt x="5393476" y="3819595"/>
                  </a:lnTo>
                  <a:lnTo>
                    <a:pt x="5389083" y="3866516"/>
                  </a:lnTo>
                  <a:lnTo>
                    <a:pt x="5381869" y="3912559"/>
                  </a:lnTo>
                  <a:lnTo>
                    <a:pt x="5371923" y="3957637"/>
                  </a:lnTo>
                  <a:lnTo>
                    <a:pt x="5359333" y="4001661"/>
                  </a:lnTo>
                  <a:lnTo>
                    <a:pt x="5344188" y="4044544"/>
                  </a:lnTo>
                  <a:lnTo>
                    <a:pt x="5326575" y="4086196"/>
                  </a:lnTo>
                  <a:lnTo>
                    <a:pt x="5306583" y="4126529"/>
                  </a:lnTo>
                  <a:lnTo>
                    <a:pt x="5284300" y="4165455"/>
                  </a:lnTo>
                  <a:lnTo>
                    <a:pt x="5259815" y="4202886"/>
                  </a:lnTo>
                  <a:lnTo>
                    <a:pt x="5233215" y="4238733"/>
                  </a:lnTo>
                  <a:lnTo>
                    <a:pt x="5204590" y="4272908"/>
                  </a:lnTo>
                  <a:lnTo>
                    <a:pt x="5174027" y="4305322"/>
                  </a:lnTo>
                  <a:lnTo>
                    <a:pt x="5141615" y="4335887"/>
                  </a:lnTo>
                  <a:lnTo>
                    <a:pt x="5107442" y="4364515"/>
                  </a:lnTo>
                  <a:lnTo>
                    <a:pt x="5071597" y="4391117"/>
                  </a:lnTo>
                  <a:lnTo>
                    <a:pt x="5034167" y="4415604"/>
                  </a:lnTo>
                  <a:lnTo>
                    <a:pt x="4995241" y="4437890"/>
                  </a:lnTo>
                  <a:lnTo>
                    <a:pt x="4954908" y="4457884"/>
                  </a:lnTo>
                  <a:lnTo>
                    <a:pt x="4913255" y="4475500"/>
                  </a:lnTo>
                  <a:lnTo>
                    <a:pt x="4870372" y="4490648"/>
                  </a:lnTo>
                  <a:lnTo>
                    <a:pt x="4826346" y="4503239"/>
                  </a:lnTo>
                  <a:lnTo>
                    <a:pt x="4781265" y="4513187"/>
                  </a:lnTo>
                  <a:lnTo>
                    <a:pt x="4735218" y="4520402"/>
                  </a:lnTo>
                  <a:lnTo>
                    <a:pt x="4688293" y="4524795"/>
                  </a:lnTo>
                  <a:lnTo>
                    <a:pt x="4640580" y="4526280"/>
                  </a:lnTo>
                  <a:lnTo>
                    <a:pt x="754380" y="4526280"/>
                  </a:lnTo>
                  <a:lnTo>
                    <a:pt x="706666" y="4524795"/>
                  </a:lnTo>
                  <a:lnTo>
                    <a:pt x="659741" y="4520402"/>
                  </a:lnTo>
                  <a:lnTo>
                    <a:pt x="613694" y="4513187"/>
                  </a:lnTo>
                  <a:lnTo>
                    <a:pt x="568613" y="4503239"/>
                  </a:lnTo>
                  <a:lnTo>
                    <a:pt x="524587" y="4490648"/>
                  </a:lnTo>
                  <a:lnTo>
                    <a:pt x="481704" y="4475500"/>
                  </a:lnTo>
                  <a:lnTo>
                    <a:pt x="440051" y="4457884"/>
                  </a:lnTo>
                  <a:lnTo>
                    <a:pt x="399718" y="4437890"/>
                  </a:lnTo>
                  <a:lnTo>
                    <a:pt x="360792" y="4415604"/>
                  </a:lnTo>
                  <a:lnTo>
                    <a:pt x="323362" y="4391117"/>
                  </a:lnTo>
                  <a:lnTo>
                    <a:pt x="287517" y="4364515"/>
                  </a:lnTo>
                  <a:lnTo>
                    <a:pt x="253344" y="4335887"/>
                  </a:lnTo>
                  <a:lnTo>
                    <a:pt x="220932" y="4305322"/>
                  </a:lnTo>
                  <a:lnTo>
                    <a:pt x="190369" y="4272908"/>
                  </a:lnTo>
                  <a:lnTo>
                    <a:pt x="161744" y="4238733"/>
                  </a:lnTo>
                  <a:lnTo>
                    <a:pt x="135144" y="4202886"/>
                  </a:lnTo>
                  <a:lnTo>
                    <a:pt x="110659" y="4165455"/>
                  </a:lnTo>
                  <a:lnTo>
                    <a:pt x="88376" y="4126529"/>
                  </a:lnTo>
                  <a:lnTo>
                    <a:pt x="68384" y="4086196"/>
                  </a:lnTo>
                  <a:lnTo>
                    <a:pt x="50771" y="4044544"/>
                  </a:lnTo>
                  <a:lnTo>
                    <a:pt x="35626" y="4001661"/>
                  </a:lnTo>
                  <a:lnTo>
                    <a:pt x="23036" y="3957637"/>
                  </a:lnTo>
                  <a:lnTo>
                    <a:pt x="13090" y="3912559"/>
                  </a:lnTo>
                  <a:lnTo>
                    <a:pt x="5876" y="3866516"/>
                  </a:lnTo>
                  <a:lnTo>
                    <a:pt x="1483" y="3819595"/>
                  </a:lnTo>
                  <a:lnTo>
                    <a:pt x="0" y="3771887"/>
                  </a:lnTo>
                  <a:lnTo>
                    <a:pt x="0" y="75437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827266" y="1949131"/>
            <a:ext cx="4977765" cy="147828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600" b="1" spc="-10" dirty="0">
                <a:solidFill>
                  <a:srgbClr val="111727"/>
                </a:solidFill>
                <a:latin typeface="Calibri"/>
                <a:cs typeface="Calibri"/>
              </a:rPr>
              <a:t>Acceptance</a:t>
            </a:r>
            <a:r>
              <a:rPr sz="1600" b="1" spc="-5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checks</a:t>
            </a:r>
            <a:r>
              <a:rPr sz="1600" b="1" spc="1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11727"/>
                </a:solidFill>
                <a:latin typeface="Calibri"/>
                <a:cs typeface="Calibri"/>
              </a:rPr>
              <a:t>(3–5)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800" dirty="0">
                <a:latin typeface="Calibri"/>
                <a:cs typeface="Calibri"/>
              </a:rPr>
              <a:t>Write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verifiable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checks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(not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vague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goals).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Example:</a:t>
            </a:r>
            <a:endParaRPr sz="1800">
              <a:latin typeface="Calibri"/>
              <a:cs typeface="Calibri"/>
            </a:endParaRPr>
          </a:p>
          <a:p>
            <a:pPr marL="179705" indent="-167005">
              <a:lnSpc>
                <a:spcPct val="100000"/>
              </a:lnSpc>
              <a:buChar char="•"/>
              <a:tabLst>
                <a:tab pos="179705" algn="l"/>
              </a:tabLst>
            </a:pPr>
            <a:r>
              <a:rPr sz="1800" dirty="0">
                <a:latin typeface="Calibri"/>
                <a:cs typeface="Calibri"/>
              </a:rPr>
              <a:t>“Seat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updates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≤2s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(p95)”</a:t>
            </a:r>
            <a:endParaRPr sz="1800">
              <a:latin typeface="Calibri"/>
              <a:cs typeface="Calibri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800" spc="-25" dirty="0">
                <a:latin typeface="Calibri"/>
                <a:cs typeface="Calibri"/>
              </a:rPr>
              <a:t>“Accuracy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≥95%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labeled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events”</a:t>
            </a:r>
            <a:endParaRPr sz="1800">
              <a:latin typeface="Calibri"/>
              <a:cs typeface="Calibri"/>
            </a:endParaRPr>
          </a:p>
          <a:p>
            <a:pPr marL="179705" indent="-167005">
              <a:lnSpc>
                <a:spcPct val="100000"/>
              </a:lnSpc>
              <a:spcBef>
                <a:spcPts val="5"/>
              </a:spcBef>
              <a:buChar char="•"/>
              <a:tabLst>
                <a:tab pos="179705" algn="l"/>
              </a:tabLst>
            </a:pPr>
            <a:r>
              <a:rPr sz="1800" spc="-10" dirty="0">
                <a:latin typeface="Calibri"/>
                <a:cs typeface="Calibri"/>
              </a:rPr>
              <a:t>“Calibration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≤60s”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27266" y="3676650"/>
            <a:ext cx="4074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Tip: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p95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95th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percentile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(95%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are </a:t>
            </a:r>
            <a:r>
              <a:rPr sz="1800" spc="-20" dirty="0">
                <a:latin typeface="Calibri"/>
                <a:cs typeface="Calibri"/>
              </a:rPr>
              <a:t>faster/better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this).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827266" y="4499864"/>
            <a:ext cx="498919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yours: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buAutoNum type="arabicParenR"/>
              <a:tabLst>
                <a:tab pos="249554" algn="l"/>
              </a:tabLst>
            </a:pPr>
            <a:r>
              <a:rPr sz="1800" dirty="0">
                <a:latin typeface="Calibri"/>
                <a:cs typeface="Calibri"/>
              </a:rPr>
              <a:t>[Donor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response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≤500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(p95)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]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buAutoNum type="arabicParenR"/>
              <a:tabLst>
                <a:tab pos="249554" algn="l"/>
              </a:tabLst>
            </a:pPr>
            <a:r>
              <a:rPr sz="1800" dirty="0">
                <a:latin typeface="Calibri"/>
                <a:cs typeface="Calibri"/>
              </a:rPr>
              <a:t>[Compatibility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accuracy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≥95%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]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ct val="100000"/>
              </a:lnSpc>
              <a:buAutoNum type="arabicParenR"/>
              <a:tabLst>
                <a:tab pos="249554" algn="l"/>
              </a:tabLst>
            </a:pPr>
            <a:r>
              <a:rPr sz="1800" dirty="0">
                <a:latin typeface="Calibri"/>
                <a:cs typeface="Calibri"/>
              </a:rPr>
              <a:t>[Availability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updates</a:t>
            </a:r>
            <a:r>
              <a:rPr sz="1800" spc="-10" dirty="0">
                <a:latin typeface="Calibri"/>
                <a:cs typeface="Calibri"/>
              </a:rPr>
              <a:t> reflected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]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ts val="2150"/>
              </a:lnSpc>
              <a:spcBef>
                <a:spcPts val="25"/>
              </a:spcBef>
              <a:buAutoNum type="arabicParenR"/>
              <a:tabLst>
                <a:tab pos="249554" algn="l"/>
              </a:tabLst>
            </a:pPr>
            <a:r>
              <a:rPr sz="1800" dirty="0">
                <a:latin typeface="Calibri"/>
                <a:cs typeface="Calibri"/>
              </a:rPr>
              <a:t>[</a:t>
            </a:r>
            <a:r>
              <a:rPr sz="1800" dirty="0">
                <a:latin typeface="Arial MT"/>
                <a:cs typeface="Arial MT"/>
              </a:rPr>
              <a:t>Unauthorized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blocked</a:t>
            </a:r>
            <a:r>
              <a:rPr sz="1800" spc="-10" dirty="0">
                <a:latin typeface="Calibri"/>
                <a:cs typeface="Calibri"/>
              </a:rPr>
              <a:t>]</a:t>
            </a:r>
            <a:endParaRPr sz="1800">
              <a:latin typeface="Calibri"/>
              <a:cs typeface="Calibri"/>
            </a:endParaRPr>
          </a:p>
          <a:p>
            <a:pPr marL="249554" indent="-236854">
              <a:lnSpc>
                <a:spcPts val="2150"/>
              </a:lnSpc>
              <a:buAutoNum type="arabicParenR"/>
              <a:tabLst>
                <a:tab pos="249554" algn="l"/>
              </a:tabLst>
            </a:pPr>
            <a:r>
              <a:rPr sz="1800" spc="-10" dirty="0">
                <a:latin typeface="Calibri"/>
                <a:cs typeface="Calibri"/>
              </a:rPr>
              <a:t>[System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supports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≥10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concurrent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hospital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queries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0" y="6565391"/>
            <a:ext cx="12192000" cy="292735"/>
          </a:xfrm>
          <a:custGeom>
            <a:avLst/>
            <a:gdLst/>
            <a:ahLst/>
            <a:cxnLst/>
            <a:rect l="l" t="t" r="r" b="b"/>
            <a:pathLst>
              <a:path w="12192000" h="292734">
                <a:moveTo>
                  <a:pt x="0" y="292608"/>
                </a:moveTo>
                <a:lnTo>
                  <a:pt x="12192000" y="292608"/>
                </a:lnTo>
                <a:lnTo>
                  <a:pt x="12192000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138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5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Stage</a:t>
            </a:r>
            <a:r>
              <a:rPr spc="1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Submission</a:t>
            </a:r>
            <a:r>
              <a:rPr spc="-55" dirty="0"/>
              <a:t> </a:t>
            </a:r>
            <a:r>
              <a:rPr spc="-20" dirty="0"/>
              <a:t>Deck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85"/>
              </a:spcBef>
            </a:pPr>
            <a:r>
              <a:rPr spc="-10" dirty="0"/>
              <a:t>12/23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5"/>
            <a:ext cx="12204700" cy="579120"/>
            <a:chOff x="-6095" y="-6095"/>
            <a:chExt cx="12204700" cy="57912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567055"/>
            </a:xfrm>
            <a:custGeom>
              <a:avLst/>
              <a:gdLst/>
              <a:ahLst/>
              <a:cxnLst/>
              <a:rect l="l" t="t" r="r" b="b"/>
              <a:pathLst>
                <a:path w="12045950" h="567055">
                  <a:moveTo>
                    <a:pt x="0" y="566927"/>
                  </a:moveTo>
                  <a:lnTo>
                    <a:pt x="12045696" y="566927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567055"/>
            </a:xfrm>
            <a:custGeom>
              <a:avLst/>
              <a:gdLst/>
              <a:ahLst/>
              <a:cxnLst/>
              <a:rect l="l" t="t" r="r" b="b"/>
              <a:pathLst>
                <a:path w="12192000" h="567055">
                  <a:moveTo>
                    <a:pt x="0" y="566927"/>
                  </a:moveTo>
                  <a:lnTo>
                    <a:pt x="12192000" y="5669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146304" y="566927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7"/>
                  </a:moveTo>
                  <a:lnTo>
                    <a:pt x="146304" y="566927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2400" y="141223"/>
            <a:ext cx="120338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667385" algn="r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9" name="object 9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9353"/>
            <a:ext cx="88455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111727"/>
                </a:solidFill>
              </a:rPr>
              <a:t>Prototype</a:t>
            </a:r>
            <a:r>
              <a:rPr sz="3200" spc="-75" dirty="0">
                <a:solidFill>
                  <a:srgbClr val="111727"/>
                </a:solidFill>
              </a:rPr>
              <a:t> </a:t>
            </a:r>
            <a:r>
              <a:rPr sz="3200" spc="-20" dirty="0">
                <a:solidFill>
                  <a:srgbClr val="111727"/>
                </a:solidFill>
              </a:rPr>
              <a:t>System</a:t>
            </a:r>
            <a:r>
              <a:rPr sz="3200" spc="-7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Overview</a:t>
            </a:r>
            <a:r>
              <a:rPr sz="3200" spc="-4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—</a:t>
            </a:r>
            <a:r>
              <a:rPr sz="3200" spc="-95" dirty="0">
                <a:solidFill>
                  <a:srgbClr val="111727"/>
                </a:solidFill>
              </a:rPr>
              <a:t> </a:t>
            </a:r>
            <a:r>
              <a:rPr sz="3200" spc="-20" dirty="0">
                <a:solidFill>
                  <a:srgbClr val="111727"/>
                </a:solidFill>
              </a:rPr>
              <a:t>Architecture</a:t>
            </a:r>
            <a:r>
              <a:rPr sz="3200" spc="-6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/</a:t>
            </a:r>
            <a:r>
              <a:rPr sz="3200" spc="-95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Design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671880" y="1454023"/>
            <a:ext cx="492696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Show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end-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to-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end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A5462"/>
                </a:solidFill>
                <a:latin typeface="Calibri"/>
                <a:cs typeface="Calibri"/>
              </a:rPr>
              <a:t>flow.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Mark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simulated</a:t>
            </a:r>
            <a:r>
              <a:rPr sz="1600" spc="-2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components</a:t>
            </a:r>
            <a:r>
              <a:rPr sz="1600" spc="-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clearly.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88009" y="1785873"/>
            <a:ext cx="10985500" cy="4438650"/>
            <a:chOff x="588009" y="1785873"/>
            <a:chExt cx="10985500" cy="4438650"/>
          </a:xfrm>
        </p:grpSpPr>
        <p:sp>
          <p:nvSpPr>
            <p:cNvPr id="15" name="object 15"/>
            <p:cNvSpPr/>
            <p:nvPr/>
          </p:nvSpPr>
          <p:spPr>
            <a:xfrm>
              <a:off x="594359" y="1792223"/>
              <a:ext cx="10972800" cy="4425950"/>
            </a:xfrm>
            <a:custGeom>
              <a:avLst/>
              <a:gdLst/>
              <a:ahLst/>
              <a:cxnLst/>
              <a:rect l="l" t="t" r="r" b="b"/>
              <a:pathLst>
                <a:path w="10972800" h="4425950">
                  <a:moveTo>
                    <a:pt x="10235184" y="0"/>
                  </a:moveTo>
                  <a:lnTo>
                    <a:pt x="737616" y="0"/>
                  </a:lnTo>
                  <a:lnTo>
                    <a:pt x="689118" y="1568"/>
                  </a:lnTo>
                  <a:lnTo>
                    <a:pt x="641458" y="6210"/>
                  </a:lnTo>
                  <a:lnTo>
                    <a:pt x="594733" y="13827"/>
                  </a:lnTo>
                  <a:lnTo>
                    <a:pt x="549039" y="24323"/>
                  </a:lnTo>
                  <a:lnTo>
                    <a:pt x="504475" y="37600"/>
                  </a:lnTo>
                  <a:lnTo>
                    <a:pt x="461137" y="53561"/>
                  </a:lnTo>
                  <a:lnTo>
                    <a:pt x="419123" y="72109"/>
                  </a:lnTo>
                  <a:lnTo>
                    <a:pt x="378529" y="93147"/>
                  </a:lnTo>
                  <a:lnTo>
                    <a:pt x="339453" y="116578"/>
                  </a:lnTo>
                  <a:lnTo>
                    <a:pt x="301993" y="142305"/>
                  </a:lnTo>
                  <a:lnTo>
                    <a:pt x="266245" y="170229"/>
                  </a:lnTo>
                  <a:lnTo>
                    <a:pt x="232306" y="200256"/>
                  </a:lnTo>
                  <a:lnTo>
                    <a:pt x="200274" y="232286"/>
                  </a:lnTo>
                  <a:lnTo>
                    <a:pt x="170246" y="266224"/>
                  </a:lnTo>
                  <a:lnTo>
                    <a:pt x="142319" y="301971"/>
                  </a:lnTo>
                  <a:lnTo>
                    <a:pt x="116591" y="339431"/>
                  </a:lnTo>
                  <a:lnTo>
                    <a:pt x="93158" y="378507"/>
                  </a:lnTo>
                  <a:lnTo>
                    <a:pt x="72118" y="419101"/>
                  </a:lnTo>
                  <a:lnTo>
                    <a:pt x="53567" y="461116"/>
                  </a:lnTo>
                  <a:lnTo>
                    <a:pt x="37605" y="504456"/>
                  </a:lnTo>
                  <a:lnTo>
                    <a:pt x="24326" y="549022"/>
                  </a:lnTo>
                  <a:lnTo>
                    <a:pt x="13829" y="594719"/>
                  </a:lnTo>
                  <a:lnTo>
                    <a:pt x="6211" y="641448"/>
                  </a:lnTo>
                  <a:lnTo>
                    <a:pt x="1569" y="689112"/>
                  </a:lnTo>
                  <a:lnTo>
                    <a:pt x="0" y="737615"/>
                  </a:lnTo>
                  <a:lnTo>
                    <a:pt x="0" y="3688079"/>
                  </a:lnTo>
                  <a:lnTo>
                    <a:pt x="1569" y="3736577"/>
                  </a:lnTo>
                  <a:lnTo>
                    <a:pt x="6211" y="3784237"/>
                  </a:lnTo>
                  <a:lnTo>
                    <a:pt x="13829" y="3830962"/>
                  </a:lnTo>
                  <a:lnTo>
                    <a:pt x="24326" y="3876656"/>
                  </a:lnTo>
                  <a:lnTo>
                    <a:pt x="37605" y="3921220"/>
                  </a:lnTo>
                  <a:lnTo>
                    <a:pt x="53567" y="3964558"/>
                  </a:lnTo>
                  <a:lnTo>
                    <a:pt x="72118" y="4006572"/>
                  </a:lnTo>
                  <a:lnTo>
                    <a:pt x="93158" y="4047166"/>
                  </a:lnTo>
                  <a:lnTo>
                    <a:pt x="116591" y="4086242"/>
                  </a:lnTo>
                  <a:lnTo>
                    <a:pt x="142319" y="4123702"/>
                  </a:lnTo>
                  <a:lnTo>
                    <a:pt x="170246" y="4159450"/>
                  </a:lnTo>
                  <a:lnTo>
                    <a:pt x="200274" y="4193389"/>
                  </a:lnTo>
                  <a:lnTo>
                    <a:pt x="232306" y="4225421"/>
                  </a:lnTo>
                  <a:lnTo>
                    <a:pt x="266245" y="4255449"/>
                  </a:lnTo>
                  <a:lnTo>
                    <a:pt x="301993" y="4283376"/>
                  </a:lnTo>
                  <a:lnTo>
                    <a:pt x="339453" y="4309104"/>
                  </a:lnTo>
                  <a:lnTo>
                    <a:pt x="378529" y="4332537"/>
                  </a:lnTo>
                  <a:lnTo>
                    <a:pt x="419123" y="4353577"/>
                  </a:lnTo>
                  <a:lnTo>
                    <a:pt x="461137" y="4372128"/>
                  </a:lnTo>
                  <a:lnTo>
                    <a:pt x="504475" y="4388090"/>
                  </a:lnTo>
                  <a:lnTo>
                    <a:pt x="549039" y="4401369"/>
                  </a:lnTo>
                  <a:lnTo>
                    <a:pt x="594733" y="4411866"/>
                  </a:lnTo>
                  <a:lnTo>
                    <a:pt x="641458" y="4419484"/>
                  </a:lnTo>
                  <a:lnTo>
                    <a:pt x="689118" y="4424126"/>
                  </a:lnTo>
                  <a:lnTo>
                    <a:pt x="737616" y="4425696"/>
                  </a:lnTo>
                  <a:lnTo>
                    <a:pt x="10235184" y="4425696"/>
                  </a:lnTo>
                  <a:lnTo>
                    <a:pt x="10283687" y="4424126"/>
                  </a:lnTo>
                  <a:lnTo>
                    <a:pt x="10331351" y="4419484"/>
                  </a:lnTo>
                  <a:lnTo>
                    <a:pt x="10378080" y="4411866"/>
                  </a:lnTo>
                  <a:lnTo>
                    <a:pt x="10423777" y="4401369"/>
                  </a:lnTo>
                  <a:lnTo>
                    <a:pt x="10468343" y="4388090"/>
                  </a:lnTo>
                  <a:lnTo>
                    <a:pt x="10511683" y="4372128"/>
                  </a:lnTo>
                  <a:lnTo>
                    <a:pt x="10553698" y="4353577"/>
                  </a:lnTo>
                  <a:lnTo>
                    <a:pt x="10594292" y="4332537"/>
                  </a:lnTo>
                  <a:lnTo>
                    <a:pt x="10633368" y="4309104"/>
                  </a:lnTo>
                  <a:lnTo>
                    <a:pt x="10670828" y="4283376"/>
                  </a:lnTo>
                  <a:lnTo>
                    <a:pt x="10706575" y="4255449"/>
                  </a:lnTo>
                  <a:lnTo>
                    <a:pt x="10740513" y="4225421"/>
                  </a:lnTo>
                  <a:lnTo>
                    <a:pt x="10772543" y="4193389"/>
                  </a:lnTo>
                  <a:lnTo>
                    <a:pt x="10802570" y="4159450"/>
                  </a:lnTo>
                  <a:lnTo>
                    <a:pt x="10830494" y="4123702"/>
                  </a:lnTo>
                  <a:lnTo>
                    <a:pt x="10856221" y="4086242"/>
                  </a:lnTo>
                  <a:lnTo>
                    <a:pt x="10879652" y="4047166"/>
                  </a:lnTo>
                  <a:lnTo>
                    <a:pt x="10900690" y="4006572"/>
                  </a:lnTo>
                  <a:lnTo>
                    <a:pt x="10919238" y="3964558"/>
                  </a:lnTo>
                  <a:lnTo>
                    <a:pt x="10935199" y="3921220"/>
                  </a:lnTo>
                  <a:lnTo>
                    <a:pt x="10948476" y="3876656"/>
                  </a:lnTo>
                  <a:lnTo>
                    <a:pt x="10958972" y="3830962"/>
                  </a:lnTo>
                  <a:lnTo>
                    <a:pt x="10966589" y="3784237"/>
                  </a:lnTo>
                  <a:lnTo>
                    <a:pt x="10971231" y="3736577"/>
                  </a:lnTo>
                  <a:lnTo>
                    <a:pt x="10972800" y="3688079"/>
                  </a:lnTo>
                  <a:lnTo>
                    <a:pt x="10972800" y="737615"/>
                  </a:lnTo>
                  <a:lnTo>
                    <a:pt x="10971231" y="689112"/>
                  </a:lnTo>
                  <a:lnTo>
                    <a:pt x="10966589" y="641448"/>
                  </a:lnTo>
                  <a:lnTo>
                    <a:pt x="10958972" y="594719"/>
                  </a:lnTo>
                  <a:lnTo>
                    <a:pt x="10948476" y="549022"/>
                  </a:lnTo>
                  <a:lnTo>
                    <a:pt x="10935199" y="504456"/>
                  </a:lnTo>
                  <a:lnTo>
                    <a:pt x="10919238" y="461116"/>
                  </a:lnTo>
                  <a:lnTo>
                    <a:pt x="10900690" y="419101"/>
                  </a:lnTo>
                  <a:lnTo>
                    <a:pt x="10879652" y="378507"/>
                  </a:lnTo>
                  <a:lnTo>
                    <a:pt x="10856221" y="339431"/>
                  </a:lnTo>
                  <a:lnTo>
                    <a:pt x="10830494" y="301971"/>
                  </a:lnTo>
                  <a:lnTo>
                    <a:pt x="10802570" y="266224"/>
                  </a:lnTo>
                  <a:lnTo>
                    <a:pt x="10772543" y="232286"/>
                  </a:lnTo>
                  <a:lnTo>
                    <a:pt x="10740513" y="200256"/>
                  </a:lnTo>
                  <a:lnTo>
                    <a:pt x="10706575" y="170229"/>
                  </a:lnTo>
                  <a:lnTo>
                    <a:pt x="10670828" y="142305"/>
                  </a:lnTo>
                  <a:lnTo>
                    <a:pt x="10633368" y="116578"/>
                  </a:lnTo>
                  <a:lnTo>
                    <a:pt x="10594292" y="93147"/>
                  </a:lnTo>
                  <a:lnTo>
                    <a:pt x="10553698" y="72109"/>
                  </a:lnTo>
                  <a:lnTo>
                    <a:pt x="10511683" y="53561"/>
                  </a:lnTo>
                  <a:lnTo>
                    <a:pt x="10468343" y="37600"/>
                  </a:lnTo>
                  <a:lnTo>
                    <a:pt x="10423777" y="24323"/>
                  </a:lnTo>
                  <a:lnTo>
                    <a:pt x="10378080" y="13827"/>
                  </a:lnTo>
                  <a:lnTo>
                    <a:pt x="10331351" y="6210"/>
                  </a:lnTo>
                  <a:lnTo>
                    <a:pt x="10283687" y="1568"/>
                  </a:lnTo>
                  <a:lnTo>
                    <a:pt x="1023518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4359" y="1792223"/>
              <a:ext cx="10972800" cy="4425950"/>
            </a:xfrm>
            <a:custGeom>
              <a:avLst/>
              <a:gdLst/>
              <a:ahLst/>
              <a:cxnLst/>
              <a:rect l="l" t="t" r="r" b="b"/>
              <a:pathLst>
                <a:path w="10972800" h="4425950">
                  <a:moveTo>
                    <a:pt x="0" y="737615"/>
                  </a:moveTo>
                  <a:lnTo>
                    <a:pt x="1569" y="689112"/>
                  </a:lnTo>
                  <a:lnTo>
                    <a:pt x="6211" y="641448"/>
                  </a:lnTo>
                  <a:lnTo>
                    <a:pt x="13829" y="594719"/>
                  </a:lnTo>
                  <a:lnTo>
                    <a:pt x="24326" y="549022"/>
                  </a:lnTo>
                  <a:lnTo>
                    <a:pt x="37605" y="504456"/>
                  </a:lnTo>
                  <a:lnTo>
                    <a:pt x="53567" y="461116"/>
                  </a:lnTo>
                  <a:lnTo>
                    <a:pt x="72118" y="419101"/>
                  </a:lnTo>
                  <a:lnTo>
                    <a:pt x="93158" y="378507"/>
                  </a:lnTo>
                  <a:lnTo>
                    <a:pt x="116591" y="339431"/>
                  </a:lnTo>
                  <a:lnTo>
                    <a:pt x="142319" y="301971"/>
                  </a:lnTo>
                  <a:lnTo>
                    <a:pt x="170246" y="266224"/>
                  </a:lnTo>
                  <a:lnTo>
                    <a:pt x="200274" y="232286"/>
                  </a:lnTo>
                  <a:lnTo>
                    <a:pt x="232306" y="200256"/>
                  </a:lnTo>
                  <a:lnTo>
                    <a:pt x="266245" y="170229"/>
                  </a:lnTo>
                  <a:lnTo>
                    <a:pt x="301993" y="142305"/>
                  </a:lnTo>
                  <a:lnTo>
                    <a:pt x="339453" y="116578"/>
                  </a:lnTo>
                  <a:lnTo>
                    <a:pt x="378529" y="93147"/>
                  </a:lnTo>
                  <a:lnTo>
                    <a:pt x="419123" y="72109"/>
                  </a:lnTo>
                  <a:lnTo>
                    <a:pt x="461137" y="53561"/>
                  </a:lnTo>
                  <a:lnTo>
                    <a:pt x="504475" y="37600"/>
                  </a:lnTo>
                  <a:lnTo>
                    <a:pt x="549039" y="24323"/>
                  </a:lnTo>
                  <a:lnTo>
                    <a:pt x="594733" y="13827"/>
                  </a:lnTo>
                  <a:lnTo>
                    <a:pt x="641458" y="6210"/>
                  </a:lnTo>
                  <a:lnTo>
                    <a:pt x="689118" y="1568"/>
                  </a:lnTo>
                  <a:lnTo>
                    <a:pt x="737616" y="0"/>
                  </a:lnTo>
                  <a:lnTo>
                    <a:pt x="10235184" y="0"/>
                  </a:lnTo>
                  <a:lnTo>
                    <a:pt x="10283687" y="1568"/>
                  </a:lnTo>
                  <a:lnTo>
                    <a:pt x="10331351" y="6210"/>
                  </a:lnTo>
                  <a:lnTo>
                    <a:pt x="10378080" y="13827"/>
                  </a:lnTo>
                  <a:lnTo>
                    <a:pt x="10423777" y="24323"/>
                  </a:lnTo>
                  <a:lnTo>
                    <a:pt x="10468343" y="37600"/>
                  </a:lnTo>
                  <a:lnTo>
                    <a:pt x="10511683" y="53561"/>
                  </a:lnTo>
                  <a:lnTo>
                    <a:pt x="10553698" y="72109"/>
                  </a:lnTo>
                  <a:lnTo>
                    <a:pt x="10594292" y="93147"/>
                  </a:lnTo>
                  <a:lnTo>
                    <a:pt x="10633368" y="116578"/>
                  </a:lnTo>
                  <a:lnTo>
                    <a:pt x="10670828" y="142305"/>
                  </a:lnTo>
                  <a:lnTo>
                    <a:pt x="10706575" y="170229"/>
                  </a:lnTo>
                  <a:lnTo>
                    <a:pt x="10740513" y="200256"/>
                  </a:lnTo>
                  <a:lnTo>
                    <a:pt x="10772543" y="232286"/>
                  </a:lnTo>
                  <a:lnTo>
                    <a:pt x="10802570" y="266224"/>
                  </a:lnTo>
                  <a:lnTo>
                    <a:pt x="10830494" y="301971"/>
                  </a:lnTo>
                  <a:lnTo>
                    <a:pt x="10856221" y="339431"/>
                  </a:lnTo>
                  <a:lnTo>
                    <a:pt x="10879652" y="378507"/>
                  </a:lnTo>
                  <a:lnTo>
                    <a:pt x="10900690" y="419101"/>
                  </a:lnTo>
                  <a:lnTo>
                    <a:pt x="10919238" y="461116"/>
                  </a:lnTo>
                  <a:lnTo>
                    <a:pt x="10935199" y="504456"/>
                  </a:lnTo>
                  <a:lnTo>
                    <a:pt x="10948476" y="549022"/>
                  </a:lnTo>
                  <a:lnTo>
                    <a:pt x="10958972" y="594719"/>
                  </a:lnTo>
                  <a:lnTo>
                    <a:pt x="10966589" y="641448"/>
                  </a:lnTo>
                  <a:lnTo>
                    <a:pt x="10971231" y="689112"/>
                  </a:lnTo>
                  <a:lnTo>
                    <a:pt x="10972800" y="737615"/>
                  </a:lnTo>
                  <a:lnTo>
                    <a:pt x="10972800" y="3688079"/>
                  </a:lnTo>
                  <a:lnTo>
                    <a:pt x="10971231" y="3736577"/>
                  </a:lnTo>
                  <a:lnTo>
                    <a:pt x="10966589" y="3784237"/>
                  </a:lnTo>
                  <a:lnTo>
                    <a:pt x="10958972" y="3830962"/>
                  </a:lnTo>
                  <a:lnTo>
                    <a:pt x="10948476" y="3876656"/>
                  </a:lnTo>
                  <a:lnTo>
                    <a:pt x="10935199" y="3921220"/>
                  </a:lnTo>
                  <a:lnTo>
                    <a:pt x="10919238" y="3964558"/>
                  </a:lnTo>
                  <a:lnTo>
                    <a:pt x="10900690" y="4006572"/>
                  </a:lnTo>
                  <a:lnTo>
                    <a:pt x="10879652" y="4047166"/>
                  </a:lnTo>
                  <a:lnTo>
                    <a:pt x="10856221" y="4086242"/>
                  </a:lnTo>
                  <a:lnTo>
                    <a:pt x="10830494" y="4123702"/>
                  </a:lnTo>
                  <a:lnTo>
                    <a:pt x="10802570" y="4159450"/>
                  </a:lnTo>
                  <a:lnTo>
                    <a:pt x="10772543" y="4193389"/>
                  </a:lnTo>
                  <a:lnTo>
                    <a:pt x="10740513" y="4225421"/>
                  </a:lnTo>
                  <a:lnTo>
                    <a:pt x="10706575" y="4255449"/>
                  </a:lnTo>
                  <a:lnTo>
                    <a:pt x="10670828" y="4283376"/>
                  </a:lnTo>
                  <a:lnTo>
                    <a:pt x="10633368" y="4309104"/>
                  </a:lnTo>
                  <a:lnTo>
                    <a:pt x="10594292" y="4332537"/>
                  </a:lnTo>
                  <a:lnTo>
                    <a:pt x="10553698" y="4353577"/>
                  </a:lnTo>
                  <a:lnTo>
                    <a:pt x="10511683" y="4372128"/>
                  </a:lnTo>
                  <a:lnTo>
                    <a:pt x="10468343" y="4388090"/>
                  </a:lnTo>
                  <a:lnTo>
                    <a:pt x="10423777" y="4401369"/>
                  </a:lnTo>
                  <a:lnTo>
                    <a:pt x="10378080" y="4411866"/>
                  </a:lnTo>
                  <a:lnTo>
                    <a:pt x="10331351" y="4419484"/>
                  </a:lnTo>
                  <a:lnTo>
                    <a:pt x="10283687" y="4424126"/>
                  </a:lnTo>
                  <a:lnTo>
                    <a:pt x="10235184" y="4425696"/>
                  </a:lnTo>
                  <a:lnTo>
                    <a:pt x="737616" y="4425696"/>
                  </a:lnTo>
                  <a:lnTo>
                    <a:pt x="689118" y="4424126"/>
                  </a:lnTo>
                  <a:lnTo>
                    <a:pt x="641458" y="4419484"/>
                  </a:lnTo>
                  <a:lnTo>
                    <a:pt x="594733" y="4411866"/>
                  </a:lnTo>
                  <a:lnTo>
                    <a:pt x="549039" y="4401369"/>
                  </a:lnTo>
                  <a:lnTo>
                    <a:pt x="504475" y="4388090"/>
                  </a:lnTo>
                  <a:lnTo>
                    <a:pt x="461137" y="4372128"/>
                  </a:lnTo>
                  <a:lnTo>
                    <a:pt x="419123" y="4353577"/>
                  </a:lnTo>
                  <a:lnTo>
                    <a:pt x="378529" y="4332537"/>
                  </a:lnTo>
                  <a:lnTo>
                    <a:pt x="339453" y="4309104"/>
                  </a:lnTo>
                  <a:lnTo>
                    <a:pt x="301993" y="4283376"/>
                  </a:lnTo>
                  <a:lnTo>
                    <a:pt x="266245" y="4255449"/>
                  </a:lnTo>
                  <a:lnTo>
                    <a:pt x="232306" y="4225421"/>
                  </a:lnTo>
                  <a:lnTo>
                    <a:pt x="200274" y="4193389"/>
                  </a:lnTo>
                  <a:lnTo>
                    <a:pt x="170246" y="4159450"/>
                  </a:lnTo>
                  <a:lnTo>
                    <a:pt x="142319" y="4123702"/>
                  </a:lnTo>
                  <a:lnTo>
                    <a:pt x="116591" y="4086242"/>
                  </a:lnTo>
                  <a:lnTo>
                    <a:pt x="93158" y="4047166"/>
                  </a:lnTo>
                  <a:lnTo>
                    <a:pt x="72118" y="4006572"/>
                  </a:lnTo>
                  <a:lnTo>
                    <a:pt x="53567" y="3964558"/>
                  </a:lnTo>
                  <a:lnTo>
                    <a:pt x="37605" y="3921220"/>
                  </a:lnTo>
                  <a:lnTo>
                    <a:pt x="24326" y="3876656"/>
                  </a:lnTo>
                  <a:lnTo>
                    <a:pt x="13829" y="3830962"/>
                  </a:lnTo>
                  <a:lnTo>
                    <a:pt x="6211" y="3784237"/>
                  </a:lnTo>
                  <a:lnTo>
                    <a:pt x="1569" y="3736577"/>
                  </a:lnTo>
                  <a:lnTo>
                    <a:pt x="0" y="3688079"/>
                  </a:lnTo>
                  <a:lnTo>
                    <a:pt x="0" y="737615"/>
                  </a:lnTo>
                  <a:close/>
                </a:path>
              </a:pathLst>
            </a:custGeom>
            <a:ln w="12191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54760" y="2285822"/>
            <a:ext cx="1008253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Calibri"/>
                <a:cs typeface="Calibri"/>
              </a:rPr>
              <a:t>Donor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/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Hospital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→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Web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UI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→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Authentication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→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Backend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API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→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Database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→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Compatibility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Logic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→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Response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Dashboard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→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Logs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Metrics</a:t>
            </a:r>
            <a:r>
              <a:rPr sz="1400" i="1" spc="-10" dirty="0">
                <a:solidFill>
                  <a:srgbClr val="6B7180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7912" y="6251854"/>
            <a:ext cx="1893570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endParaRPr sz="1600" dirty="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6565391"/>
            <a:ext cx="12192000" cy="292735"/>
          </a:xfrm>
          <a:custGeom>
            <a:avLst/>
            <a:gdLst/>
            <a:ahLst/>
            <a:cxnLst/>
            <a:rect l="l" t="t" r="r" b="b"/>
            <a:pathLst>
              <a:path w="12192000" h="292734">
                <a:moveTo>
                  <a:pt x="0" y="292608"/>
                </a:moveTo>
                <a:lnTo>
                  <a:pt x="12192000" y="292608"/>
                </a:lnTo>
                <a:lnTo>
                  <a:pt x="12192000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138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5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Stage</a:t>
            </a:r>
            <a:r>
              <a:rPr spc="1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Submission</a:t>
            </a:r>
            <a:r>
              <a:rPr spc="-55" dirty="0"/>
              <a:t> </a:t>
            </a:r>
            <a:r>
              <a:rPr spc="-20" dirty="0"/>
              <a:t>Deck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85"/>
              </a:spcBef>
            </a:pPr>
            <a:r>
              <a:rPr spc="-10" dirty="0"/>
              <a:t>13/23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5"/>
            <a:ext cx="12204700" cy="579120"/>
            <a:chOff x="-6095" y="-6095"/>
            <a:chExt cx="12204700" cy="57912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567055"/>
            </a:xfrm>
            <a:custGeom>
              <a:avLst/>
              <a:gdLst/>
              <a:ahLst/>
              <a:cxnLst/>
              <a:rect l="l" t="t" r="r" b="b"/>
              <a:pathLst>
                <a:path w="12045950" h="567055">
                  <a:moveTo>
                    <a:pt x="0" y="566927"/>
                  </a:moveTo>
                  <a:lnTo>
                    <a:pt x="12045696" y="566927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567055"/>
            </a:xfrm>
            <a:custGeom>
              <a:avLst/>
              <a:gdLst/>
              <a:ahLst/>
              <a:cxnLst/>
              <a:rect l="l" t="t" r="r" b="b"/>
              <a:pathLst>
                <a:path w="12192000" h="567055">
                  <a:moveTo>
                    <a:pt x="0" y="566927"/>
                  </a:moveTo>
                  <a:lnTo>
                    <a:pt x="12192000" y="5669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146304" y="566927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7"/>
                  </a:moveTo>
                  <a:lnTo>
                    <a:pt x="146304" y="566927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805796" y="141223"/>
            <a:ext cx="17176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9" name="object 9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9353"/>
            <a:ext cx="69335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111727"/>
                </a:solidFill>
              </a:rPr>
              <a:t>Prototype</a:t>
            </a:r>
            <a:r>
              <a:rPr sz="3200" spc="-4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Build</a:t>
            </a:r>
            <a:r>
              <a:rPr sz="3200" spc="-7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Plan</a:t>
            </a:r>
            <a:r>
              <a:rPr sz="3200" spc="-8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&amp;</a:t>
            </a:r>
            <a:r>
              <a:rPr sz="3200" spc="-7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Timeline</a:t>
            </a:r>
            <a:r>
              <a:rPr sz="3200" spc="-60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(Sprints)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656640" y="1422654"/>
            <a:ext cx="605409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Break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work</a:t>
            </a:r>
            <a:r>
              <a:rPr sz="1600" spc="-2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into</a:t>
            </a:r>
            <a:r>
              <a:rPr sz="1600" spc="-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2–4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short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sprints.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Each</a:t>
            </a:r>
            <a:r>
              <a:rPr sz="1600" spc="-5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ends</a:t>
            </a:r>
            <a:r>
              <a:rPr sz="1600" spc="-5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with</a:t>
            </a:r>
            <a:r>
              <a:rPr sz="1600" spc="-5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a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demoable</a:t>
            </a:r>
            <a:r>
              <a:rPr sz="1600" spc="-5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increment.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4580" y="6313398"/>
            <a:ext cx="1381760" cy="485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Tip:</a:t>
            </a:r>
            <a:r>
              <a:rPr sz="1200" i="1" spc="-4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Use</a:t>
            </a:r>
            <a:r>
              <a:rPr sz="120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“Definition</a:t>
            </a:r>
            <a:r>
              <a:rPr sz="1200" i="1" spc="-4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spc="-25" dirty="0">
                <a:solidFill>
                  <a:srgbClr val="6B7180"/>
                </a:solidFill>
                <a:latin typeface="Calibri"/>
                <a:cs typeface="Calibri"/>
              </a:rPr>
              <a:t>of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r>
              <a:rPr sz="1000" dirty="0">
                <a:solidFill>
                  <a:srgbClr val="6B7180"/>
                </a:solidFill>
                <a:latin typeface="Calibri"/>
                <a:cs typeface="Calibri"/>
              </a:rPr>
              <a:t>SoI</a:t>
            </a:r>
            <a:r>
              <a:rPr sz="1000" spc="-1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B7180"/>
                </a:solidFill>
                <a:latin typeface="Calibri"/>
                <a:cs typeface="Calibri"/>
              </a:rPr>
              <a:t>Prototype</a:t>
            </a:r>
            <a:r>
              <a:rPr sz="1000" spc="-4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B7180"/>
                </a:solidFill>
                <a:latin typeface="Calibri"/>
                <a:cs typeface="Calibri"/>
              </a:rPr>
              <a:t>Stage</a:t>
            </a:r>
            <a:r>
              <a:rPr sz="1000" spc="-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B7180"/>
                </a:solidFill>
                <a:latin typeface="Calibri"/>
                <a:cs typeface="Calibri"/>
              </a:rPr>
              <a:t>—</a:t>
            </a:r>
            <a:r>
              <a:rPr sz="1000" spc="-25" dirty="0">
                <a:solidFill>
                  <a:srgbClr val="6B7180"/>
                </a:solidFill>
                <a:latin typeface="Calibri"/>
                <a:cs typeface="Calibri"/>
              </a:rPr>
              <a:t> Sub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6033" y="6313398"/>
            <a:ext cx="3366135" cy="485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">
              <a:lnSpc>
                <a:spcPts val="1140"/>
              </a:lnSpc>
            </a:pP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Done”</a:t>
            </a:r>
            <a:r>
              <a:rPr sz="1200" i="1" spc="-3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for</a:t>
            </a:r>
            <a:r>
              <a:rPr sz="1200" i="1" spc="1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each</a:t>
            </a:r>
            <a:r>
              <a:rPr sz="1200" i="1" spc="-2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sprint</a:t>
            </a:r>
            <a:r>
              <a:rPr sz="1200" i="1" spc="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(demoable</a:t>
            </a:r>
            <a:r>
              <a:rPr sz="1200" i="1" spc="-5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+</a:t>
            </a:r>
            <a:r>
              <a:rPr sz="1200" i="1" spc="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evidence</a:t>
            </a:r>
            <a:r>
              <a:rPr sz="120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captured).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r>
              <a:rPr sz="1000" dirty="0">
                <a:solidFill>
                  <a:srgbClr val="6B7180"/>
                </a:solidFill>
                <a:latin typeface="Calibri"/>
                <a:cs typeface="Calibri"/>
              </a:rPr>
              <a:t>mission</a:t>
            </a:r>
            <a:r>
              <a:rPr sz="1000" spc="-6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B7180"/>
                </a:solidFill>
                <a:latin typeface="Calibri"/>
                <a:cs typeface="Calibri"/>
              </a:rPr>
              <a:t>Deck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6565391"/>
            <a:ext cx="12192000" cy="292735"/>
          </a:xfrm>
          <a:custGeom>
            <a:avLst/>
            <a:gdLst/>
            <a:ahLst/>
            <a:cxnLst/>
            <a:rect l="l" t="t" r="r" b="b"/>
            <a:pathLst>
              <a:path w="12192000" h="292734">
                <a:moveTo>
                  <a:pt x="0" y="292608"/>
                </a:moveTo>
                <a:lnTo>
                  <a:pt x="12192000" y="292608"/>
                </a:lnTo>
                <a:lnTo>
                  <a:pt x="12192000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924031" y="6643420"/>
            <a:ext cx="33655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15" dirty="0">
                <a:latin typeface="Calibri"/>
                <a:cs typeface="Calibri"/>
              </a:rPr>
              <a:t>14/23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0" y="1799970"/>
          <a:ext cx="12190094" cy="50501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0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5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5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Sprint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4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tasks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deliverables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Owner(s)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Week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 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595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Set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up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secure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donor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registration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14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(Auth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Data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Entry).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Pavithra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655"/>
                        </a:lnSpc>
                        <a:spcBef>
                          <a:spcPts val="33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Functional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donor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registration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3345">
                        <a:lnSpc>
                          <a:spcPts val="165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authentication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module.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Week</a:t>
                      </a:r>
                      <a:r>
                        <a:rPr sz="14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Develop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hospital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portal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(Login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View).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Roshini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73075">
                        <a:lnSpc>
                          <a:spcPts val="1630"/>
                        </a:lnSpc>
                        <a:spcBef>
                          <a:spcPts val="434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Hospitals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log</a:t>
                      </a:r>
                      <a:r>
                        <a:rPr sz="1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view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verified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donor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data.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Week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3-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595"/>
                        </a:lnSpc>
                        <a:spcBef>
                          <a:spcPts val="27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Implement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donor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availability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status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logic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dashboard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display.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Nitheeskumar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655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Dashboard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showing</a:t>
                      </a:r>
                      <a:r>
                        <a:rPr sz="1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donor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3345">
                        <a:lnSpc>
                          <a:spcPts val="165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availability</a:t>
                      </a:r>
                      <a:r>
                        <a:rPr sz="14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updates.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Week</a:t>
                      </a:r>
                      <a:r>
                        <a:rPr sz="14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blood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compatibility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alerts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basic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reporting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features.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Nitishkumar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17525">
                        <a:lnSpc>
                          <a:spcPts val="1630"/>
                        </a:lnSpc>
                        <a:spcBef>
                          <a:spcPts val="44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Alerts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basic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reports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generated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hospital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users.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Week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6-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ts val="158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Conduct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PoC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testing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end-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finalize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demo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ts val="154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preparation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Ragunath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655"/>
                        </a:lnSpc>
                        <a:spcBef>
                          <a:spcPts val="35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End-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feedback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validation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3345">
                        <a:lnSpc>
                          <a:spcPts val="165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platform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features.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1591" y="26413"/>
            <a:ext cx="12204700" cy="579120"/>
            <a:chOff x="-6095" y="-6095"/>
            <a:chExt cx="12204700" cy="57912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567055"/>
            </a:xfrm>
            <a:custGeom>
              <a:avLst/>
              <a:gdLst/>
              <a:ahLst/>
              <a:cxnLst/>
              <a:rect l="l" t="t" r="r" b="b"/>
              <a:pathLst>
                <a:path w="12045950" h="567055">
                  <a:moveTo>
                    <a:pt x="0" y="566927"/>
                  </a:moveTo>
                  <a:lnTo>
                    <a:pt x="12045696" y="566927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567055"/>
            </a:xfrm>
            <a:custGeom>
              <a:avLst/>
              <a:gdLst/>
              <a:ahLst/>
              <a:cxnLst/>
              <a:rect l="l" t="t" r="r" b="b"/>
              <a:pathLst>
                <a:path w="12192000" h="567055">
                  <a:moveTo>
                    <a:pt x="0" y="566927"/>
                  </a:moveTo>
                  <a:lnTo>
                    <a:pt x="12192000" y="5669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146304" y="566927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7"/>
                  </a:moveTo>
                  <a:lnTo>
                    <a:pt x="146304" y="566927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805796" y="141223"/>
            <a:ext cx="17176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9" name="object 9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65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RESOURCES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9353"/>
            <a:ext cx="44424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111727"/>
                </a:solidFill>
              </a:rPr>
              <a:t>Resources,</a:t>
            </a:r>
            <a:r>
              <a:rPr sz="3200" spc="-6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BOM</a:t>
            </a:r>
            <a:r>
              <a:rPr sz="3200" spc="-6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&amp;</a:t>
            </a:r>
            <a:r>
              <a:rPr sz="3200" spc="-90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Budget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671880" y="1435734"/>
            <a:ext cx="77889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List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need.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Keep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realistic 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constraints.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(BOM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Materials)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94359" y="1914144"/>
            <a:ext cx="10979150" cy="469900"/>
            <a:chOff x="594359" y="1914144"/>
            <a:chExt cx="10979150" cy="469900"/>
          </a:xfrm>
        </p:grpSpPr>
        <p:sp>
          <p:nvSpPr>
            <p:cNvPr id="15" name="object 15"/>
            <p:cNvSpPr/>
            <p:nvPr/>
          </p:nvSpPr>
          <p:spPr>
            <a:xfrm>
              <a:off x="594360" y="1920239"/>
              <a:ext cx="5486400" cy="457200"/>
            </a:xfrm>
            <a:custGeom>
              <a:avLst/>
              <a:gdLst/>
              <a:ahLst/>
              <a:cxnLst/>
              <a:rect l="l" t="t" r="r" b="b"/>
              <a:pathLst>
                <a:path w="5486400" h="457200">
                  <a:moveTo>
                    <a:pt x="5486387" y="0"/>
                  </a:moveTo>
                  <a:lnTo>
                    <a:pt x="3950208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3950208" y="457200"/>
                  </a:lnTo>
                  <a:lnTo>
                    <a:pt x="5486387" y="457200"/>
                  </a:lnTo>
                  <a:lnTo>
                    <a:pt x="5486387" y="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44568" y="1920240"/>
              <a:ext cx="1536700" cy="457200"/>
            </a:xfrm>
            <a:custGeom>
              <a:avLst/>
              <a:gdLst/>
              <a:ahLst/>
              <a:cxnLst/>
              <a:rect l="l" t="t" r="r" b="b"/>
              <a:pathLst>
                <a:path w="1536700" h="457200">
                  <a:moveTo>
                    <a:pt x="0" y="457200"/>
                  </a:moveTo>
                  <a:lnTo>
                    <a:pt x="1536191" y="457200"/>
                  </a:lnTo>
                  <a:lnTo>
                    <a:pt x="1536191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80759" y="1920240"/>
              <a:ext cx="1536700" cy="457200"/>
            </a:xfrm>
            <a:custGeom>
              <a:avLst/>
              <a:gdLst/>
              <a:ahLst/>
              <a:cxnLst/>
              <a:rect l="l" t="t" r="r" b="b"/>
              <a:pathLst>
                <a:path w="1536700" h="457200">
                  <a:moveTo>
                    <a:pt x="1536191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536191" y="457200"/>
                  </a:lnTo>
                  <a:lnTo>
                    <a:pt x="1536191" y="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80759" y="1920240"/>
              <a:ext cx="1536700" cy="457200"/>
            </a:xfrm>
            <a:custGeom>
              <a:avLst/>
              <a:gdLst/>
              <a:ahLst/>
              <a:cxnLst/>
              <a:rect l="l" t="t" r="r" b="b"/>
              <a:pathLst>
                <a:path w="1536700" h="457200">
                  <a:moveTo>
                    <a:pt x="0" y="457200"/>
                  </a:moveTo>
                  <a:lnTo>
                    <a:pt x="1536191" y="457200"/>
                  </a:lnTo>
                  <a:lnTo>
                    <a:pt x="1536191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16952" y="1920240"/>
              <a:ext cx="1975485" cy="457200"/>
            </a:xfrm>
            <a:custGeom>
              <a:avLst/>
              <a:gdLst/>
              <a:ahLst/>
              <a:cxnLst/>
              <a:rect l="l" t="t" r="r" b="b"/>
              <a:pathLst>
                <a:path w="1975484" h="457200">
                  <a:moveTo>
                    <a:pt x="1975103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975103" y="457200"/>
                  </a:lnTo>
                  <a:lnTo>
                    <a:pt x="1975103" y="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16952" y="1920240"/>
              <a:ext cx="1975485" cy="457200"/>
            </a:xfrm>
            <a:custGeom>
              <a:avLst/>
              <a:gdLst/>
              <a:ahLst/>
              <a:cxnLst/>
              <a:rect l="l" t="t" r="r" b="b"/>
              <a:pathLst>
                <a:path w="1975484" h="457200">
                  <a:moveTo>
                    <a:pt x="0" y="457200"/>
                  </a:moveTo>
                  <a:lnTo>
                    <a:pt x="1975103" y="457200"/>
                  </a:lnTo>
                  <a:lnTo>
                    <a:pt x="1975103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592055" y="1920240"/>
              <a:ext cx="1975485" cy="457200"/>
            </a:xfrm>
            <a:custGeom>
              <a:avLst/>
              <a:gdLst/>
              <a:ahLst/>
              <a:cxnLst/>
              <a:rect l="l" t="t" r="r" b="b"/>
              <a:pathLst>
                <a:path w="1975484" h="457200">
                  <a:moveTo>
                    <a:pt x="1975103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975103" y="457200"/>
                  </a:lnTo>
                  <a:lnTo>
                    <a:pt x="1975103" y="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592055" y="1920240"/>
              <a:ext cx="1975485" cy="457200"/>
            </a:xfrm>
            <a:custGeom>
              <a:avLst/>
              <a:gdLst/>
              <a:ahLst/>
              <a:cxnLst/>
              <a:rect l="l" t="t" r="r" b="b"/>
              <a:pathLst>
                <a:path w="1975484" h="457200">
                  <a:moveTo>
                    <a:pt x="0" y="457200"/>
                  </a:moveTo>
                  <a:lnTo>
                    <a:pt x="1975103" y="457200"/>
                  </a:lnTo>
                  <a:lnTo>
                    <a:pt x="1975103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69976" y="5449823"/>
            <a:ext cx="11047730" cy="1111250"/>
            <a:chOff x="569976" y="5449823"/>
            <a:chExt cx="11047730" cy="1111250"/>
          </a:xfrm>
        </p:grpSpPr>
        <p:sp>
          <p:nvSpPr>
            <p:cNvPr id="24" name="object 24"/>
            <p:cNvSpPr/>
            <p:nvPr/>
          </p:nvSpPr>
          <p:spPr>
            <a:xfrm>
              <a:off x="594360" y="5449823"/>
              <a:ext cx="10972800" cy="768350"/>
            </a:xfrm>
            <a:custGeom>
              <a:avLst/>
              <a:gdLst/>
              <a:ahLst/>
              <a:cxnLst/>
              <a:rect l="l" t="t" r="r" b="b"/>
              <a:pathLst>
                <a:path w="10972800" h="768350">
                  <a:moveTo>
                    <a:pt x="5486387" y="0"/>
                  </a:moveTo>
                  <a:lnTo>
                    <a:pt x="3950208" y="0"/>
                  </a:lnTo>
                  <a:lnTo>
                    <a:pt x="0" y="0"/>
                  </a:lnTo>
                  <a:lnTo>
                    <a:pt x="0" y="768096"/>
                  </a:lnTo>
                  <a:lnTo>
                    <a:pt x="3950208" y="768096"/>
                  </a:lnTo>
                  <a:lnTo>
                    <a:pt x="5486387" y="768096"/>
                  </a:lnTo>
                  <a:lnTo>
                    <a:pt x="5486387" y="0"/>
                  </a:lnTo>
                  <a:close/>
                </a:path>
                <a:path w="10972800" h="768350">
                  <a:moveTo>
                    <a:pt x="10972800" y="0"/>
                  </a:moveTo>
                  <a:lnTo>
                    <a:pt x="8997696" y="0"/>
                  </a:lnTo>
                  <a:lnTo>
                    <a:pt x="7022592" y="0"/>
                  </a:lnTo>
                  <a:lnTo>
                    <a:pt x="5486400" y="0"/>
                  </a:lnTo>
                  <a:lnTo>
                    <a:pt x="5486400" y="768096"/>
                  </a:lnTo>
                  <a:lnTo>
                    <a:pt x="7022592" y="768096"/>
                  </a:lnTo>
                  <a:lnTo>
                    <a:pt x="8997696" y="768096"/>
                  </a:lnTo>
                  <a:lnTo>
                    <a:pt x="10972800" y="768096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976" y="6102095"/>
              <a:ext cx="11047222" cy="45857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4360" y="6126479"/>
              <a:ext cx="10972800" cy="384175"/>
            </a:xfrm>
            <a:custGeom>
              <a:avLst/>
              <a:gdLst/>
              <a:ahLst/>
              <a:cxnLst/>
              <a:rect l="l" t="t" r="r" b="b"/>
              <a:pathLst>
                <a:path w="10972800" h="384175">
                  <a:moveTo>
                    <a:pt x="10908792" y="0"/>
                  </a:moveTo>
                  <a:lnTo>
                    <a:pt x="64008" y="0"/>
                  </a:lnTo>
                  <a:lnTo>
                    <a:pt x="39090" y="5029"/>
                  </a:lnTo>
                  <a:lnTo>
                    <a:pt x="18745" y="18745"/>
                  </a:lnTo>
                  <a:lnTo>
                    <a:pt x="5029" y="39090"/>
                  </a:lnTo>
                  <a:lnTo>
                    <a:pt x="0" y="64008"/>
                  </a:lnTo>
                  <a:lnTo>
                    <a:pt x="0" y="320040"/>
                  </a:lnTo>
                  <a:lnTo>
                    <a:pt x="5029" y="344952"/>
                  </a:lnTo>
                  <a:lnTo>
                    <a:pt x="18745" y="365298"/>
                  </a:lnTo>
                  <a:lnTo>
                    <a:pt x="39090" y="379017"/>
                  </a:lnTo>
                  <a:lnTo>
                    <a:pt x="64008" y="384048"/>
                  </a:lnTo>
                  <a:lnTo>
                    <a:pt x="10908792" y="384048"/>
                  </a:lnTo>
                  <a:lnTo>
                    <a:pt x="10933687" y="379017"/>
                  </a:lnTo>
                  <a:lnTo>
                    <a:pt x="10954035" y="365298"/>
                  </a:lnTo>
                  <a:lnTo>
                    <a:pt x="10967763" y="344952"/>
                  </a:lnTo>
                  <a:lnTo>
                    <a:pt x="10972800" y="320040"/>
                  </a:lnTo>
                  <a:lnTo>
                    <a:pt x="10972800" y="64008"/>
                  </a:lnTo>
                  <a:lnTo>
                    <a:pt x="10967763" y="39090"/>
                  </a:lnTo>
                  <a:lnTo>
                    <a:pt x="10954035" y="18745"/>
                  </a:lnTo>
                  <a:lnTo>
                    <a:pt x="10933687" y="5029"/>
                  </a:lnTo>
                  <a:lnTo>
                    <a:pt x="10908792" y="0"/>
                  </a:lnTo>
                  <a:close/>
                </a:path>
              </a:pathLst>
            </a:custGeom>
            <a:solidFill>
              <a:srgbClr val="EFF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7" name="objec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981706"/>
              </p:ext>
            </p:extLst>
          </p:nvPr>
        </p:nvGraphicFramePr>
        <p:xfrm>
          <a:off x="585745" y="1920239"/>
          <a:ext cx="10972164" cy="45466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 gridSpan="5"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010"/>
                        </a:spcBef>
                        <a:tabLst>
                          <a:tab pos="4150995" algn="l"/>
                          <a:tab pos="5687695" algn="l"/>
                          <a:tab pos="7223759" algn="l"/>
                          <a:tab pos="9199245" algn="l"/>
                        </a:tabLs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Item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resource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Qty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Unit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8270" marB="0"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     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         LAPTOP /PC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2 units,8GB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0(Personal use)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             ---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Used for development and testing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0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        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         VS Code IDE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Software (open source)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https://code.visualstudio.com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Main code editor for frontend &amp; backend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7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3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         AWS Free Tier( EC2,RDS)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Account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https://aws.am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azon.com/free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Hosting for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 err="1">
                          <a:latin typeface="Times New Roman"/>
                          <a:cs typeface="Times New Roman"/>
                        </a:rPr>
                        <a:t>backend,DB</a:t>
                      </a: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, &amp;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7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         MySQL  Database</a:t>
                      </a: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Cloud-hosted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via RDS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Included in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AWS free tier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Used for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storing donor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and hospital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0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3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        GitHub  Repository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BAF7D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1 repo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BAF7D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BAF7D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https://github.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com/Roshini-</a:t>
                      </a:r>
                      <a:r>
                        <a:rPr lang="en-IN" sz="1300" dirty="0" err="1">
                          <a:latin typeface="Times New Roman"/>
                          <a:cs typeface="Times New Roman"/>
                        </a:rPr>
                        <a:t>pyexpo</a:t>
                      </a: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lang="en-IN" sz="1300" dirty="0" err="1">
                          <a:latin typeface="Times New Roman"/>
                          <a:cs typeface="Times New Roman"/>
                        </a:rPr>
                        <a:t>BloodLock</a:t>
                      </a:r>
                      <a:endParaRPr lang="en-IN"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BAF7D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Version control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00" dirty="0">
                          <a:latin typeface="Times New Roman"/>
                          <a:cs typeface="Times New Roman"/>
                        </a:rPr>
                        <a:t>&amp; project</a:t>
                      </a: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BAF7D0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AF7D0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BAF7D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BAF7D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BAF7D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BAF7D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9050">
                      <a:solidFill>
                        <a:srgbClr val="BAF7D0"/>
                      </a:solidFill>
                      <a:prstDash val="solid"/>
                    </a:lnR>
                    <a:lnT w="12700">
                      <a:solidFill>
                        <a:srgbClr val="BAF7D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365">
                <a:tc gridSpan="5">
                  <a:txBody>
                    <a:bodyPr/>
                    <a:lstStyle/>
                    <a:p>
                      <a:pPr marL="236220">
                        <a:lnSpc>
                          <a:spcPts val="1105"/>
                        </a:lnSpc>
                        <a:tabLst>
                          <a:tab pos="1368425" algn="l"/>
                        </a:tabLst>
                      </a:pPr>
                      <a:r>
                        <a:rPr sz="2400" b="1" baseline="-31250" dirty="0">
                          <a:solidFill>
                            <a:srgbClr val="111727"/>
                          </a:solidFill>
                          <a:latin typeface="Calibri"/>
                          <a:cs typeface="Calibri"/>
                        </a:rPr>
                        <a:t>Budget</a:t>
                      </a:r>
                      <a:r>
                        <a:rPr sz="2400" b="1" spc="-112" baseline="-31250" dirty="0">
                          <a:solidFill>
                            <a:srgbClr val="1117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37" baseline="-31250" dirty="0">
                          <a:solidFill>
                            <a:srgbClr val="111727"/>
                          </a:solidFill>
                          <a:latin typeface="Calibri"/>
                          <a:cs typeface="Calibri"/>
                        </a:rPr>
                        <a:t>tip</a:t>
                      </a:r>
                      <a:r>
                        <a:rPr sz="2400" b="1" baseline="-31250" dirty="0">
                          <a:solidFill>
                            <a:srgbClr val="111727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Team-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funded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prototype: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student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credits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(AWS/GCP</a:t>
                      </a:r>
                      <a:r>
                        <a:rPr sz="11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etc.)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1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provided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platforms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(ByteXL/Nimbus,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Gemini);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minimal</a:t>
                      </a:r>
                      <a:r>
                        <a:rPr sz="1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must-have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spend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via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friends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family.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You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  <a:p>
                      <a:pPr marL="1368425">
                        <a:lnSpc>
                          <a:spcPts val="79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target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funds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investors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1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affordable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prototype</a:t>
                      </a:r>
                      <a:r>
                        <a:rPr sz="11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build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now.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BAF7D0"/>
                      </a:solidFill>
                      <a:prstDash val="solid"/>
                    </a:lnL>
                    <a:lnR w="19050">
                      <a:solidFill>
                        <a:srgbClr val="BAF7D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0" y="6565391"/>
            <a:ext cx="12192000" cy="292735"/>
          </a:xfrm>
          <a:custGeom>
            <a:avLst/>
            <a:gdLst/>
            <a:ahLst/>
            <a:cxnLst/>
            <a:rect l="l" t="t" r="r" b="b"/>
            <a:pathLst>
              <a:path w="12192000" h="292734">
                <a:moveTo>
                  <a:pt x="0" y="292608"/>
                </a:moveTo>
                <a:lnTo>
                  <a:pt x="12192000" y="292608"/>
                </a:lnTo>
                <a:lnTo>
                  <a:pt x="12192000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138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5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Stage</a:t>
            </a:r>
            <a:r>
              <a:rPr spc="1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Submission</a:t>
            </a:r>
            <a:r>
              <a:rPr spc="-55" dirty="0"/>
              <a:t> </a:t>
            </a:r>
            <a:r>
              <a:rPr spc="-20" dirty="0"/>
              <a:t>Deck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320" rIns="0" bIns="0" rtlCol="0">
            <a:spAutoFit/>
          </a:bodyPr>
          <a:lstStyle/>
          <a:p>
            <a:pPr marL="114300">
              <a:lnSpc>
                <a:spcPts val="1150"/>
              </a:lnSpc>
            </a:pPr>
            <a:r>
              <a:rPr spc="-10" dirty="0"/>
              <a:t>15/23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5"/>
            <a:ext cx="12204700" cy="579120"/>
            <a:chOff x="-6095" y="-6095"/>
            <a:chExt cx="12204700" cy="57912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567055"/>
            </a:xfrm>
            <a:custGeom>
              <a:avLst/>
              <a:gdLst/>
              <a:ahLst/>
              <a:cxnLst/>
              <a:rect l="l" t="t" r="r" b="b"/>
              <a:pathLst>
                <a:path w="12045950" h="567055">
                  <a:moveTo>
                    <a:pt x="0" y="566927"/>
                  </a:moveTo>
                  <a:lnTo>
                    <a:pt x="12045696" y="566927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567055"/>
            </a:xfrm>
            <a:custGeom>
              <a:avLst/>
              <a:gdLst/>
              <a:ahLst/>
              <a:cxnLst/>
              <a:rect l="l" t="t" r="r" b="b"/>
              <a:pathLst>
                <a:path w="12192000" h="567055">
                  <a:moveTo>
                    <a:pt x="0" y="566927"/>
                  </a:moveTo>
                  <a:lnTo>
                    <a:pt x="12192000" y="5669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146304" y="566927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7"/>
                  </a:moveTo>
                  <a:lnTo>
                    <a:pt x="146304" y="566927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2400" y="141223"/>
            <a:ext cx="120338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667385" algn="r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9" name="object 9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VALIDATE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9353"/>
            <a:ext cx="581787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111727"/>
                </a:solidFill>
              </a:rPr>
              <a:t>Prototype</a:t>
            </a:r>
            <a:r>
              <a:rPr sz="3200" spc="-6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Demo</a:t>
            </a:r>
            <a:r>
              <a:rPr sz="3200" spc="-9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&amp;</a:t>
            </a:r>
            <a:r>
              <a:rPr sz="3200" spc="-80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Validation</a:t>
            </a:r>
            <a:r>
              <a:rPr sz="3200" spc="-120" dirty="0">
                <a:solidFill>
                  <a:srgbClr val="111727"/>
                </a:solidFill>
              </a:rPr>
              <a:t> </a:t>
            </a:r>
            <a:r>
              <a:rPr sz="3200" spc="-20" dirty="0">
                <a:solidFill>
                  <a:srgbClr val="111727"/>
                </a:solidFill>
              </a:rPr>
              <a:t>Plan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671880" y="1454023"/>
            <a:ext cx="61779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What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you</a:t>
            </a:r>
            <a:r>
              <a:rPr sz="16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will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show,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how</a:t>
            </a:r>
            <a:r>
              <a:rPr sz="16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you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will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test,</a:t>
            </a:r>
            <a:r>
              <a:rPr sz="1600" spc="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and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what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evidence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you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will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capture.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9485" y="1868170"/>
            <a:ext cx="5715635" cy="4563745"/>
            <a:chOff x="579485" y="1868170"/>
            <a:chExt cx="5715635" cy="456374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485" y="1869084"/>
              <a:ext cx="5715300" cy="45628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94360" y="1874520"/>
              <a:ext cx="5669280" cy="4526280"/>
            </a:xfrm>
            <a:custGeom>
              <a:avLst/>
              <a:gdLst/>
              <a:ahLst/>
              <a:cxnLst/>
              <a:rect l="l" t="t" r="r" b="b"/>
              <a:pathLst>
                <a:path w="5669280" h="4526280">
                  <a:moveTo>
                    <a:pt x="4914900" y="0"/>
                  </a:moveTo>
                  <a:lnTo>
                    <a:pt x="754380" y="0"/>
                  </a:lnTo>
                  <a:lnTo>
                    <a:pt x="706672" y="1483"/>
                  </a:lnTo>
                  <a:lnTo>
                    <a:pt x="659753" y="5876"/>
                  </a:lnTo>
                  <a:lnTo>
                    <a:pt x="613711" y="13090"/>
                  </a:lnTo>
                  <a:lnTo>
                    <a:pt x="568634" y="23036"/>
                  </a:lnTo>
                  <a:lnTo>
                    <a:pt x="524611" y="35626"/>
                  </a:lnTo>
                  <a:lnTo>
                    <a:pt x="481730" y="50771"/>
                  </a:lnTo>
                  <a:lnTo>
                    <a:pt x="440078" y="68384"/>
                  </a:lnTo>
                  <a:lnTo>
                    <a:pt x="399746" y="88376"/>
                  </a:lnTo>
                  <a:lnTo>
                    <a:pt x="360820" y="110659"/>
                  </a:lnTo>
                  <a:lnTo>
                    <a:pt x="323390" y="135144"/>
                  </a:lnTo>
                  <a:lnTo>
                    <a:pt x="287544" y="161744"/>
                  </a:lnTo>
                  <a:lnTo>
                    <a:pt x="253369" y="190369"/>
                  </a:lnTo>
                  <a:lnTo>
                    <a:pt x="220956" y="220932"/>
                  </a:lnTo>
                  <a:lnTo>
                    <a:pt x="190391" y="253344"/>
                  </a:lnTo>
                  <a:lnTo>
                    <a:pt x="161763" y="287517"/>
                  </a:lnTo>
                  <a:lnTo>
                    <a:pt x="135162" y="323362"/>
                  </a:lnTo>
                  <a:lnTo>
                    <a:pt x="110674" y="360792"/>
                  </a:lnTo>
                  <a:lnTo>
                    <a:pt x="88389" y="399718"/>
                  </a:lnTo>
                  <a:lnTo>
                    <a:pt x="68394" y="440051"/>
                  </a:lnTo>
                  <a:lnTo>
                    <a:pt x="50779" y="481704"/>
                  </a:lnTo>
                  <a:lnTo>
                    <a:pt x="35631" y="524587"/>
                  </a:lnTo>
                  <a:lnTo>
                    <a:pt x="23040" y="568613"/>
                  </a:lnTo>
                  <a:lnTo>
                    <a:pt x="13092" y="613694"/>
                  </a:lnTo>
                  <a:lnTo>
                    <a:pt x="5877" y="659741"/>
                  </a:lnTo>
                  <a:lnTo>
                    <a:pt x="1484" y="706666"/>
                  </a:lnTo>
                  <a:lnTo>
                    <a:pt x="0" y="754379"/>
                  </a:lnTo>
                  <a:lnTo>
                    <a:pt x="0" y="3771887"/>
                  </a:lnTo>
                  <a:lnTo>
                    <a:pt x="1484" y="3819595"/>
                  </a:lnTo>
                  <a:lnTo>
                    <a:pt x="5877" y="3866516"/>
                  </a:lnTo>
                  <a:lnTo>
                    <a:pt x="13092" y="3912559"/>
                  </a:lnTo>
                  <a:lnTo>
                    <a:pt x="23040" y="3957637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5"/>
                  </a:lnTo>
                  <a:lnTo>
                    <a:pt x="135162" y="4202886"/>
                  </a:lnTo>
                  <a:lnTo>
                    <a:pt x="161763" y="4238733"/>
                  </a:lnTo>
                  <a:lnTo>
                    <a:pt x="190391" y="4272908"/>
                  </a:lnTo>
                  <a:lnTo>
                    <a:pt x="220956" y="4305322"/>
                  </a:lnTo>
                  <a:lnTo>
                    <a:pt x="253369" y="4335887"/>
                  </a:lnTo>
                  <a:lnTo>
                    <a:pt x="287544" y="4364515"/>
                  </a:lnTo>
                  <a:lnTo>
                    <a:pt x="323390" y="4391117"/>
                  </a:lnTo>
                  <a:lnTo>
                    <a:pt x="360820" y="4415604"/>
                  </a:lnTo>
                  <a:lnTo>
                    <a:pt x="399746" y="4437890"/>
                  </a:lnTo>
                  <a:lnTo>
                    <a:pt x="440078" y="4457884"/>
                  </a:lnTo>
                  <a:lnTo>
                    <a:pt x="481730" y="4475500"/>
                  </a:lnTo>
                  <a:lnTo>
                    <a:pt x="524611" y="4490648"/>
                  </a:lnTo>
                  <a:lnTo>
                    <a:pt x="568634" y="4503239"/>
                  </a:lnTo>
                  <a:lnTo>
                    <a:pt x="613711" y="4513187"/>
                  </a:lnTo>
                  <a:lnTo>
                    <a:pt x="659753" y="4520402"/>
                  </a:lnTo>
                  <a:lnTo>
                    <a:pt x="706672" y="4524795"/>
                  </a:lnTo>
                  <a:lnTo>
                    <a:pt x="754380" y="4526280"/>
                  </a:lnTo>
                  <a:lnTo>
                    <a:pt x="4914900" y="4526280"/>
                  </a:lnTo>
                  <a:lnTo>
                    <a:pt x="4962613" y="4524795"/>
                  </a:lnTo>
                  <a:lnTo>
                    <a:pt x="5009538" y="4520402"/>
                  </a:lnTo>
                  <a:lnTo>
                    <a:pt x="5055585" y="4513187"/>
                  </a:lnTo>
                  <a:lnTo>
                    <a:pt x="5100666" y="4503239"/>
                  </a:lnTo>
                  <a:lnTo>
                    <a:pt x="5144692" y="4490648"/>
                  </a:lnTo>
                  <a:lnTo>
                    <a:pt x="5187575" y="4475500"/>
                  </a:lnTo>
                  <a:lnTo>
                    <a:pt x="5229228" y="4457884"/>
                  </a:lnTo>
                  <a:lnTo>
                    <a:pt x="5269561" y="4437890"/>
                  </a:lnTo>
                  <a:lnTo>
                    <a:pt x="5308487" y="4415604"/>
                  </a:lnTo>
                  <a:lnTo>
                    <a:pt x="5345917" y="4391117"/>
                  </a:lnTo>
                  <a:lnTo>
                    <a:pt x="5381762" y="4364515"/>
                  </a:lnTo>
                  <a:lnTo>
                    <a:pt x="5415935" y="4335887"/>
                  </a:lnTo>
                  <a:lnTo>
                    <a:pt x="5448347" y="4305322"/>
                  </a:lnTo>
                  <a:lnTo>
                    <a:pt x="5478910" y="4272908"/>
                  </a:lnTo>
                  <a:lnTo>
                    <a:pt x="5507535" y="4238733"/>
                  </a:lnTo>
                  <a:lnTo>
                    <a:pt x="5534135" y="4202886"/>
                  </a:lnTo>
                  <a:lnTo>
                    <a:pt x="5558620" y="4165455"/>
                  </a:lnTo>
                  <a:lnTo>
                    <a:pt x="5580903" y="4126529"/>
                  </a:lnTo>
                  <a:lnTo>
                    <a:pt x="5600895" y="4086196"/>
                  </a:lnTo>
                  <a:lnTo>
                    <a:pt x="5618508" y="4044544"/>
                  </a:lnTo>
                  <a:lnTo>
                    <a:pt x="5633653" y="4001661"/>
                  </a:lnTo>
                  <a:lnTo>
                    <a:pt x="5646243" y="3957637"/>
                  </a:lnTo>
                  <a:lnTo>
                    <a:pt x="5656189" y="3912559"/>
                  </a:lnTo>
                  <a:lnTo>
                    <a:pt x="5663403" y="3866516"/>
                  </a:lnTo>
                  <a:lnTo>
                    <a:pt x="5667796" y="3819595"/>
                  </a:lnTo>
                  <a:lnTo>
                    <a:pt x="5669280" y="3771887"/>
                  </a:lnTo>
                  <a:lnTo>
                    <a:pt x="5669280" y="754379"/>
                  </a:lnTo>
                  <a:lnTo>
                    <a:pt x="5667796" y="706666"/>
                  </a:lnTo>
                  <a:lnTo>
                    <a:pt x="5663403" y="659741"/>
                  </a:lnTo>
                  <a:lnTo>
                    <a:pt x="5656189" y="613694"/>
                  </a:lnTo>
                  <a:lnTo>
                    <a:pt x="5646243" y="568613"/>
                  </a:lnTo>
                  <a:lnTo>
                    <a:pt x="5633653" y="524587"/>
                  </a:lnTo>
                  <a:lnTo>
                    <a:pt x="5618508" y="481704"/>
                  </a:lnTo>
                  <a:lnTo>
                    <a:pt x="5600895" y="440051"/>
                  </a:lnTo>
                  <a:lnTo>
                    <a:pt x="5580903" y="399718"/>
                  </a:lnTo>
                  <a:lnTo>
                    <a:pt x="5558620" y="360792"/>
                  </a:lnTo>
                  <a:lnTo>
                    <a:pt x="5534135" y="323362"/>
                  </a:lnTo>
                  <a:lnTo>
                    <a:pt x="5507535" y="287517"/>
                  </a:lnTo>
                  <a:lnTo>
                    <a:pt x="5478910" y="253344"/>
                  </a:lnTo>
                  <a:lnTo>
                    <a:pt x="5448347" y="220932"/>
                  </a:lnTo>
                  <a:lnTo>
                    <a:pt x="5415935" y="190369"/>
                  </a:lnTo>
                  <a:lnTo>
                    <a:pt x="5381762" y="161744"/>
                  </a:lnTo>
                  <a:lnTo>
                    <a:pt x="5345917" y="135144"/>
                  </a:lnTo>
                  <a:lnTo>
                    <a:pt x="5308487" y="110659"/>
                  </a:lnTo>
                  <a:lnTo>
                    <a:pt x="5269561" y="88376"/>
                  </a:lnTo>
                  <a:lnTo>
                    <a:pt x="5229228" y="68384"/>
                  </a:lnTo>
                  <a:lnTo>
                    <a:pt x="5187575" y="50771"/>
                  </a:lnTo>
                  <a:lnTo>
                    <a:pt x="5144692" y="35626"/>
                  </a:lnTo>
                  <a:lnTo>
                    <a:pt x="5100666" y="23036"/>
                  </a:lnTo>
                  <a:lnTo>
                    <a:pt x="5055585" y="13090"/>
                  </a:lnTo>
                  <a:lnTo>
                    <a:pt x="5009538" y="5876"/>
                  </a:lnTo>
                  <a:lnTo>
                    <a:pt x="4962613" y="1483"/>
                  </a:lnTo>
                  <a:lnTo>
                    <a:pt x="4914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4360" y="1874520"/>
              <a:ext cx="5669280" cy="4526280"/>
            </a:xfrm>
            <a:custGeom>
              <a:avLst/>
              <a:gdLst/>
              <a:ahLst/>
              <a:cxnLst/>
              <a:rect l="l" t="t" r="r" b="b"/>
              <a:pathLst>
                <a:path w="5669280" h="4526280">
                  <a:moveTo>
                    <a:pt x="0" y="754379"/>
                  </a:moveTo>
                  <a:lnTo>
                    <a:pt x="1484" y="706666"/>
                  </a:lnTo>
                  <a:lnTo>
                    <a:pt x="5877" y="659741"/>
                  </a:lnTo>
                  <a:lnTo>
                    <a:pt x="13092" y="613694"/>
                  </a:lnTo>
                  <a:lnTo>
                    <a:pt x="23040" y="568613"/>
                  </a:lnTo>
                  <a:lnTo>
                    <a:pt x="35631" y="524587"/>
                  </a:lnTo>
                  <a:lnTo>
                    <a:pt x="50779" y="481704"/>
                  </a:lnTo>
                  <a:lnTo>
                    <a:pt x="68394" y="440051"/>
                  </a:lnTo>
                  <a:lnTo>
                    <a:pt x="88389" y="399718"/>
                  </a:lnTo>
                  <a:lnTo>
                    <a:pt x="110674" y="360792"/>
                  </a:lnTo>
                  <a:lnTo>
                    <a:pt x="135162" y="323362"/>
                  </a:lnTo>
                  <a:lnTo>
                    <a:pt x="161763" y="287517"/>
                  </a:lnTo>
                  <a:lnTo>
                    <a:pt x="190391" y="253344"/>
                  </a:lnTo>
                  <a:lnTo>
                    <a:pt x="220956" y="220932"/>
                  </a:lnTo>
                  <a:lnTo>
                    <a:pt x="253369" y="190369"/>
                  </a:lnTo>
                  <a:lnTo>
                    <a:pt x="287544" y="161744"/>
                  </a:lnTo>
                  <a:lnTo>
                    <a:pt x="323390" y="135144"/>
                  </a:lnTo>
                  <a:lnTo>
                    <a:pt x="360820" y="110659"/>
                  </a:lnTo>
                  <a:lnTo>
                    <a:pt x="399746" y="88376"/>
                  </a:lnTo>
                  <a:lnTo>
                    <a:pt x="440078" y="68384"/>
                  </a:lnTo>
                  <a:lnTo>
                    <a:pt x="481730" y="50771"/>
                  </a:lnTo>
                  <a:lnTo>
                    <a:pt x="524611" y="35626"/>
                  </a:lnTo>
                  <a:lnTo>
                    <a:pt x="568634" y="23036"/>
                  </a:lnTo>
                  <a:lnTo>
                    <a:pt x="613711" y="13090"/>
                  </a:lnTo>
                  <a:lnTo>
                    <a:pt x="659753" y="5876"/>
                  </a:lnTo>
                  <a:lnTo>
                    <a:pt x="706672" y="1483"/>
                  </a:lnTo>
                  <a:lnTo>
                    <a:pt x="754380" y="0"/>
                  </a:lnTo>
                  <a:lnTo>
                    <a:pt x="4914900" y="0"/>
                  </a:lnTo>
                  <a:lnTo>
                    <a:pt x="4962613" y="1483"/>
                  </a:lnTo>
                  <a:lnTo>
                    <a:pt x="5009538" y="5876"/>
                  </a:lnTo>
                  <a:lnTo>
                    <a:pt x="5055585" y="13090"/>
                  </a:lnTo>
                  <a:lnTo>
                    <a:pt x="5100666" y="23036"/>
                  </a:lnTo>
                  <a:lnTo>
                    <a:pt x="5144692" y="35626"/>
                  </a:lnTo>
                  <a:lnTo>
                    <a:pt x="5187575" y="50771"/>
                  </a:lnTo>
                  <a:lnTo>
                    <a:pt x="5229228" y="68384"/>
                  </a:lnTo>
                  <a:lnTo>
                    <a:pt x="5269561" y="88376"/>
                  </a:lnTo>
                  <a:lnTo>
                    <a:pt x="5308487" y="110659"/>
                  </a:lnTo>
                  <a:lnTo>
                    <a:pt x="5345917" y="135144"/>
                  </a:lnTo>
                  <a:lnTo>
                    <a:pt x="5381762" y="161744"/>
                  </a:lnTo>
                  <a:lnTo>
                    <a:pt x="5415935" y="190369"/>
                  </a:lnTo>
                  <a:lnTo>
                    <a:pt x="5448347" y="220932"/>
                  </a:lnTo>
                  <a:lnTo>
                    <a:pt x="5478910" y="253344"/>
                  </a:lnTo>
                  <a:lnTo>
                    <a:pt x="5507535" y="287517"/>
                  </a:lnTo>
                  <a:lnTo>
                    <a:pt x="5534135" y="323362"/>
                  </a:lnTo>
                  <a:lnTo>
                    <a:pt x="5558620" y="360792"/>
                  </a:lnTo>
                  <a:lnTo>
                    <a:pt x="5580903" y="399718"/>
                  </a:lnTo>
                  <a:lnTo>
                    <a:pt x="5600895" y="440051"/>
                  </a:lnTo>
                  <a:lnTo>
                    <a:pt x="5618508" y="481704"/>
                  </a:lnTo>
                  <a:lnTo>
                    <a:pt x="5633653" y="524587"/>
                  </a:lnTo>
                  <a:lnTo>
                    <a:pt x="5646243" y="568613"/>
                  </a:lnTo>
                  <a:lnTo>
                    <a:pt x="5656189" y="613694"/>
                  </a:lnTo>
                  <a:lnTo>
                    <a:pt x="5663403" y="659741"/>
                  </a:lnTo>
                  <a:lnTo>
                    <a:pt x="5667796" y="706666"/>
                  </a:lnTo>
                  <a:lnTo>
                    <a:pt x="5669280" y="754379"/>
                  </a:lnTo>
                  <a:lnTo>
                    <a:pt x="5669280" y="3771887"/>
                  </a:lnTo>
                  <a:lnTo>
                    <a:pt x="5667796" y="3819595"/>
                  </a:lnTo>
                  <a:lnTo>
                    <a:pt x="5663403" y="3866516"/>
                  </a:lnTo>
                  <a:lnTo>
                    <a:pt x="5656189" y="3912559"/>
                  </a:lnTo>
                  <a:lnTo>
                    <a:pt x="5646243" y="3957637"/>
                  </a:lnTo>
                  <a:lnTo>
                    <a:pt x="5633653" y="4001661"/>
                  </a:lnTo>
                  <a:lnTo>
                    <a:pt x="5618508" y="4044544"/>
                  </a:lnTo>
                  <a:lnTo>
                    <a:pt x="5600895" y="4086196"/>
                  </a:lnTo>
                  <a:lnTo>
                    <a:pt x="5580903" y="4126529"/>
                  </a:lnTo>
                  <a:lnTo>
                    <a:pt x="5558620" y="4165455"/>
                  </a:lnTo>
                  <a:lnTo>
                    <a:pt x="5534135" y="4202886"/>
                  </a:lnTo>
                  <a:lnTo>
                    <a:pt x="5507535" y="4238733"/>
                  </a:lnTo>
                  <a:lnTo>
                    <a:pt x="5478910" y="4272908"/>
                  </a:lnTo>
                  <a:lnTo>
                    <a:pt x="5448347" y="4305322"/>
                  </a:lnTo>
                  <a:lnTo>
                    <a:pt x="5415935" y="4335887"/>
                  </a:lnTo>
                  <a:lnTo>
                    <a:pt x="5381762" y="4364515"/>
                  </a:lnTo>
                  <a:lnTo>
                    <a:pt x="5345917" y="4391117"/>
                  </a:lnTo>
                  <a:lnTo>
                    <a:pt x="5308487" y="4415604"/>
                  </a:lnTo>
                  <a:lnTo>
                    <a:pt x="5269561" y="4437890"/>
                  </a:lnTo>
                  <a:lnTo>
                    <a:pt x="5229228" y="4457884"/>
                  </a:lnTo>
                  <a:lnTo>
                    <a:pt x="5187575" y="4475500"/>
                  </a:lnTo>
                  <a:lnTo>
                    <a:pt x="5144692" y="4490648"/>
                  </a:lnTo>
                  <a:lnTo>
                    <a:pt x="5100666" y="4503239"/>
                  </a:lnTo>
                  <a:lnTo>
                    <a:pt x="5055585" y="4513187"/>
                  </a:lnTo>
                  <a:lnTo>
                    <a:pt x="5009538" y="4520402"/>
                  </a:lnTo>
                  <a:lnTo>
                    <a:pt x="4962613" y="4524795"/>
                  </a:lnTo>
                  <a:lnTo>
                    <a:pt x="4914900" y="4526280"/>
                  </a:lnTo>
                  <a:lnTo>
                    <a:pt x="754380" y="4526280"/>
                  </a:lnTo>
                  <a:lnTo>
                    <a:pt x="706672" y="4524795"/>
                  </a:lnTo>
                  <a:lnTo>
                    <a:pt x="659753" y="4520402"/>
                  </a:lnTo>
                  <a:lnTo>
                    <a:pt x="613711" y="4513187"/>
                  </a:lnTo>
                  <a:lnTo>
                    <a:pt x="568634" y="4503239"/>
                  </a:lnTo>
                  <a:lnTo>
                    <a:pt x="524611" y="4490648"/>
                  </a:lnTo>
                  <a:lnTo>
                    <a:pt x="481730" y="4475500"/>
                  </a:lnTo>
                  <a:lnTo>
                    <a:pt x="440078" y="4457884"/>
                  </a:lnTo>
                  <a:lnTo>
                    <a:pt x="399746" y="4437890"/>
                  </a:lnTo>
                  <a:lnTo>
                    <a:pt x="360820" y="4415604"/>
                  </a:lnTo>
                  <a:lnTo>
                    <a:pt x="323390" y="4391117"/>
                  </a:lnTo>
                  <a:lnTo>
                    <a:pt x="287544" y="4364515"/>
                  </a:lnTo>
                  <a:lnTo>
                    <a:pt x="253369" y="4335887"/>
                  </a:lnTo>
                  <a:lnTo>
                    <a:pt x="220956" y="4305322"/>
                  </a:lnTo>
                  <a:lnTo>
                    <a:pt x="190391" y="4272908"/>
                  </a:lnTo>
                  <a:lnTo>
                    <a:pt x="161763" y="4238733"/>
                  </a:lnTo>
                  <a:lnTo>
                    <a:pt x="135162" y="4202886"/>
                  </a:lnTo>
                  <a:lnTo>
                    <a:pt x="110674" y="4165455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40" y="3957637"/>
                  </a:lnTo>
                  <a:lnTo>
                    <a:pt x="13092" y="3912559"/>
                  </a:lnTo>
                  <a:lnTo>
                    <a:pt x="5877" y="3866516"/>
                  </a:lnTo>
                  <a:lnTo>
                    <a:pt x="1484" y="3819595"/>
                  </a:lnTo>
                  <a:lnTo>
                    <a:pt x="0" y="3771887"/>
                  </a:lnTo>
                  <a:lnTo>
                    <a:pt x="0" y="75437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27912" y="1966031"/>
            <a:ext cx="3810000" cy="21018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Demo</a:t>
            </a:r>
            <a:r>
              <a:rPr sz="1600" b="1" spc="-3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scenario</a:t>
            </a:r>
            <a:r>
              <a:rPr sz="1600" b="1" spc="-3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11727"/>
                </a:solidFill>
                <a:latin typeface="Calibri"/>
                <a:cs typeface="Calibri"/>
              </a:rPr>
              <a:t>(fill)</a:t>
            </a:r>
            <a:endParaRPr sz="1600">
              <a:latin typeface="Calibri"/>
              <a:cs typeface="Calibri"/>
            </a:endParaRPr>
          </a:p>
          <a:p>
            <a:pPr marL="64135" marR="716280" indent="-52069">
              <a:lnSpc>
                <a:spcPct val="100000"/>
              </a:lnSpc>
              <a:spcBef>
                <a:spcPts val="770"/>
              </a:spcBef>
            </a:pPr>
            <a:r>
              <a:rPr sz="1800" dirty="0">
                <a:latin typeface="Calibri"/>
                <a:cs typeface="Calibri"/>
              </a:rPr>
              <a:t>[Donor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registers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Donor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updates</a:t>
            </a:r>
            <a:r>
              <a:rPr sz="1800" spc="-10" dirty="0">
                <a:latin typeface="Calibri"/>
                <a:cs typeface="Calibri"/>
              </a:rPr>
              <a:t> availability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status </a:t>
            </a:r>
            <a:r>
              <a:rPr sz="1800" dirty="0">
                <a:latin typeface="Calibri"/>
                <a:cs typeface="Calibri"/>
              </a:rPr>
              <a:t>Hospital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securely</a:t>
            </a:r>
            <a:endParaRPr sz="1800">
              <a:latin typeface="Calibri"/>
              <a:cs typeface="Calibri"/>
            </a:endParaRPr>
          </a:p>
          <a:p>
            <a:pPr marL="64135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Hospital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compatible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donors Availability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status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reflected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instantly </a:t>
            </a:r>
            <a:r>
              <a:rPr sz="1800" dirty="0">
                <a:latin typeface="Calibri"/>
                <a:cs typeface="Calibri"/>
              </a:rPr>
              <a:t>Compatibility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alert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displayed]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7912" y="4316983"/>
            <a:ext cx="2623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Audience: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Mentors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Judges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Duration: </a:t>
            </a:r>
            <a:r>
              <a:rPr sz="1800" dirty="0">
                <a:latin typeface="Calibri"/>
                <a:cs typeface="Calibri"/>
              </a:rPr>
              <a:t>≤2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minutes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523091" y="1822450"/>
            <a:ext cx="5395595" cy="4563745"/>
            <a:chOff x="6523091" y="1822450"/>
            <a:chExt cx="5395595" cy="456374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3091" y="1823364"/>
              <a:ext cx="5395242" cy="456280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537960" y="1828800"/>
              <a:ext cx="5349240" cy="4526280"/>
            </a:xfrm>
            <a:custGeom>
              <a:avLst/>
              <a:gdLst/>
              <a:ahLst/>
              <a:cxnLst/>
              <a:rect l="l" t="t" r="r" b="b"/>
              <a:pathLst>
                <a:path w="5349240" h="4526280">
                  <a:moveTo>
                    <a:pt x="4594860" y="0"/>
                  </a:moveTo>
                  <a:lnTo>
                    <a:pt x="754380" y="0"/>
                  </a:lnTo>
                  <a:lnTo>
                    <a:pt x="706666" y="1483"/>
                  </a:lnTo>
                  <a:lnTo>
                    <a:pt x="659741" y="5876"/>
                  </a:lnTo>
                  <a:lnTo>
                    <a:pt x="613694" y="13090"/>
                  </a:lnTo>
                  <a:lnTo>
                    <a:pt x="568613" y="23036"/>
                  </a:lnTo>
                  <a:lnTo>
                    <a:pt x="524587" y="35626"/>
                  </a:lnTo>
                  <a:lnTo>
                    <a:pt x="481704" y="50771"/>
                  </a:lnTo>
                  <a:lnTo>
                    <a:pt x="440051" y="68384"/>
                  </a:lnTo>
                  <a:lnTo>
                    <a:pt x="399718" y="88376"/>
                  </a:lnTo>
                  <a:lnTo>
                    <a:pt x="360792" y="110659"/>
                  </a:lnTo>
                  <a:lnTo>
                    <a:pt x="323362" y="135144"/>
                  </a:lnTo>
                  <a:lnTo>
                    <a:pt x="287517" y="161744"/>
                  </a:lnTo>
                  <a:lnTo>
                    <a:pt x="253344" y="190369"/>
                  </a:lnTo>
                  <a:lnTo>
                    <a:pt x="220932" y="220932"/>
                  </a:lnTo>
                  <a:lnTo>
                    <a:pt x="190369" y="253344"/>
                  </a:lnTo>
                  <a:lnTo>
                    <a:pt x="161744" y="287517"/>
                  </a:lnTo>
                  <a:lnTo>
                    <a:pt x="135144" y="323362"/>
                  </a:lnTo>
                  <a:lnTo>
                    <a:pt x="110659" y="360792"/>
                  </a:lnTo>
                  <a:lnTo>
                    <a:pt x="88376" y="399718"/>
                  </a:lnTo>
                  <a:lnTo>
                    <a:pt x="68384" y="440051"/>
                  </a:lnTo>
                  <a:lnTo>
                    <a:pt x="50771" y="481704"/>
                  </a:lnTo>
                  <a:lnTo>
                    <a:pt x="35626" y="524587"/>
                  </a:lnTo>
                  <a:lnTo>
                    <a:pt x="23036" y="568613"/>
                  </a:lnTo>
                  <a:lnTo>
                    <a:pt x="13090" y="613694"/>
                  </a:lnTo>
                  <a:lnTo>
                    <a:pt x="5876" y="659741"/>
                  </a:lnTo>
                  <a:lnTo>
                    <a:pt x="1483" y="706666"/>
                  </a:lnTo>
                  <a:lnTo>
                    <a:pt x="0" y="754379"/>
                  </a:lnTo>
                  <a:lnTo>
                    <a:pt x="0" y="3771887"/>
                  </a:lnTo>
                  <a:lnTo>
                    <a:pt x="1483" y="3819595"/>
                  </a:lnTo>
                  <a:lnTo>
                    <a:pt x="5876" y="3866516"/>
                  </a:lnTo>
                  <a:lnTo>
                    <a:pt x="13090" y="3912559"/>
                  </a:lnTo>
                  <a:lnTo>
                    <a:pt x="23036" y="3957637"/>
                  </a:lnTo>
                  <a:lnTo>
                    <a:pt x="35626" y="4001661"/>
                  </a:lnTo>
                  <a:lnTo>
                    <a:pt x="50771" y="4044544"/>
                  </a:lnTo>
                  <a:lnTo>
                    <a:pt x="68384" y="4086196"/>
                  </a:lnTo>
                  <a:lnTo>
                    <a:pt x="88376" y="4126529"/>
                  </a:lnTo>
                  <a:lnTo>
                    <a:pt x="110659" y="4165455"/>
                  </a:lnTo>
                  <a:lnTo>
                    <a:pt x="135144" y="4202886"/>
                  </a:lnTo>
                  <a:lnTo>
                    <a:pt x="161744" y="4238733"/>
                  </a:lnTo>
                  <a:lnTo>
                    <a:pt x="190369" y="4272908"/>
                  </a:lnTo>
                  <a:lnTo>
                    <a:pt x="220932" y="4305322"/>
                  </a:lnTo>
                  <a:lnTo>
                    <a:pt x="253344" y="4335887"/>
                  </a:lnTo>
                  <a:lnTo>
                    <a:pt x="287517" y="4364515"/>
                  </a:lnTo>
                  <a:lnTo>
                    <a:pt x="323362" y="4391117"/>
                  </a:lnTo>
                  <a:lnTo>
                    <a:pt x="360792" y="4415604"/>
                  </a:lnTo>
                  <a:lnTo>
                    <a:pt x="399718" y="4437890"/>
                  </a:lnTo>
                  <a:lnTo>
                    <a:pt x="440051" y="4457884"/>
                  </a:lnTo>
                  <a:lnTo>
                    <a:pt x="481704" y="4475500"/>
                  </a:lnTo>
                  <a:lnTo>
                    <a:pt x="524587" y="4490648"/>
                  </a:lnTo>
                  <a:lnTo>
                    <a:pt x="568613" y="4503239"/>
                  </a:lnTo>
                  <a:lnTo>
                    <a:pt x="613694" y="4513187"/>
                  </a:lnTo>
                  <a:lnTo>
                    <a:pt x="659741" y="4520402"/>
                  </a:lnTo>
                  <a:lnTo>
                    <a:pt x="706666" y="4524795"/>
                  </a:lnTo>
                  <a:lnTo>
                    <a:pt x="754380" y="4526280"/>
                  </a:lnTo>
                  <a:lnTo>
                    <a:pt x="4594860" y="4526280"/>
                  </a:lnTo>
                  <a:lnTo>
                    <a:pt x="4642573" y="4524795"/>
                  </a:lnTo>
                  <a:lnTo>
                    <a:pt x="4689498" y="4520402"/>
                  </a:lnTo>
                  <a:lnTo>
                    <a:pt x="4735545" y="4513187"/>
                  </a:lnTo>
                  <a:lnTo>
                    <a:pt x="4780626" y="4503239"/>
                  </a:lnTo>
                  <a:lnTo>
                    <a:pt x="4824652" y="4490648"/>
                  </a:lnTo>
                  <a:lnTo>
                    <a:pt x="4867535" y="4475500"/>
                  </a:lnTo>
                  <a:lnTo>
                    <a:pt x="4909188" y="4457884"/>
                  </a:lnTo>
                  <a:lnTo>
                    <a:pt x="4949521" y="4437890"/>
                  </a:lnTo>
                  <a:lnTo>
                    <a:pt x="4988447" y="4415604"/>
                  </a:lnTo>
                  <a:lnTo>
                    <a:pt x="5025877" y="4391117"/>
                  </a:lnTo>
                  <a:lnTo>
                    <a:pt x="5061722" y="4364515"/>
                  </a:lnTo>
                  <a:lnTo>
                    <a:pt x="5095895" y="4335887"/>
                  </a:lnTo>
                  <a:lnTo>
                    <a:pt x="5128307" y="4305322"/>
                  </a:lnTo>
                  <a:lnTo>
                    <a:pt x="5158870" y="4272908"/>
                  </a:lnTo>
                  <a:lnTo>
                    <a:pt x="5187495" y="4238733"/>
                  </a:lnTo>
                  <a:lnTo>
                    <a:pt x="5214095" y="4202886"/>
                  </a:lnTo>
                  <a:lnTo>
                    <a:pt x="5238580" y="4165455"/>
                  </a:lnTo>
                  <a:lnTo>
                    <a:pt x="5260863" y="4126529"/>
                  </a:lnTo>
                  <a:lnTo>
                    <a:pt x="5280855" y="4086196"/>
                  </a:lnTo>
                  <a:lnTo>
                    <a:pt x="5298468" y="4044544"/>
                  </a:lnTo>
                  <a:lnTo>
                    <a:pt x="5313613" y="4001661"/>
                  </a:lnTo>
                  <a:lnTo>
                    <a:pt x="5326203" y="3957637"/>
                  </a:lnTo>
                  <a:lnTo>
                    <a:pt x="5336149" y="3912559"/>
                  </a:lnTo>
                  <a:lnTo>
                    <a:pt x="5343363" y="3866516"/>
                  </a:lnTo>
                  <a:lnTo>
                    <a:pt x="5347756" y="3819595"/>
                  </a:lnTo>
                  <a:lnTo>
                    <a:pt x="5349240" y="3771887"/>
                  </a:lnTo>
                  <a:lnTo>
                    <a:pt x="5349240" y="754379"/>
                  </a:lnTo>
                  <a:lnTo>
                    <a:pt x="5347756" y="706666"/>
                  </a:lnTo>
                  <a:lnTo>
                    <a:pt x="5343363" y="659741"/>
                  </a:lnTo>
                  <a:lnTo>
                    <a:pt x="5336149" y="613694"/>
                  </a:lnTo>
                  <a:lnTo>
                    <a:pt x="5326203" y="568613"/>
                  </a:lnTo>
                  <a:lnTo>
                    <a:pt x="5313613" y="524587"/>
                  </a:lnTo>
                  <a:lnTo>
                    <a:pt x="5298468" y="481704"/>
                  </a:lnTo>
                  <a:lnTo>
                    <a:pt x="5280855" y="440051"/>
                  </a:lnTo>
                  <a:lnTo>
                    <a:pt x="5260863" y="399718"/>
                  </a:lnTo>
                  <a:lnTo>
                    <a:pt x="5238580" y="360792"/>
                  </a:lnTo>
                  <a:lnTo>
                    <a:pt x="5214095" y="323362"/>
                  </a:lnTo>
                  <a:lnTo>
                    <a:pt x="5187495" y="287517"/>
                  </a:lnTo>
                  <a:lnTo>
                    <a:pt x="5158870" y="253344"/>
                  </a:lnTo>
                  <a:lnTo>
                    <a:pt x="5128307" y="220932"/>
                  </a:lnTo>
                  <a:lnTo>
                    <a:pt x="5095895" y="190369"/>
                  </a:lnTo>
                  <a:lnTo>
                    <a:pt x="5061722" y="161744"/>
                  </a:lnTo>
                  <a:lnTo>
                    <a:pt x="5025877" y="135144"/>
                  </a:lnTo>
                  <a:lnTo>
                    <a:pt x="4988447" y="110659"/>
                  </a:lnTo>
                  <a:lnTo>
                    <a:pt x="4949521" y="88376"/>
                  </a:lnTo>
                  <a:lnTo>
                    <a:pt x="4909188" y="68384"/>
                  </a:lnTo>
                  <a:lnTo>
                    <a:pt x="4867535" y="50771"/>
                  </a:lnTo>
                  <a:lnTo>
                    <a:pt x="4824652" y="35626"/>
                  </a:lnTo>
                  <a:lnTo>
                    <a:pt x="4780626" y="23036"/>
                  </a:lnTo>
                  <a:lnTo>
                    <a:pt x="4735545" y="13090"/>
                  </a:lnTo>
                  <a:lnTo>
                    <a:pt x="4689498" y="5876"/>
                  </a:lnTo>
                  <a:lnTo>
                    <a:pt x="4642573" y="1483"/>
                  </a:lnTo>
                  <a:lnTo>
                    <a:pt x="4594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37960" y="1828800"/>
              <a:ext cx="5349240" cy="4526280"/>
            </a:xfrm>
            <a:custGeom>
              <a:avLst/>
              <a:gdLst/>
              <a:ahLst/>
              <a:cxnLst/>
              <a:rect l="l" t="t" r="r" b="b"/>
              <a:pathLst>
                <a:path w="5349240" h="4526280">
                  <a:moveTo>
                    <a:pt x="0" y="754379"/>
                  </a:moveTo>
                  <a:lnTo>
                    <a:pt x="1483" y="706666"/>
                  </a:lnTo>
                  <a:lnTo>
                    <a:pt x="5876" y="659741"/>
                  </a:lnTo>
                  <a:lnTo>
                    <a:pt x="13090" y="613694"/>
                  </a:lnTo>
                  <a:lnTo>
                    <a:pt x="23036" y="568613"/>
                  </a:lnTo>
                  <a:lnTo>
                    <a:pt x="35626" y="524587"/>
                  </a:lnTo>
                  <a:lnTo>
                    <a:pt x="50771" y="481704"/>
                  </a:lnTo>
                  <a:lnTo>
                    <a:pt x="68384" y="440051"/>
                  </a:lnTo>
                  <a:lnTo>
                    <a:pt x="88376" y="399718"/>
                  </a:lnTo>
                  <a:lnTo>
                    <a:pt x="110659" y="360792"/>
                  </a:lnTo>
                  <a:lnTo>
                    <a:pt x="135144" y="323362"/>
                  </a:lnTo>
                  <a:lnTo>
                    <a:pt x="161744" y="287517"/>
                  </a:lnTo>
                  <a:lnTo>
                    <a:pt x="190369" y="253344"/>
                  </a:lnTo>
                  <a:lnTo>
                    <a:pt x="220932" y="220932"/>
                  </a:lnTo>
                  <a:lnTo>
                    <a:pt x="253344" y="190369"/>
                  </a:lnTo>
                  <a:lnTo>
                    <a:pt x="287517" y="161744"/>
                  </a:lnTo>
                  <a:lnTo>
                    <a:pt x="323362" y="135144"/>
                  </a:lnTo>
                  <a:lnTo>
                    <a:pt x="360792" y="110659"/>
                  </a:lnTo>
                  <a:lnTo>
                    <a:pt x="399718" y="88376"/>
                  </a:lnTo>
                  <a:lnTo>
                    <a:pt x="440051" y="68384"/>
                  </a:lnTo>
                  <a:lnTo>
                    <a:pt x="481704" y="50771"/>
                  </a:lnTo>
                  <a:lnTo>
                    <a:pt x="524587" y="35626"/>
                  </a:lnTo>
                  <a:lnTo>
                    <a:pt x="568613" y="23036"/>
                  </a:lnTo>
                  <a:lnTo>
                    <a:pt x="613694" y="13090"/>
                  </a:lnTo>
                  <a:lnTo>
                    <a:pt x="659741" y="5876"/>
                  </a:lnTo>
                  <a:lnTo>
                    <a:pt x="706666" y="1483"/>
                  </a:lnTo>
                  <a:lnTo>
                    <a:pt x="754380" y="0"/>
                  </a:lnTo>
                  <a:lnTo>
                    <a:pt x="4594860" y="0"/>
                  </a:lnTo>
                  <a:lnTo>
                    <a:pt x="4642573" y="1483"/>
                  </a:lnTo>
                  <a:lnTo>
                    <a:pt x="4689498" y="5876"/>
                  </a:lnTo>
                  <a:lnTo>
                    <a:pt x="4735545" y="13090"/>
                  </a:lnTo>
                  <a:lnTo>
                    <a:pt x="4780626" y="23036"/>
                  </a:lnTo>
                  <a:lnTo>
                    <a:pt x="4824652" y="35626"/>
                  </a:lnTo>
                  <a:lnTo>
                    <a:pt x="4867535" y="50771"/>
                  </a:lnTo>
                  <a:lnTo>
                    <a:pt x="4909188" y="68384"/>
                  </a:lnTo>
                  <a:lnTo>
                    <a:pt x="4949521" y="88376"/>
                  </a:lnTo>
                  <a:lnTo>
                    <a:pt x="4988447" y="110659"/>
                  </a:lnTo>
                  <a:lnTo>
                    <a:pt x="5025877" y="135144"/>
                  </a:lnTo>
                  <a:lnTo>
                    <a:pt x="5061722" y="161744"/>
                  </a:lnTo>
                  <a:lnTo>
                    <a:pt x="5095895" y="190369"/>
                  </a:lnTo>
                  <a:lnTo>
                    <a:pt x="5128307" y="220932"/>
                  </a:lnTo>
                  <a:lnTo>
                    <a:pt x="5158870" y="253344"/>
                  </a:lnTo>
                  <a:lnTo>
                    <a:pt x="5187495" y="287517"/>
                  </a:lnTo>
                  <a:lnTo>
                    <a:pt x="5214095" y="323362"/>
                  </a:lnTo>
                  <a:lnTo>
                    <a:pt x="5238580" y="360792"/>
                  </a:lnTo>
                  <a:lnTo>
                    <a:pt x="5260863" y="399718"/>
                  </a:lnTo>
                  <a:lnTo>
                    <a:pt x="5280855" y="440051"/>
                  </a:lnTo>
                  <a:lnTo>
                    <a:pt x="5298468" y="481704"/>
                  </a:lnTo>
                  <a:lnTo>
                    <a:pt x="5313613" y="524587"/>
                  </a:lnTo>
                  <a:lnTo>
                    <a:pt x="5326203" y="568613"/>
                  </a:lnTo>
                  <a:lnTo>
                    <a:pt x="5336149" y="613694"/>
                  </a:lnTo>
                  <a:lnTo>
                    <a:pt x="5343363" y="659741"/>
                  </a:lnTo>
                  <a:lnTo>
                    <a:pt x="5347756" y="706666"/>
                  </a:lnTo>
                  <a:lnTo>
                    <a:pt x="5349240" y="754379"/>
                  </a:lnTo>
                  <a:lnTo>
                    <a:pt x="5349240" y="3771887"/>
                  </a:lnTo>
                  <a:lnTo>
                    <a:pt x="5347756" y="3819595"/>
                  </a:lnTo>
                  <a:lnTo>
                    <a:pt x="5343363" y="3866516"/>
                  </a:lnTo>
                  <a:lnTo>
                    <a:pt x="5336149" y="3912559"/>
                  </a:lnTo>
                  <a:lnTo>
                    <a:pt x="5326203" y="3957637"/>
                  </a:lnTo>
                  <a:lnTo>
                    <a:pt x="5313613" y="4001661"/>
                  </a:lnTo>
                  <a:lnTo>
                    <a:pt x="5298468" y="4044544"/>
                  </a:lnTo>
                  <a:lnTo>
                    <a:pt x="5280855" y="4086196"/>
                  </a:lnTo>
                  <a:lnTo>
                    <a:pt x="5260863" y="4126529"/>
                  </a:lnTo>
                  <a:lnTo>
                    <a:pt x="5238580" y="4165455"/>
                  </a:lnTo>
                  <a:lnTo>
                    <a:pt x="5214095" y="4202886"/>
                  </a:lnTo>
                  <a:lnTo>
                    <a:pt x="5187495" y="4238733"/>
                  </a:lnTo>
                  <a:lnTo>
                    <a:pt x="5158870" y="4272908"/>
                  </a:lnTo>
                  <a:lnTo>
                    <a:pt x="5128307" y="4305322"/>
                  </a:lnTo>
                  <a:lnTo>
                    <a:pt x="5095895" y="4335887"/>
                  </a:lnTo>
                  <a:lnTo>
                    <a:pt x="5061722" y="4364515"/>
                  </a:lnTo>
                  <a:lnTo>
                    <a:pt x="5025877" y="4391117"/>
                  </a:lnTo>
                  <a:lnTo>
                    <a:pt x="4988447" y="4415604"/>
                  </a:lnTo>
                  <a:lnTo>
                    <a:pt x="4949521" y="4437890"/>
                  </a:lnTo>
                  <a:lnTo>
                    <a:pt x="4909188" y="4457884"/>
                  </a:lnTo>
                  <a:lnTo>
                    <a:pt x="4867535" y="4475500"/>
                  </a:lnTo>
                  <a:lnTo>
                    <a:pt x="4824652" y="4490648"/>
                  </a:lnTo>
                  <a:lnTo>
                    <a:pt x="4780626" y="4503239"/>
                  </a:lnTo>
                  <a:lnTo>
                    <a:pt x="4735545" y="4513187"/>
                  </a:lnTo>
                  <a:lnTo>
                    <a:pt x="4689498" y="4520402"/>
                  </a:lnTo>
                  <a:lnTo>
                    <a:pt x="4642573" y="4524795"/>
                  </a:lnTo>
                  <a:lnTo>
                    <a:pt x="4594860" y="4526280"/>
                  </a:lnTo>
                  <a:lnTo>
                    <a:pt x="754380" y="4526280"/>
                  </a:lnTo>
                  <a:lnTo>
                    <a:pt x="706666" y="4524795"/>
                  </a:lnTo>
                  <a:lnTo>
                    <a:pt x="659741" y="4520402"/>
                  </a:lnTo>
                  <a:lnTo>
                    <a:pt x="613694" y="4513187"/>
                  </a:lnTo>
                  <a:lnTo>
                    <a:pt x="568613" y="4503239"/>
                  </a:lnTo>
                  <a:lnTo>
                    <a:pt x="524587" y="4490648"/>
                  </a:lnTo>
                  <a:lnTo>
                    <a:pt x="481704" y="4475500"/>
                  </a:lnTo>
                  <a:lnTo>
                    <a:pt x="440051" y="4457884"/>
                  </a:lnTo>
                  <a:lnTo>
                    <a:pt x="399718" y="4437890"/>
                  </a:lnTo>
                  <a:lnTo>
                    <a:pt x="360792" y="4415604"/>
                  </a:lnTo>
                  <a:lnTo>
                    <a:pt x="323362" y="4391117"/>
                  </a:lnTo>
                  <a:lnTo>
                    <a:pt x="287517" y="4364515"/>
                  </a:lnTo>
                  <a:lnTo>
                    <a:pt x="253344" y="4335887"/>
                  </a:lnTo>
                  <a:lnTo>
                    <a:pt x="220932" y="4305322"/>
                  </a:lnTo>
                  <a:lnTo>
                    <a:pt x="190369" y="4272908"/>
                  </a:lnTo>
                  <a:lnTo>
                    <a:pt x="161744" y="4238733"/>
                  </a:lnTo>
                  <a:lnTo>
                    <a:pt x="135144" y="4202886"/>
                  </a:lnTo>
                  <a:lnTo>
                    <a:pt x="110659" y="4165455"/>
                  </a:lnTo>
                  <a:lnTo>
                    <a:pt x="88376" y="4126529"/>
                  </a:lnTo>
                  <a:lnTo>
                    <a:pt x="68384" y="4086196"/>
                  </a:lnTo>
                  <a:lnTo>
                    <a:pt x="50771" y="4044544"/>
                  </a:lnTo>
                  <a:lnTo>
                    <a:pt x="35626" y="4001661"/>
                  </a:lnTo>
                  <a:lnTo>
                    <a:pt x="23036" y="3957637"/>
                  </a:lnTo>
                  <a:lnTo>
                    <a:pt x="13090" y="3912559"/>
                  </a:lnTo>
                  <a:lnTo>
                    <a:pt x="5876" y="3866516"/>
                  </a:lnTo>
                  <a:lnTo>
                    <a:pt x="1483" y="3819595"/>
                  </a:lnTo>
                  <a:lnTo>
                    <a:pt x="0" y="3771887"/>
                  </a:lnTo>
                  <a:lnTo>
                    <a:pt x="0" y="75437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872985" y="1933437"/>
            <a:ext cx="3152775" cy="134683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600" b="1" spc="-10" dirty="0">
                <a:solidFill>
                  <a:srgbClr val="111727"/>
                </a:solidFill>
                <a:latin typeface="Calibri"/>
                <a:cs typeface="Calibri"/>
              </a:rPr>
              <a:t>Validation</a:t>
            </a:r>
            <a:r>
              <a:rPr sz="1600" b="1" spc="-7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protocols</a:t>
            </a:r>
            <a:r>
              <a:rPr sz="1600" b="1" spc="-6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11727"/>
                </a:solidFill>
                <a:latin typeface="Calibri"/>
                <a:cs typeface="Calibri"/>
              </a:rPr>
              <a:t>(fill)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810"/>
              </a:spcBef>
            </a:pPr>
            <a:r>
              <a:rPr sz="1400" spc="-10" dirty="0">
                <a:latin typeface="Calibri"/>
                <a:cs typeface="Calibri"/>
              </a:rPr>
              <a:t>Dataset:</a:t>
            </a:r>
            <a:r>
              <a:rPr sz="1400" dirty="0">
                <a:latin typeface="Calibri"/>
                <a:cs typeface="Calibri"/>
              </a:rPr>
              <a:t> 20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donors,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3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hospital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accounts </a:t>
            </a:r>
            <a:r>
              <a:rPr sz="1400" dirty="0">
                <a:latin typeface="Calibri"/>
                <a:cs typeface="Calibri"/>
              </a:rPr>
              <a:t>Load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10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simultaneous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hospital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queries </a:t>
            </a:r>
            <a:r>
              <a:rPr sz="1400" dirty="0">
                <a:latin typeface="Calibri"/>
                <a:cs typeface="Calibri"/>
              </a:rPr>
              <a:t>Security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test: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Unauthorized</a:t>
            </a:r>
            <a:r>
              <a:rPr sz="1400" dirty="0">
                <a:latin typeface="Calibri"/>
                <a:cs typeface="Calibri"/>
              </a:rPr>
              <a:t> login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attempts </a:t>
            </a:r>
            <a:r>
              <a:rPr sz="1400" dirty="0">
                <a:latin typeface="Calibri"/>
                <a:cs typeface="Calibri"/>
              </a:rPr>
              <a:t>Metrics:</a:t>
            </a:r>
            <a:r>
              <a:rPr sz="1400" spc="-20" dirty="0">
                <a:latin typeface="Calibri"/>
                <a:cs typeface="Calibri"/>
              </a:rPr>
              <a:t> latency,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accuracy,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access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control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72985" y="3458870"/>
            <a:ext cx="3021965" cy="46545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Usability</a:t>
            </a:r>
            <a:r>
              <a:rPr sz="1300" spc="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check</a:t>
            </a:r>
            <a:r>
              <a:rPr sz="1300" spc="-6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(small/controlled):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[Who</a:t>
            </a:r>
            <a:r>
              <a:rPr sz="13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tried</a:t>
            </a:r>
            <a:r>
              <a:rPr sz="1300" spc="-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it,</a:t>
            </a:r>
            <a:r>
              <a:rPr sz="13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what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task,</a:t>
            </a:r>
            <a:r>
              <a:rPr sz="13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what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you</a:t>
            </a:r>
            <a:r>
              <a:rPr sz="1300" spc="-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observed]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88009" y="6156705"/>
            <a:ext cx="10985500" cy="360680"/>
            <a:chOff x="588009" y="6156705"/>
            <a:chExt cx="10985500" cy="360680"/>
          </a:xfrm>
        </p:grpSpPr>
        <p:sp>
          <p:nvSpPr>
            <p:cNvPr id="27" name="object 27"/>
            <p:cNvSpPr/>
            <p:nvPr/>
          </p:nvSpPr>
          <p:spPr>
            <a:xfrm>
              <a:off x="594359" y="6163055"/>
              <a:ext cx="10972800" cy="347980"/>
            </a:xfrm>
            <a:custGeom>
              <a:avLst/>
              <a:gdLst/>
              <a:ahLst/>
              <a:cxnLst/>
              <a:rect l="l" t="t" r="r" b="b"/>
              <a:pathLst>
                <a:path w="10972800" h="347979">
                  <a:moveTo>
                    <a:pt x="10914888" y="0"/>
                  </a:moveTo>
                  <a:lnTo>
                    <a:pt x="57912" y="0"/>
                  </a:lnTo>
                  <a:lnTo>
                    <a:pt x="35372" y="4551"/>
                  </a:lnTo>
                  <a:lnTo>
                    <a:pt x="16964" y="16964"/>
                  </a:lnTo>
                  <a:lnTo>
                    <a:pt x="4551" y="35372"/>
                  </a:lnTo>
                  <a:lnTo>
                    <a:pt x="0" y="57912"/>
                  </a:lnTo>
                  <a:lnTo>
                    <a:pt x="0" y="289560"/>
                  </a:lnTo>
                  <a:lnTo>
                    <a:pt x="4551" y="312099"/>
                  </a:lnTo>
                  <a:lnTo>
                    <a:pt x="16964" y="330507"/>
                  </a:lnTo>
                  <a:lnTo>
                    <a:pt x="35372" y="342920"/>
                  </a:lnTo>
                  <a:lnTo>
                    <a:pt x="57912" y="347472"/>
                  </a:lnTo>
                  <a:lnTo>
                    <a:pt x="10914888" y="347472"/>
                  </a:lnTo>
                  <a:lnTo>
                    <a:pt x="10937438" y="342920"/>
                  </a:lnTo>
                  <a:lnTo>
                    <a:pt x="10955845" y="330507"/>
                  </a:lnTo>
                  <a:lnTo>
                    <a:pt x="10968251" y="312099"/>
                  </a:lnTo>
                  <a:lnTo>
                    <a:pt x="10972800" y="289560"/>
                  </a:lnTo>
                  <a:lnTo>
                    <a:pt x="10972800" y="57912"/>
                  </a:lnTo>
                  <a:lnTo>
                    <a:pt x="10968251" y="35372"/>
                  </a:lnTo>
                  <a:lnTo>
                    <a:pt x="10955845" y="16964"/>
                  </a:lnTo>
                  <a:lnTo>
                    <a:pt x="10937438" y="4551"/>
                  </a:lnTo>
                  <a:lnTo>
                    <a:pt x="10914888" y="0"/>
                  </a:lnTo>
                  <a:close/>
                </a:path>
              </a:pathLst>
            </a:custGeom>
            <a:solidFill>
              <a:srgbClr val="FFF7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4359" y="6163055"/>
              <a:ext cx="10972800" cy="347980"/>
            </a:xfrm>
            <a:custGeom>
              <a:avLst/>
              <a:gdLst/>
              <a:ahLst/>
              <a:cxnLst/>
              <a:rect l="l" t="t" r="r" b="b"/>
              <a:pathLst>
                <a:path w="10972800" h="347979">
                  <a:moveTo>
                    <a:pt x="0" y="57912"/>
                  </a:moveTo>
                  <a:lnTo>
                    <a:pt x="4551" y="35372"/>
                  </a:lnTo>
                  <a:lnTo>
                    <a:pt x="16964" y="16964"/>
                  </a:lnTo>
                  <a:lnTo>
                    <a:pt x="35372" y="4551"/>
                  </a:lnTo>
                  <a:lnTo>
                    <a:pt x="57912" y="0"/>
                  </a:lnTo>
                  <a:lnTo>
                    <a:pt x="10914888" y="0"/>
                  </a:lnTo>
                  <a:lnTo>
                    <a:pt x="10937438" y="4551"/>
                  </a:lnTo>
                  <a:lnTo>
                    <a:pt x="10955845" y="16964"/>
                  </a:lnTo>
                  <a:lnTo>
                    <a:pt x="10968251" y="35372"/>
                  </a:lnTo>
                  <a:lnTo>
                    <a:pt x="10972800" y="57912"/>
                  </a:lnTo>
                  <a:lnTo>
                    <a:pt x="10972800" y="289560"/>
                  </a:lnTo>
                  <a:lnTo>
                    <a:pt x="10968251" y="312099"/>
                  </a:lnTo>
                  <a:lnTo>
                    <a:pt x="10955845" y="330507"/>
                  </a:lnTo>
                  <a:lnTo>
                    <a:pt x="10937438" y="342920"/>
                  </a:lnTo>
                  <a:lnTo>
                    <a:pt x="10914888" y="347472"/>
                  </a:lnTo>
                  <a:lnTo>
                    <a:pt x="57912" y="347472"/>
                  </a:lnTo>
                  <a:lnTo>
                    <a:pt x="35372" y="342920"/>
                  </a:lnTo>
                  <a:lnTo>
                    <a:pt x="16964" y="330507"/>
                  </a:lnTo>
                  <a:lnTo>
                    <a:pt x="4551" y="312099"/>
                  </a:lnTo>
                  <a:lnTo>
                    <a:pt x="0" y="289560"/>
                  </a:lnTo>
                  <a:lnTo>
                    <a:pt x="0" y="57912"/>
                  </a:lnTo>
                  <a:close/>
                </a:path>
              </a:pathLst>
            </a:custGeom>
            <a:ln w="12192">
              <a:solidFill>
                <a:srgbClr val="FDD6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02731" y="6234785"/>
            <a:ext cx="109562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9A3412"/>
                </a:solidFill>
                <a:latin typeface="Calibri"/>
                <a:cs typeface="Calibri"/>
              </a:rPr>
              <a:t>Pre-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demo</a:t>
            </a:r>
            <a:r>
              <a:rPr sz="1200" b="1" spc="-40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checklist:</a:t>
            </a:r>
            <a:r>
              <a:rPr sz="1200" b="1" spc="-10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reset</a:t>
            </a:r>
            <a:r>
              <a:rPr sz="1200" b="1" spc="-45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state</a:t>
            </a:r>
            <a:r>
              <a:rPr sz="1200" b="1" spc="-30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•</a:t>
            </a:r>
            <a:r>
              <a:rPr sz="1200" b="1" spc="-10" dirty="0">
                <a:solidFill>
                  <a:srgbClr val="9A3412"/>
                </a:solidFill>
                <a:latin typeface="Calibri"/>
                <a:cs typeface="Calibri"/>
              </a:rPr>
              <a:t> charge/power</a:t>
            </a:r>
            <a:r>
              <a:rPr sz="1200" b="1" spc="-5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•</a:t>
            </a:r>
            <a:r>
              <a:rPr sz="1200" b="1" spc="-30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stable</a:t>
            </a:r>
            <a:r>
              <a:rPr sz="1200" b="1" spc="-35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network</a:t>
            </a:r>
            <a:r>
              <a:rPr sz="1200" b="1" spc="-20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/</a:t>
            </a:r>
            <a:r>
              <a:rPr sz="1200" b="1" spc="-40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hotspots</a:t>
            </a:r>
            <a:r>
              <a:rPr sz="1200" b="1" spc="-10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•</a:t>
            </a:r>
            <a:r>
              <a:rPr sz="1200" b="1" spc="-10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safety</a:t>
            </a:r>
            <a:r>
              <a:rPr sz="1200" b="1" spc="-70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•</a:t>
            </a:r>
            <a:r>
              <a:rPr sz="1200" b="1" spc="-10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9A3412"/>
                </a:solidFill>
                <a:latin typeface="Calibri"/>
                <a:cs typeface="Calibri"/>
              </a:rPr>
              <a:t>backup</a:t>
            </a:r>
            <a:r>
              <a:rPr sz="1200" b="1" spc="-30" dirty="0">
                <a:solidFill>
                  <a:srgbClr val="9A341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9A3412"/>
                </a:solidFill>
                <a:latin typeface="Calibri"/>
                <a:cs typeface="Calibri"/>
              </a:rPr>
              <a:t>video/screenshots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6565391"/>
            <a:ext cx="12192000" cy="292735"/>
          </a:xfrm>
          <a:custGeom>
            <a:avLst/>
            <a:gdLst/>
            <a:ahLst/>
            <a:cxnLst/>
            <a:rect l="l" t="t" r="r" b="b"/>
            <a:pathLst>
              <a:path w="12192000" h="292734">
                <a:moveTo>
                  <a:pt x="0" y="292608"/>
                </a:moveTo>
                <a:lnTo>
                  <a:pt x="12192000" y="292608"/>
                </a:lnTo>
                <a:lnTo>
                  <a:pt x="12192000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138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5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Stage</a:t>
            </a:r>
            <a:r>
              <a:rPr spc="1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Submission</a:t>
            </a:r>
            <a:r>
              <a:rPr spc="-55" dirty="0"/>
              <a:t> </a:t>
            </a:r>
            <a:r>
              <a:rPr spc="-20" dirty="0"/>
              <a:t>Deck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320" rIns="0" bIns="0" rtlCol="0">
            <a:spAutoFit/>
          </a:bodyPr>
          <a:lstStyle/>
          <a:p>
            <a:pPr marL="114300">
              <a:lnSpc>
                <a:spcPts val="1150"/>
              </a:lnSpc>
            </a:pPr>
            <a:r>
              <a:rPr spc="-10" dirty="0"/>
              <a:t>16/23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5"/>
            <a:ext cx="12204700" cy="579120"/>
            <a:chOff x="-6095" y="-6095"/>
            <a:chExt cx="12204700" cy="57912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567055"/>
            </a:xfrm>
            <a:custGeom>
              <a:avLst/>
              <a:gdLst/>
              <a:ahLst/>
              <a:cxnLst/>
              <a:rect l="l" t="t" r="r" b="b"/>
              <a:pathLst>
                <a:path w="12045950" h="567055">
                  <a:moveTo>
                    <a:pt x="0" y="566927"/>
                  </a:moveTo>
                  <a:lnTo>
                    <a:pt x="12045696" y="566927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567055"/>
            </a:xfrm>
            <a:custGeom>
              <a:avLst/>
              <a:gdLst/>
              <a:ahLst/>
              <a:cxnLst/>
              <a:rect l="l" t="t" r="r" b="b"/>
              <a:pathLst>
                <a:path w="12192000" h="567055">
                  <a:moveTo>
                    <a:pt x="0" y="566927"/>
                  </a:moveTo>
                  <a:lnTo>
                    <a:pt x="12192000" y="5669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146304" y="566927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7"/>
                  </a:moveTo>
                  <a:lnTo>
                    <a:pt x="146304" y="566927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805796" y="141223"/>
            <a:ext cx="17176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9" name="object 9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EVIDENCE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9353"/>
            <a:ext cx="7144384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111727"/>
                </a:solidFill>
              </a:rPr>
              <a:t>Evidence</a:t>
            </a:r>
            <a:r>
              <a:rPr sz="3200" spc="-7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—</a:t>
            </a:r>
            <a:r>
              <a:rPr sz="3200" spc="-80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Prototype</a:t>
            </a:r>
            <a:r>
              <a:rPr sz="3200" spc="-9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Results</a:t>
            </a:r>
            <a:r>
              <a:rPr sz="3200" spc="-7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&amp;</a:t>
            </a:r>
            <a:r>
              <a:rPr sz="3200" spc="-95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Iterations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671880" y="1454023"/>
            <a:ext cx="423164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Show</a:t>
            </a:r>
            <a:r>
              <a:rPr sz="16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what</a:t>
            </a:r>
            <a:r>
              <a:rPr sz="16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improved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from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v1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→</a:t>
            </a:r>
            <a:r>
              <a:rPr sz="16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v2,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with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evidence.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94359" y="1914144"/>
            <a:ext cx="10979150" cy="469900"/>
            <a:chOff x="594359" y="1914144"/>
            <a:chExt cx="10979150" cy="469900"/>
          </a:xfrm>
        </p:grpSpPr>
        <p:sp>
          <p:nvSpPr>
            <p:cNvPr id="15" name="object 15"/>
            <p:cNvSpPr/>
            <p:nvPr/>
          </p:nvSpPr>
          <p:spPr>
            <a:xfrm>
              <a:off x="594360" y="1920239"/>
              <a:ext cx="4389120" cy="457200"/>
            </a:xfrm>
            <a:custGeom>
              <a:avLst/>
              <a:gdLst/>
              <a:ahLst/>
              <a:cxnLst/>
              <a:rect l="l" t="t" r="r" b="b"/>
              <a:pathLst>
                <a:path w="4389120" h="457200">
                  <a:moveTo>
                    <a:pt x="4389120" y="0"/>
                  </a:moveTo>
                  <a:lnTo>
                    <a:pt x="1536192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1536192" y="457200"/>
                  </a:lnTo>
                  <a:lnTo>
                    <a:pt x="4389120" y="457200"/>
                  </a:lnTo>
                  <a:lnTo>
                    <a:pt x="4389120" y="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30551" y="1920240"/>
              <a:ext cx="2853055" cy="457200"/>
            </a:xfrm>
            <a:custGeom>
              <a:avLst/>
              <a:gdLst/>
              <a:ahLst/>
              <a:cxnLst/>
              <a:rect l="l" t="t" r="r" b="b"/>
              <a:pathLst>
                <a:path w="2853054" h="457200">
                  <a:moveTo>
                    <a:pt x="0" y="457200"/>
                  </a:moveTo>
                  <a:lnTo>
                    <a:pt x="2852928" y="457200"/>
                  </a:lnTo>
                  <a:lnTo>
                    <a:pt x="2852928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83480" y="1920240"/>
              <a:ext cx="2194560" cy="457200"/>
            </a:xfrm>
            <a:custGeom>
              <a:avLst/>
              <a:gdLst/>
              <a:ahLst/>
              <a:cxnLst/>
              <a:rect l="l" t="t" r="r" b="b"/>
              <a:pathLst>
                <a:path w="2194559" h="457200">
                  <a:moveTo>
                    <a:pt x="219456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194560" y="457200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83480" y="1920240"/>
              <a:ext cx="2194560" cy="457200"/>
            </a:xfrm>
            <a:custGeom>
              <a:avLst/>
              <a:gdLst/>
              <a:ahLst/>
              <a:cxnLst/>
              <a:rect l="l" t="t" r="r" b="b"/>
              <a:pathLst>
                <a:path w="2194559" h="457200">
                  <a:moveTo>
                    <a:pt x="0" y="457200"/>
                  </a:moveTo>
                  <a:lnTo>
                    <a:pt x="2194560" y="457200"/>
                  </a:lnTo>
                  <a:lnTo>
                    <a:pt x="219456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78040" y="1920240"/>
              <a:ext cx="2194560" cy="457200"/>
            </a:xfrm>
            <a:custGeom>
              <a:avLst/>
              <a:gdLst/>
              <a:ahLst/>
              <a:cxnLst/>
              <a:rect l="l" t="t" r="r" b="b"/>
              <a:pathLst>
                <a:path w="2194559" h="457200">
                  <a:moveTo>
                    <a:pt x="219455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194559" y="457200"/>
                  </a:lnTo>
                  <a:lnTo>
                    <a:pt x="2194559" y="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78040" y="1920240"/>
              <a:ext cx="2194560" cy="457200"/>
            </a:xfrm>
            <a:custGeom>
              <a:avLst/>
              <a:gdLst/>
              <a:ahLst/>
              <a:cxnLst/>
              <a:rect l="l" t="t" r="r" b="b"/>
              <a:pathLst>
                <a:path w="2194559" h="457200">
                  <a:moveTo>
                    <a:pt x="0" y="457200"/>
                  </a:moveTo>
                  <a:lnTo>
                    <a:pt x="2194559" y="457200"/>
                  </a:lnTo>
                  <a:lnTo>
                    <a:pt x="2194559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372600" y="1920240"/>
              <a:ext cx="2194560" cy="457200"/>
            </a:xfrm>
            <a:custGeom>
              <a:avLst/>
              <a:gdLst/>
              <a:ahLst/>
              <a:cxnLst/>
              <a:rect l="l" t="t" r="r" b="b"/>
              <a:pathLst>
                <a:path w="2194559" h="457200">
                  <a:moveTo>
                    <a:pt x="219455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194559" y="457200"/>
                  </a:lnTo>
                  <a:lnTo>
                    <a:pt x="2194559" y="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372600" y="1920240"/>
              <a:ext cx="2194560" cy="457200"/>
            </a:xfrm>
            <a:custGeom>
              <a:avLst/>
              <a:gdLst/>
              <a:ahLst/>
              <a:cxnLst/>
              <a:rect l="l" t="t" r="r" b="b"/>
              <a:pathLst>
                <a:path w="2194559" h="457200">
                  <a:moveTo>
                    <a:pt x="0" y="457200"/>
                  </a:moveTo>
                  <a:lnTo>
                    <a:pt x="2194559" y="457200"/>
                  </a:lnTo>
                  <a:lnTo>
                    <a:pt x="2194559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3" name="objec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77509"/>
              </p:ext>
            </p:extLst>
          </p:nvPr>
        </p:nvGraphicFramePr>
        <p:xfrm>
          <a:off x="588263" y="1914144"/>
          <a:ext cx="10972798" cy="42970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3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 gridSpan="5"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010"/>
                        </a:spcBef>
                        <a:tabLst>
                          <a:tab pos="1736089" algn="l"/>
                          <a:tab pos="4589780" algn="l"/>
                          <a:tab pos="6784975" algn="l"/>
                          <a:tab pos="8980170" algn="l"/>
                        </a:tabLst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Version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What</a:t>
                      </a:r>
                      <a:r>
                        <a:rPr sz="12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changed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Evidence</a:t>
                      </a:r>
                      <a:r>
                        <a:rPr sz="12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28270" marB="0"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/>
                        <a:t>V1 (Initial Prototype)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Basic donor registration and hospital login screens created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Conducted first usability test with 5 users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Users found form long; login security weak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Screenshots of early UI, test notes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V2 (Improved UI + Security Update)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Simplified donor form, added OTP-based hospital login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Tested registration speed and security checks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Registration time reduced by 30%, unauthorized logins blocked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/>
                        <a:t>Demo video, OTP </a:t>
                      </a:r>
                      <a:r>
                        <a:rPr lang="es-ES" sz="1600" dirty="0" err="1"/>
                        <a:t>validation</a:t>
                      </a:r>
                      <a:r>
                        <a:rPr lang="es-ES" sz="1600" dirty="0"/>
                        <a:t> logs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V3 (Real-Time Availability + Matching Engine)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Added live donor availability update + automated blood group matching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Real-time updates and matching tested with sample data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Availability updated in 1.2 sec, 100% correct matches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Matching test logs, timestamp screenshots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/>
                        <a:t>V4 (Emergency Alert System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Integrated push alert system for emergency blood requests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Sent alerts to 10 test donors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3.4 sec average delivery time, 100% delivery success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/>
                        <a:t>Notification logs, alert demo video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4E7EB"/>
                      </a:solidFill>
                      <a:prstDash val="solid"/>
                    </a:lnL>
                    <a:lnR w="12700">
                      <a:solidFill>
                        <a:srgbClr val="E4E7EB"/>
                      </a:solidFill>
                      <a:prstDash val="solid"/>
                    </a:lnR>
                    <a:lnT w="12700">
                      <a:solidFill>
                        <a:srgbClr val="E4E7EB"/>
                      </a:solidFill>
                      <a:prstDash val="solid"/>
                    </a:lnT>
                    <a:lnB w="12700">
                      <a:solidFill>
                        <a:srgbClr val="E4E7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671880" y="6262522"/>
            <a:ext cx="54883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Include</a:t>
            </a:r>
            <a:r>
              <a:rPr sz="1200" i="1" spc="-4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screenshots/photos/logs.</a:t>
            </a:r>
            <a:r>
              <a:rPr sz="1200" i="1" spc="-7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Don’t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hide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failures</a:t>
            </a:r>
            <a:r>
              <a:rPr sz="1200" i="1" spc="3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—</a:t>
            </a:r>
            <a:r>
              <a:rPr sz="1200" i="1" spc="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show</a:t>
            </a:r>
            <a:r>
              <a:rPr sz="1200" i="1" spc="-3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what</a:t>
            </a:r>
            <a:r>
              <a:rPr sz="1200" i="1" spc="-3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you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learned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and</a:t>
            </a:r>
            <a:r>
              <a:rPr sz="1200" i="1" spc="-3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fixed.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6565391"/>
            <a:ext cx="12192000" cy="292735"/>
          </a:xfrm>
          <a:custGeom>
            <a:avLst/>
            <a:gdLst/>
            <a:ahLst/>
            <a:cxnLst/>
            <a:rect l="l" t="t" r="r" b="b"/>
            <a:pathLst>
              <a:path w="12192000" h="292734">
                <a:moveTo>
                  <a:pt x="0" y="292608"/>
                </a:moveTo>
                <a:lnTo>
                  <a:pt x="12192000" y="292608"/>
                </a:lnTo>
                <a:lnTo>
                  <a:pt x="12192000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138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5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Stage</a:t>
            </a:r>
            <a:r>
              <a:rPr spc="1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Submission</a:t>
            </a:r>
            <a:r>
              <a:rPr spc="-55" dirty="0"/>
              <a:t> </a:t>
            </a:r>
            <a:r>
              <a:rPr spc="-20" dirty="0"/>
              <a:t>Deck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45"/>
              </a:spcBef>
            </a:pPr>
            <a:r>
              <a:rPr spc="-10" dirty="0"/>
              <a:t>17/23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5"/>
            <a:ext cx="12204700" cy="579120"/>
            <a:chOff x="-6095" y="-6095"/>
            <a:chExt cx="12204700" cy="57912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567055"/>
            </a:xfrm>
            <a:custGeom>
              <a:avLst/>
              <a:gdLst/>
              <a:ahLst/>
              <a:cxnLst/>
              <a:rect l="l" t="t" r="r" b="b"/>
              <a:pathLst>
                <a:path w="12045950" h="567055">
                  <a:moveTo>
                    <a:pt x="0" y="566927"/>
                  </a:moveTo>
                  <a:lnTo>
                    <a:pt x="12045696" y="566927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567055"/>
            </a:xfrm>
            <a:custGeom>
              <a:avLst/>
              <a:gdLst/>
              <a:ahLst/>
              <a:cxnLst/>
              <a:rect l="l" t="t" r="r" b="b"/>
              <a:pathLst>
                <a:path w="12192000" h="567055">
                  <a:moveTo>
                    <a:pt x="0" y="566927"/>
                  </a:moveTo>
                  <a:lnTo>
                    <a:pt x="12192000" y="5669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146304" y="566927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7"/>
                  </a:moveTo>
                  <a:lnTo>
                    <a:pt x="146304" y="566927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805796" y="141223"/>
            <a:ext cx="17176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9" name="object 9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LINKS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9353"/>
            <a:ext cx="470852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111727"/>
                </a:solidFill>
              </a:rPr>
              <a:t>Prototype</a:t>
            </a:r>
            <a:r>
              <a:rPr sz="3200" spc="-4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Demo</a:t>
            </a:r>
            <a:r>
              <a:rPr sz="3200" spc="-8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&amp;</a:t>
            </a:r>
            <a:r>
              <a:rPr sz="3200" spc="-65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Artifacts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671880" y="1454023"/>
            <a:ext cx="357314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Make</a:t>
            </a:r>
            <a:r>
              <a:rPr sz="1600" spc="-6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it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easy</a:t>
            </a:r>
            <a:r>
              <a:rPr sz="1600" spc="-6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for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reviewers</a:t>
            </a:r>
            <a:r>
              <a:rPr sz="1600" spc="-2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to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verify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quickly.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9493" y="1869084"/>
            <a:ext cx="6995309" cy="4562805"/>
            <a:chOff x="579493" y="1869084"/>
            <a:chExt cx="6995309" cy="456280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493" y="1869084"/>
              <a:ext cx="6995309" cy="45628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94359" y="1874520"/>
              <a:ext cx="6949440" cy="4526280"/>
            </a:xfrm>
            <a:custGeom>
              <a:avLst/>
              <a:gdLst/>
              <a:ahLst/>
              <a:cxnLst/>
              <a:rect l="l" t="t" r="r" b="b"/>
              <a:pathLst>
                <a:path w="6949440" h="4526280">
                  <a:moveTo>
                    <a:pt x="0" y="754379"/>
                  </a:moveTo>
                  <a:lnTo>
                    <a:pt x="1484" y="706666"/>
                  </a:lnTo>
                  <a:lnTo>
                    <a:pt x="5877" y="659741"/>
                  </a:lnTo>
                  <a:lnTo>
                    <a:pt x="13092" y="613694"/>
                  </a:lnTo>
                  <a:lnTo>
                    <a:pt x="23040" y="568613"/>
                  </a:lnTo>
                  <a:lnTo>
                    <a:pt x="35631" y="524587"/>
                  </a:lnTo>
                  <a:lnTo>
                    <a:pt x="50779" y="481704"/>
                  </a:lnTo>
                  <a:lnTo>
                    <a:pt x="68394" y="440051"/>
                  </a:lnTo>
                  <a:lnTo>
                    <a:pt x="88389" y="399718"/>
                  </a:lnTo>
                  <a:lnTo>
                    <a:pt x="110674" y="360792"/>
                  </a:lnTo>
                  <a:lnTo>
                    <a:pt x="135162" y="323362"/>
                  </a:lnTo>
                  <a:lnTo>
                    <a:pt x="161763" y="287517"/>
                  </a:lnTo>
                  <a:lnTo>
                    <a:pt x="190391" y="253344"/>
                  </a:lnTo>
                  <a:lnTo>
                    <a:pt x="220956" y="220932"/>
                  </a:lnTo>
                  <a:lnTo>
                    <a:pt x="253369" y="190369"/>
                  </a:lnTo>
                  <a:lnTo>
                    <a:pt x="287544" y="161744"/>
                  </a:lnTo>
                  <a:lnTo>
                    <a:pt x="323390" y="135144"/>
                  </a:lnTo>
                  <a:lnTo>
                    <a:pt x="360820" y="110659"/>
                  </a:lnTo>
                  <a:lnTo>
                    <a:pt x="399746" y="88376"/>
                  </a:lnTo>
                  <a:lnTo>
                    <a:pt x="440078" y="68384"/>
                  </a:lnTo>
                  <a:lnTo>
                    <a:pt x="481730" y="50771"/>
                  </a:lnTo>
                  <a:lnTo>
                    <a:pt x="524611" y="35626"/>
                  </a:lnTo>
                  <a:lnTo>
                    <a:pt x="568634" y="23036"/>
                  </a:lnTo>
                  <a:lnTo>
                    <a:pt x="613711" y="13090"/>
                  </a:lnTo>
                  <a:lnTo>
                    <a:pt x="659753" y="5876"/>
                  </a:lnTo>
                  <a:lnTo>
                    <a:pt x="706672" y="1483"/>
                  </a:lnTo>
                  <a:lnTo>
                    <a:pt x="754380" y="0"/>
                  </a:lnTo>
                  <a:lnTo>
                    <a:pt x="6195060" y="0"/>
                  </a:lnTo>
                  <a:lnTo>
                    <a:pt x="6242773" y="1483"/>
                  </a:lnTo>
                  <a:lnTo>
                    <a:pt x="6289698" y="5876"/>
                  </a:lnTo>
                  <a:lnTo>
                    <a:pt x="6335745" y="13090"/>
                  </a:lnTo>
                  <a:lnTo>
                    <a:pt x="6380826" y="23036"/>
                  </a:lnTo>
                  <a:lnTo>
                    <a:pt x="6424852" y="35626"/>
                  </a:lnTo>
                  <a:lnTo>
                    <a:pt x="6467735" y="50771"/>
                  </a:lnTo>
                  <a:lnTo>
                    <a:pt x="6509388" y="68384"/>
                  </a:lnTo>
                  <a:lnTo>
                    <a:pt x="6549721" y="88376"/>
                  </a:lnTo>
                  <a:lnTo>
                    <a:pt x="6588647" y="110659"/>
                  </a:lnTo>
                  <a:lnTo>
                    <a:pt x="6626077" y="135144"/>
                  </a:lnTo>
                  <a:lnTo>
                    <a:pt x="6661922" y="161744"/>
                  </a:lnTo>
                  <a:lnTo>
                    <a:pt x="6696095" y="190369"/>
                  </a:lnTo>
                  <a:lnTo>
                    <a:pt x="6728507" y="220932"/>
                  </a:lnTo>
                  <a:lnTo>
                    <a:pt x="6759070" y="253344"/>
                  </a:lnTo>
                  <a:lnTo>
                    <a:pt x="6787695" y="287517"/>
                  </a:lnTo>
                  <a:lnTo>
                    <a:pt x="6814295" y="323362"/>
                  </a:lnTo>
                  <a:lnTo>
                    <a:pt x="6838780" y="360792"/>
                  </a:lnTo>
                  <a:lnTo>
                    <a:pt x="6861063" y="399718"/>
                  </a:lnTo>
                  <a:lnTo>
                    <a:pt x="6881055" y="440051"/>
                  </a:lnTo>
                  <a:lnTo>
                    <a:pt x="6898668" y="481704"/>
                  </a:lnTo>
                  <a:lnTo>
                    <a:pt x="6913813" y="524587"/>
                  </a:lnTo>
                  <a:lnTo>
                    <a:pt x="6926403" y="568613"/>
                  </a:lnTo>
                  <a:lnTo>
                    <a:pt x="6936349" y="613694"/>
                  </a:lnTo>
                  <a:lnTo>
                    <a:pt x="6943563" y="659741"/>
                  </a:lnTo>
                  <a:lnTo>
                    <a:pt x="6947956" y="706666"/>
                  </a:lnTo>
                  <a:lnTo>
                    <a:pt x="6949440" y="754379"/>
                  </a:lnTo>
                  <a:lnTo>
                    <a:pt x="6949440" y="3771887"/>
                  </a:lnTo>
                  <a:lnTo>
                    <a:pt x="6947956" y="3819595"/>
                  </a:lnTo>
                  <a:lnTo>
                    <a:pt x="6943563" y="3866516"/>
                  </a:lnTo>
                  <a:lnTo>
                    <a:pt x="6936349" y="3912559"/>
                  </a:lnTo>
                  <a:lnTo>
                    <a:pt x="6926403" y="3957637"/>
                  </a:lnTo>
                  <a:lnTo>
                    <a:pt x="6913813" y="4001661"/>
                  </a:lnTo>
                  <a:lnTo>
                    <a:pt x="6898668" y="4044544"/>
                  </a:lnTo>
                  <a:lnTo>
                    <a:pt x="6881055" y="4086196"/>
                  </a:lnTo>
                  <a:lnTo>
                    <a:pt x="6861063" y="4126529"/>
                  </a:lnTo>
                  <a:lnTo>
                    <a:pt x="6838780" y="4165455"/>
                  </a:lnTo>
                  <a:lnTo>
                    <a:pt x="6814295" y="4202886"/>
                  </a:lnTo>
                  <a:lnTo>
                    <a:pt x="6787695" y="4238733"/>
                  </a:lnTo>
                  <a:lnTo>
                    <a:pt x="6759070" y="4272908"/>
                  </a:lnTo>
                  <a:lnTo>
                    <a:pt x="6728507" y="4305322"/>
                  </a:lnTo>
                  <a:lnTo>
                    <a:pt x="6696095" y="4335887"/>
                  </a:lnTo>
                  <a:lnTo>
                    <a:pt x="6661922" y="4364515"/>
                  </a:lnTo>
                  <a:lnTo>
                    <a:pt x="6626077" y="4391117"/>
                  </a:lnTo>
                  <a:lnTo>
                    <a:pt x="6588647" y="4415604"/>
                  </a:lnTo>
                  <a:lnTo>
                    <a:pt x="6549721" y="4437890"/>
                  </a:lnTo>
                  <a:lnTo>
                    <a:pt x="6509388" y="4457884"/>
                  </a:lnTo>
                  <a:lnTo>
                    <a:pt x="6467735" y="4475500"/>
                  </a:lnTo>
                  <a:lnTo>
                    <a:pt x="6424852" y="4490648"/>
                  </a:lnTo>
                  <a:lnTo>
                    <a:pt x="6380826" y="4503239"/>
                  </a:lnTo>
                  <a:lnTo>
                    <a:pt x="6335745" y="4513187"/>
                  </a:lnTo>
                  <a:lnTo>
                    <a:pt x="6289698" y="4520402"/>
                  </a:lnTo>
                  <a:lnTo>
                    <a:pt x="6242773" y="4524795"/>
                  </a:lnTo>
                  <a:lnTo>
                    <a:pt x="6195060" y="4526280"/>
                  </a:lnTo>
                  <a:lnTo>
                    <a:pt x="754380" y="4526280"/>
                  </a:lnTo>
                  <a:lnTo>
                    <a:pt x="706672" y="4524795"/>
                  </a:lnTo>
                  <a:lnTo>
                    <a:pt x="659753" y="4520402"/>
                  </a:lnTo>
                  <a:lnTo>
                    <a:pt x="613711" y="4513187"/>
                  </a:lnTo>
                  <a:lnTo>
                    <a:pt x="568634" y="4503239"/>
                  </a:lnTo>
                  <a:lnTo>
                    <a:pt x="524611" y="4490648"/>
                  </a:lnTo>
                  <a:lnTo>
                    <a:pt x="481730" y="4475500"/>
                  </a:lnTo>
                  <a:lnTo>
                    <a:pt x="440078" y="4457884"/>
                  </a:lnTo>
                  <a:lnTo>
                    <a:pt x="399746" y="4437890"/>
                  </a:lnTo>
                  <a:lnTo>
                    <a:pt x="360820" y="4415604"/>
                  </a:lnTo>
                  <a:lnTo>
                    <a:pt x="323390" y="4391117"/>
                  </a:lnTo>
                  <a:lnTo>
                    <a:pt x="287544" y="4364515"/>
                  </a:lnTo>
                  <a:lnTo>
                    <a:pt x="253369" y="4335887"/>
                  </a:lnTo>
                  <a:lnTo>
                    <a:pt x="220956" y="4305322"/>
                  </a:lnTo>
                  <a:lnTo>
                    <a:pt x="190391" y="4272908"/>
                  </a:lnTo>
                  <a:lnTo>
                    <a:pt x="161763" y="4238733"/>
                  </a:lnTo>
                  <a:lnTo>
                    <a:pt x="135162" y="4202886"/>
                  </a:lnTo>
                  <a:lnTo>
                    <a:pt x="110674" y="4165455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40" y="3957637"/>
                  </a:lnTo>
                  <a:lnTo>
                    <a:pt x="13092" y="3912559"/>
                  </a:lnTo>
                  <a:lnTo>
                    <a:pt x="5877" y="3866516"/>
                  </a:lnTo>
                  <a:lnTo>
                    <a:pt x="1484" y="3819595"/>
                  </a:lnTo>
                  <a:lnTo>
                    <a:pt x="0" y="3771887"/>
                  </a:lnTo>
                  <a:lnTo>
                    <a:pt x="0" y="75437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27912" y="2053208"/>
            <a:ext cx="107886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Links</a:t>
            </a:r>
            <a:r>
              <a:rPr sz="1600" b="1" spc="-5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11727"/>
                </a:solidFill>
                <a:latin typeface="Calibri"/>
                <a:cs typeface="Calibri"/>
              </a:rPr>
              <a:t>(paste)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1920" y="2564130"/>
            <a:ext cx="169545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Calibri"/>
                <a:cs typeface="Calibri"/>
              </a:rPr>
              <a:t>Demo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video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upload </a:t>
            </a:r>
            <a:r>
              <a:rPr sz="1400" dirty="0">
                <a:latin typeface="Calibri"/>
                <a:cs typeface="Calibri"/>
              </a:rPr>
              <a:t>(MP4,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≤2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min)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807207" y="2569464"/>
            <a:ext cx="4417060" cy="457200"/>
          </a:xfrm>
          <a:custGeom>
            <a:avLst/>
            <a:gdLst/>
            <a:ahLst/>
            <a:cxnLst/>
            <a:rect l="l" t="t" r="r" b="b"/>
            <a:pathLst>
              <a:path w="4417059" h="457200">
                <a:moveTo>
                  <a:pt x="4416552" y="0"/>
                </a:moveTo>
                <a:lnTo>
                  <a:pt x="0" y="0"/>
                </a:lnTo>
                <a:lnTo>
                  <a:pt x="0" y="457200"/>
                </a:lnTo>
                <a:lnTo>
                  <a:pt x="4416552" y="457200"/>
                </a:lnTo>
                <a:lnTo>
                  <a:pt x="44165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r>
              <a:rPr lang="en-IN" sz="1400" dirty="0"/>
              <a:t>https://drive.google.com/file/d/1aSIbNArYSemzkD5Te0sqX2niO8PrI6T-/view?usp=sharing</a:t>
            </a:r>
            <a:endParaRPr sz="1400" dirty="0"/>
          </a:p>
        </p:txBody>
      </p:sp>
      <p:sp>
        <p:nvSpPr>
          <p:cNvPr id="21" name="object 21"/>
          <p:cNvSpPr txBox="1"/>
          <p:nvPr/>
        </p:nvSpPr>
        <p:spPr>
          <a:xfrm>
            <a:off x="2807207" y="2569464"/>
            <a:ext cx="4417060" cy="221214"/>
          </a:xfrm>
          <a:prstGeom prst="rect">
            <a:avLst/>
          </a:prstGeom>
          <a:ln w="12192">
            <a:solidFill>
              <a:srgbClr val="E4E7EB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1920" y="3245611"/>
            <a:ext cx="10699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Repository</a:t>
            </a:r>
            <a:r>
              <a:rPr sz="1300" b="1" spc="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4A5462"/>
                </a:solidFill>
                <a:latin typeface="Calibri"/>
                <a:cs typeface="Calibri"/>
              </a:rPr>
              <a:t>URL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07207" y="3136392"/>
            <a:ext cx="4417060" cy="457200"/>
          </a:xfrm>
          <a:custGeom>
            <a:avLst/>
            <a:gdLst/>
            <a:ahLst/>
            <a:cxnLst/>
            <a:rect l="l" t="t" r="r" b="b"/>
            <a:pathLst>
              <a:path w="4417059" h="457200">
                <a:moveTo>
                  <a:pt x="4416552" y="0"/>
                </a:moveTo>
                <a:lnTo>
                  <a:pt x="0" y="0"/>
                </a:lnTo>
                <a:lnTo>
                  <a:pt x="0" y="457200"/>
                </a:lnTo>
                <a:lnTo>
                  <a:pt x="4416552" y="457200"/>
                </a:lnTo>
                <a:lnTo>
                  <a:pt x="44165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807207" y="3136392"/>
            <a:ext cx="4417060" cy="457200"/>
          </a:xfrm>
          <a:prstGeom prst="rect">
            <a:avLst/>
          </a:prstGeom>
          <a:ln w="12192">
            <a:solidFill>
              <a:srgbClr val="E4E7EB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955"/>
              </a:spcBef>
            </a:pPr>
            <a:r>
              <a:rPr sz="1300" dirty="0">
                <a:solidFill>
                  <a:srgbClr val="111727"/>
                </a:solidFill>
                <a:latin typeface="Calibri"/>
                <a:cs typeface="Calibri"/>
              </a:rPr>
              <a:t>[</a:t>
            </a:r>
            <a:r>
              <a:rPr sz="1300" spc="-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111727"/>
                </a:solidFill>
                <a:latin typeface="Calibri"/>
                <a:cs typeface="Calibri"/>
              </a:rPr>
              <a:t>]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1920" y="3812794"/>
            <a:ext cx="14693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Build</a:t>
            </a:r>
            <a:r>
              <a:rPr sz="1300" b="1" spc="-2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files</a:t>
            </a:r>
            <a:r>
              <a:rPr sz="1300" b="1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(CAD/PCB)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807207" y="3703320"/>
            <a:ext cx="4417060" cy="457200"/>
          </a:xfrm>
          <a:custGeom>
            <a:avLst/>
            <a:gdLst/>
            <a:ahLst/>
            <a:cxnLst/>
            <a:rect l="l" t="t" r="r" b="b"/>
            <a:pathLst>
              <a:path w="4417059" h="457200">
                <a:moveTo>
                  <a:pt x="4416552" y="0"/>
                </a:moveTo>
                <a:lnTo>
                  <a:pt x="0" y="0"/>
                </a:lnTo>
                <a:lnTo>
                  <a:pt x="0" y="457199"/>
                </a:lnTo>
                <a:lnTo>
                  <a:pt x="4416552" y="457199"/>
                </a:lnTo>
                <a:lnTo>
                  <a:pt x="44165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807207" y="3703320"/>
            <a:ext cx="4417060" cy="457200"/>
          </a:xfrm>
          <a:prstGeom prst="rect">
            <a:avLst/>
          </a:prstGeom>
          <a:ln w="12192">
            <a:solidFill>
              <a:srgbClr val="E4E7EB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955"/>
              </a:spcBef>
            </a:pPr>
            <a:r>
              <a:rPr sz="1300" dirty="0">
                <a:solidFill>
                  <a:srgbClr val="111727"/>
                </a:solidFill>
                <a:latin typeface="Calibri"/>
                <a:cs typeface="Calibri"/>
              </a:rPr>
              <a:t>[</a:t>
            </a:r>
            <a:r>
              <a:rPr sz="1300" spc="-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111727"/>
                </a:solidFill>
                <a:latin typeface="Calibri"/>
                <a:cs typeface="Calibri"/>
              </a:rPr>
              <a:t>]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1920" y="4379722"/>
            <a:ext cx="9683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Dataset</a:t>
            </a:r>
            <a:r>
              <a:rPr sz="1300" b="1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/</a:t>
            </a:r>
            <a:r>
              <a:rPr sz="1300" b="1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4A5462"/>
                </a:solidFill>
                <a:latin typeface="Calibri"/>
                <a:cs typeface="Calibri"/>
              </a:rPr>
              <a:t>logs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807207" y="4270247"/>
            <a:ext cx="4417060" cy="457200"/>
          </a:xfrm>
          <a:custGeom>
            <a:avLst/>
            <a:gdLst/>
            <a:ahLst/>
            <a:cxnLst/>
            <a:rect l="l" t="t" r="r" b="b"/>
            <a:pathLst>
              <a:path w="4417059" h="457200">
                <a:moveTo>
                  <a:pt x="4416552" y="0"/>
                </a:moveTo>
                <a:lnTo>
                  <a:pt x="0" y="0"/>
                </a:lnTo>
                <a:lnTo>
                  <a:pt x="0" y="457200"/>
                </a:lnTo>
                <a:lnTo>
                  <a:pt x="4416552" y="457200"/>
                </a:lnTo>
                <a:lnTo>
                  <a:pt x="44165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807207" y="4270247"/>
            <a:ext cx="4417060" cy="457200"/>
          </a:xfrm>
          <a:prstGeom prst="rect">
            <a:avLst/>
          </a:prstGeom>
          <a:ln w="12192">
            <a:solidFill>
              <a:srgbClr val="E4E7EB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960"/>
              </a:spcBef>
            </a:pPr>
            <a:r>
              <a:rPr sz="1300" dirty="0">
                <a:solidFill>
                  <a:srgbClr val="111727"/>
                </a:solidFill>
                <a:latin typeface="Calibri"/>
                <a:cs typeface="Calibri"/>
              </a:rPr>
              <a:t>[</a:t>
            </a:r>
            <a:r>
              <a:rPr sz="1300" spc="-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111727"/>
                </a:solidFill>
                <a:latin typeface="Calibri"/>
                <a:cs typeface="Calibri"/>
              </a:rPr>
              <a:t>]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1920" y="4947030"/>
            <a:ext cx="11957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Release</a:t>
            </a:r>
            <a:r>
              <a:rPr sz="1300" b="1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4A5462"/>
                </a:solidFill>
                <a:latin typeface="Calibri"/>
                <a:cs typeface="Calibri"/>
              </a:rPr>
              <a:t>/</a:t>
            </a:r>
            <a:r>
              <a:rPr sz="1300" b="1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4A5462"/>
                </a:solidFill>
                <a:latin typeface="Calibri"/>
                <a:cs typeface="Calibri"/>
              </a:rPr>
              <a:t>version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807207" y="4837176"/>
            <a:ext cx="4417060" cy="457200"/>
          </a:xfrm>
          <a:custGeom>
            <a:avLst/>
            <a:gdLst/>
            <a:ahLst/>
            <a:cxnLst/>
            <a:rect l="l" t="t" r="r" b="b"/>
            <a:pathLst>
              <a:path w="4417059" h="457200">
                <a:moveTo>
                  <a:pt x="4416552" y="0"/>
                </a:moveTo>
                <a:lnTo>
                  <a:pt x="0" y="0"/>
                </a:lnTo>
                <a:lnTo>
                  <a:pt x="0" y="457200"/>
                </a:lnTo>
                <a:lnTo>
                  <a:pt x="4416552" y="457200"/>
                </a:lnTo>
                <a:lnTo>
                  <a:pt x="44165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807207" y="4837176"/>
            <a:ext cx="4417060" cy="457200"/>
          </a:xfrm>
          <a:prstGeom prst="rect">
            <a:avLst/>
          </a:prstGeom>
          <a:ln w="12192">
            <a:solidFill>
              <a:srgbClr val="E4E7EB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960"/>
              </a:spcBef>
            </a:pPr>
            <a:r>
              <a:rPr sz="1300" spc="-10" dirty="0">
                <a:solidFill>
                  <a:srgbClr val="111727"/>
                </a:solidFill>
                <a:latin typeface="Calibri"/>
                <a:cs typeface="Calibri"/>
              </a:rPr>
              <a:t>[v1.0-prototype]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757522" y="1868170"/>
            <a:ext cx="3841115" cy="4563745"/>
            <a:chOff x="7757522" y="1868170"/>
            <a:chExt cx="3841115" cy="4563745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7522" y="1869084"/>
              <a:ext cx="3840788" cy="456280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772399" y="1874520"/>
              <a:ext cx="3794760" cy="4526280"/>
            </a:xfrm>
            <a:custGeom>
              <a:avLst/>
              <a:gdLst/>
              <a:ahLst/>
              <a:cxnLst/>
              <a:rect l="l" t="t" r="r" b="b"/>
              <a:pathLst>
                <a:path w="3794759" h="4526280">
                  <a:moveTo>
                    <a:pt x="3162300" y="0"/>
                  </a:moveTo>
                  <a:lnTo>
                    <a:pt x="632459" y="0"/>
                  </a:lnTo>
                  <a:lnTo>
                    <a:pt x="585264" y="1735"/>
                  </a:lnTo>
                  <a:lnTo>
                    <a:pt x="539010" y="6858"/>
                  </a:lnTo>
                  <a:lnTo>
                    <a:pt x="493819" y="15248"/>
                  </a:lnTo>
                  <a:lnTo>
                    <a:pt x="449814" y="26781"/>
                  </a:lnTo>
                  <a:lnTo>
                    <a:pt x="407117" y="41336"/>
                  </a:lnTo>
                  <a:lnTo>
                    <a:pt x="365851" y="58790"/>
                  </a:lnTo>
                  <a:lnTo>
                    <a:pt x="326138" y="79020"/>
                  </a:lnTo>
                  <a:lnTo>
                    <a:pt x="288100" y="101905"/>
                  </a:lnTo>
                  <a:lnTo>
                    <a:pt x="251859" y="127321"/>
                  </a:lnTo>
                  <a:lnTo>
                    <a:pt x="217539" y="155148"/>
                  </a:lnTo>
                  <a:lnTo>
                    <a:pt x="185261" y="185261"/>
                  </a:lnTo>
                  <a:lnTo>
                    <a:pt x="155148" y="217539"/>
                  </a:lnTo>
                  <a:lnTo>
                    <a:pt x="127321" y="251859"/>
                  </a:lnTo>
                  <a:lnTo>
                    <a:pt x="101905" y="288100"/>
                  </a:lnTo>
                  <a:lnTo>
                    <a:pt x="79020" y="326138"/>
                  </a:lnTo>
                  <a:lnTo>
                    <a:pt x="58790" y="365851"/>
                  </a:lnTo>
                  <a:lnTo>
                    <a:pt x="41336" y="407117"/>
                  </a:lnTo>
                  <a:lnTo>
                    <a:pt x="26781" y="449814"/>
                  </a:lnTo>
                  <a:lnTo>
                    <a:pt x="15248" y="493819"/>
                  </a:lnTo>
                  <a:lnTo>
                    <a:pt x="6858" y="539010"/>
                  </a:lnTo>
                  <a:lnTo>
                    <a:pt x="1735" y="585264"/>
                  </a:lnTo>
                  <a:lnTo>
                    <a:pt x="0" y="632459"/>
                  </a:lnTo>
                  <a:lnTo>
                    <a:pt x="0" y="3893807"/>
                  </a:lnTo>
                  <a:lnTo>
                    <a:pt x="1735" y="3941008"/>
                  </a:lnTo>
                  <a:lnTo>
                    <a:pt x="6858" y="3987268"/>
                  </a:lnTo>
                  <a:lnTo>
                    <a:pt x="15248" y="4032463"/>
                  </a:lnTo>
                  <a:lnTo>
                    <a:pt x="26781" y="4076472"/>
                  </a:lnTo>
                  <a:lnTo>
                    <a:pt x="41336" y="4119171"/>
                  </a:lnTo>
                  <a:lnTo>
                    <a:pt x="58790" y="4160440"/>
                  </a:lnTo>
                  <a:lnTo>
                    <a:pt x="79020" y="4200154"/>
                  </a:lnTo>
                  <a:lnTo>
                    <a:pt x="101905" y="4238193"/>
                  </a:lnTo>
                  <a:lnTo>
                    <a:pt x="127321" y="4274434"/>
                  </a:lnTo>
                  <a:lnTo>
                    <a:pt x="155148" y="4308754"/>
                  </a:lnTo>
                  <a:lnTo>
                    <a:pt x="185261" y="4341031"/>
                  </a:lnTo>
                  <a:lnTo>
                    <a:pt x="217539" y="4371143"/>
                  </a:lnTo>
                  <a:lnTo>
                    <a:pt x="251859" y="4398968"/>
                  </a:lnTo>
                  <a:lnTo>
                    <a:pt x="288100" y="4424383"/>
                  </a:lnTo>
                  <a:lnTo>
                    <a:pt x="326138" y="4447266"/>
                  </a:lnTo>
                  <a:lnTo>
                    <a:pt x="365851" y="4467495"/>
                  </a:lnTo>
                  <a:lnTo>
                    <a:pt x="407117" y="4484947"/>
                  </a:lnTo>
                  <a:lnTo>
                    <a:pt x="449814" y="4499501"/>
                  </a:lnTo>
                  <a:lnTo>
                    <a:pt x="493819" y="4511033"/>
                  </a:lnTo>
                  <a:lnTo>
                    <a:pt x="539010" y="4519422"/>
                  </a:lnTo>
                  <a:lnTo>
                    <a:pt x="585264" y="4524545"/>
                  </a:lnTo>
                  <a:lnTo>
                    <a:pt x="632459" y="4526280"/>
                  </a:lnTo>
                  <a:lnTo>
                    <a:pt x="3162300" y="4526280"/>
                  </a:lnTo>
                  <a:lnTo>
                    <a:pt x="3209495" y="4524545"/>
                  </a:lnTo>
                  <a:lnTo>
                    <a:pt x="3255749" y="4519422"/>
                  </a:lnTo>
                  <a:lnTo>
                    <a:pt x="3300940" y="4511033"/>
                  </a:lnTo>
                  <a:lnTo>
                    <a:pt x="3344945" y="4499501"/>
                  </a:lnTo>
                  <a:lnTo>
                    <a:pt x="3387642" y="4484947"/>
                  </a:lnTo>
                  <a:lnTo>
                    <a:pt x="3428908" y="4467495"/>
                  </a:lnTo>
                  <a:lnTo>
                    <a:pt x="3468621" y="4447266"/>
                  </a:lnTo>
                  <a:lnTo>
                    <a:pt x="3506659" y="4424383"/>
                  </a:lnTo>
                  <a:lnTo>
                    <a:pt x="3542900" y="4398968"/>
                  </a:lnTo>
                  <a:lnTo>
                    <a:pt x="3577220" y="4371143"/>
                  </a:lnTo>
                  <a:lnTo>
                    <a:pt x="3609498" y="4341031"/>
                  </a:lnTo>
                  <a:lnTo>
                    <a:pt x="3639611" y="4308754"/>
                  </a:lnTo>
                  <a:lnTo>
                    <a:pt x="3667438" y="4274434"/>
                  </a:lnTo>
                  <a:lnTo>
                    <a:pt x="3692854" y="4238193"/>
                  </a:lnTo>
                  <a:lnTo>
                    <a:pt x="3715739" y="4200154"/>
                  </a:lnTo>
                  <a:lnTo>
                    <a:pt x="3735969" y="4160440"/>
                  </a:lnTo>
                  <a:lnTo>
                    <a:pt x="3753423" y="4119171"/>
                  </a:lnTo>
                  <a:lnTo>
                    <a:pt x="3767978" y="4076472"/>
                  </a:lnTo>
                  <a:lnTo>
                    <a:pt x="3779511" y="4032463"/>
                  </a:lnTo>
                  <a:lnTo>
                    <a:pt x="3787901" y="3987268"/>
                  </a:lnTo>
                  <a:lnTo>
                    <a:pt x="3793024" y="3941008"/>
                  </a:lnTo>
                  <a:lnTo>
                    <a:pt x="3794759" y="3893807"/>
                  </a:lnTo>
                  <a:lnTo>
                    <a:pt x="3794759" y="632459"/>
                  </a:lnTo>
                  <a:lnTo>
                    <a:pt x="3793024" y="585264"/>
                  </a:lnTo>
                  <a:lnTo>
                    <a:pt x="3787901" y="539010"/>
                  </a:lnTo>
                  <a:lnTo>
                    <a:pt x="3779511" y="493819"/>
                  </a:lnTo>
                  <a:lnTo>
                    <a:pt x="3767978" y="449814"/>
                  </a:lnTo>
                  <a:lnTo>
                    <a:pt x="3753423" y="407117"/>
                  </a:lnTo>
                  <a:lnTo>
                    <a:pt x="3735969" y="365851"/>
                  </a:lnTo>
                  <a:lnTo>
                    <a:pt x="3715739" y="326138"/>
                  </a:lnTo>
                  <a:lnTo>
                    <a:pt x="3692854" y="288100"/>
                  </a:lnTo>
                  <a:lnTo>
                    <a:pt x="3667438" y="251859"/>
                  </a:lnTo>
                  <a:lnTo>
                    <a:pt x="3639611" y="217539"/>
                  </a:lnTo>
                  <a:lnTo>
                    <a:pt x="3609498" y="185261"/>
                  </a:lnTo>
                  <a:lnTo>
                    <a:pt x="3577220" y="155148"/>
                  </a:lnTo>
                  <a:lnTo>
                    <a:pt x="3542900" y="127321"/>
                  </a:lnTo>
                  <a:lnTo>
                    <a:pt x="3506659" y="101905"/>
                  </a:lnTo>
                  <a:lnTo>
                    <a:pt x="3468621" y="79020"/>
                  </a:lnTo>
                  <a:lnTo>
                    <a:pt x="3428908" y="58790"/>
                  </a:lnTo>
                  <a:lnTo>
                    <a:pt x="3387642" y="41336"/>
                  </a:lnTo>
                  <a:lnTo>
                    <a:pt x="3344945" y="26781"/>
                  </a:lnTo>
                  <a:lnTo>
                    <a:pt x="3300940" y="15248"/>
                  </a:lnTo>
                  <a:lnTo>
                    <a:pt x="3255749" y="6858"/>
                  </a:lnTo>
                  <a:lnTo>
                    <a:pt x="3209495" y="1735"/>
                  </a:lnTo>
                  <a:lnTo>
                    <a:pt x="3162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772399" y="1874520"/>
              <a:ext cx="3794760" cy="4526280"/>
            </a:xfrm>
            <a:custGeom>
              <a:avLst/>
              <a:gdLst/>
              <a:ahLst/>
              <a:cxnLst/>
              <a:rect l="l" t="t" r="r" b="b"/>
              <a:pathLst>
                <a:path w="3794759" h="4526280">
                  <a:moveTo>
                    <a:pt x="0" y="632459"/>
                  </a:moveTo>
                  <a:lnTo>
                    <a:pt x="1735" y="585264"/>
                  </a:lnTo>
                  <a:lnTo>
                    <a:pt x="6858" y="539010"/>
                  </a:lnTo>
                  <a:lnTo>
                    <a:pt x="15248" y="493819"/>
                  </a:lnTo>
                  <a:lnTo>
                    <a:pt x="26781" y="449814"/>
                  </a:lnTo>
                  <a:lnTo>
                    <a:pt x="41336" y="407117"/>
                  </a:lnTo>
                  <a:lnTo>
                    <a:pt x="58790" y="365851"/>
                  </a:lnTo>
                  <a:lnTo>
                    <a:pt x="79020" y="326138"/>
                  </a:lnTo>
                  <a:lnTo>
                    <a:pt x="101905" y="288100"/>
                  </a:lnTo>
                  <a:lnTo>
                    <a:pt x="127321" y="251859"/>
                  </a:lnTo>
                  <a:lnTo>
                    <a:pt x="155148" y="217539"/>
                  </a:lnTo>
                  <a:lnTo>
                    <a:pt x="185261" y="185261"/>
                  </a:lnTo>
                  <a:lnTo>
                    <a:pt x="217539" y="155148"/>
                  </a:lnTo>
                  <a:lnTo>
                    <a:pt x="251859" y="127321"/>
                  </a:lnTo>
                  <a:lnTo>
                    <a:pt x="288100" y="101905"/>
                  </a:lnTo>
                  <a:lnTo>
                    <a:pt x="326138" y="79020"/>
                  </a:lnTo>
                  <a:lnTo>
                    <a:pt x="365851" y="58790"/>
                  </a:lnTo>
                  <a:lnTo>
                    <a:pt x="407117" y="41336"/>
                  </a:lnTo>
                  <a:lnTo>
                    <a:pt x="449814" y="26781"/>
                  </a:lnTo>
                  <a:lnTo>
                    <a:pt x="493819" y="15248"/>
                  </a:lnTo>
                  <a:lnTo>
                    <a:pt x="539010" y="6858"/>
                  </a:lnTo>
                  <a:lnTo>
                    <a:pt x="585264" y="1735"/>
                  </a:lnTo>
                  <a:lnTo>
                    <a:pt x="632459" y="0"/>
                  </a:lnTo>
                  <a:lnTo>
                    <a:pt x="3162300" y="0"/>
                  </a:lnTo>
                  <a:lnTo>
                    <a:pt x="3209495" y="1735"/>
                  </a:lnTo>
                  <a:lnTo>
                    <a:pt x="3255749" y="6858"/>
                  </a:lnTo>
                  <a:lnTo>
                    <a:pt x="3300940" y="15248"/>
                  </a:lnTo>
                  <a:lnTo>
                    <a:pt x="3344945" y="26781"/>
                  </a:lnTo>
                  <a:lnTo>
                    <a:pt x="3387642" y="41336"/>
                  </a:lnTo>
                  <a:lnTo>
                    <a:pt x="3428908" y="58790"/>
                  </a:lnTo>
                  <a:lnTo>
                    <a:pt x="3468621" y="79020"/>
                  </a:lnTo>
                  <a:lnTo>
                    <a:pt x="3506659" y="101905"/>
                  </a:lnTo>
                  <a:lnTo>
                    <a:pt x="3542900" y="127321"/>
                  </a:lnTo>
                  <a:lnTo>
                    <a:pt x="3577220" y="155148"/>
                  </a:lnTo>
                  <a:lnTo>
                    <a:pt x="3609498" y="185261"/>
                  </a:lnTo>
                  <a:lnTo>
                    <a:pt x="3639611" y="217539"/>
                  </a:lnTo>
                  <a:lnTo>
                    <a:pt x="3667438" y="251859"/>
                  </a:lnTo>
                  <a:lnTo>
                    <a:pt x="3692854" y="288100"/>
                  </a:lnTo>
                  <a:lnTo>
                    <a:pt x="3715739" y="326138"/>
                  </a:lnTo>
                  <a:lnTo>
                    <a:pt x="3735969" y="365851"/>
                  </a:lnTo>
                  <a:lnTo>
                    <a:pt x="3753423" y="407117"/>
                  </a:lnTo>
                  <a:lnTo>
                    <a:pt x="3767978" y="449814"/>
                  </a:lnTo>
                  <a:lnTo>
                    <a:pt x="3779511" y="493819"/>
                  </a:lnTo>
                  <a:lnTo>
                    <a:pt x="3787901" y="539010"/>
                  </a:lnTo>
                  <a:lnTo>
                    <a:pt x="3793024" y="585264"/>
                  </a:lnTo>
                  <a:lnTo>
                    <a:pt x="3794759" y="632459"/>
                  </a:lnTo>
                  <a:lnTo>
                    <a:pt x="3794759" y="3893807"/>
                  </a:lnTo>
                  <a:lnTo>
                    <a:pt x="3793024" y="3941008"/>
                  </a:lnTo>
                  <a:lnTo>
                    <a:pt x="3787901" y="3987268"/>
                  </a:lnTo>
                  <a:lnTo>
                    <a:pt x="3779511" y="4032463"/>
                  </a:lnTo>
                  <a:lnTo>
                    <a:pt x="3767978" y="4076472"/>
                  </a:lnTo>
                  <a:lnTo>
                    <a:pt x="3753423" y="4119171"/>
                  </a:lnTo>
                  <a:lnTo>
                    <a:pt x="3735969" y="4160440"/>
                  </a:lnTo>
                  <a:lnTo>
                    <a:pt x="3715739" y="4200154"/>
                  </a:lnTo>
                  <a:lnTo>
                    <a:pt x="3692854" y="4238193"/>
                  </a:lnTo>
                  <a:lnTo>
                    <a:pt x="3667438" y="4274434"/>
                  </a:lnTo>
                  <a:lnTo>
                    <a:pt x="3639611" y="4308754"/>
                  </a:lnTo>
                  <a:lnTo>
                    <a:pt x="3609498" y="4341031"/>
                  </a:lnTo>
                  <a:lnTo>
                    <a:pt x="3577220" y="4371143"/>
                  </a:lnTo>
                  <a:lnTo>
                    <a:pt x="3542900" y="4398968"/>
                  </a:lnTo>
                  <a:lnTo>
                    <a:pt x="3506659" y="4424383"/>
                  </a:lnTo>
                  <a:lnTo>
                    <a:pt x="3468621" y="4447266"/>
                  </a:lnTo>
                  <a:lnTo>
                    <a:pt x="3428908" y="4467495"/>
                  </a:lnTo>
                  <a:lnTo>
                    <a:pt x="3387642" y="4484947"/>
                  </a:lnTo>
                  <a:lnTo>
                    <a:pt x="3344945" y="4499501"/>
                  </a:lnTo>
                  <a:lnTo>
                    <a:pt x="3300940" y="4511033"/>
                  </a:lnTo>
                  <a:lnTo>
                    <a:pt x="3255749" y="4519422"/>
                  </a:lnTo>
                  <a:lnTo>
                    <a:pt x="3209495" y="4524545"/>
                  </a:lnTo>
                  <a:lnTo>
                    <a:pt x="3162300" y="4526280"/>
                  </a:lnTo>
                  <a:lnTo>
                    <a:pt x="632459" y="4526280"/>
                  </a:lnTo>
                  <a:lnTo>
                    <a:pt x="585264" y="4524545"/>
                  </a:lnTo>
                  <a:lnTo>
                    <a:pt x="539010" y="4519422"/>
                  </a:lnTo>
                  <a:lnTo>
                    <a:pt x="493819" y="4511033"/>
                  </a:lnTo>
                  <a:lnTo>
                    <a:pt x="449814" y="4499501"/>
                  </a:lnTo>
                  <a:lnTo>
                    <a:pt x="407117" y="4484947"/>
                  </a:lnTo>
                  <a:lnTo>
                    <a:pt x="365851" y="4467495"/>
                  </a:lnTo>
                  <a:lnTo>
                    <a:pt x="326138" y="4447266"/>
                  </a:lnTo>
                  <a:lnTo>
                    <a:pt x="288100" y="4424383"/>
                  </a:lnTo>
                  <a:lnTo>
                    <a:pt x="251859" y="4398968"/>
                  </a:lnTo>
                  <a:lnTo>
                    <a:pt x="217539" y="4371143"/>
                  </a:lnTo>
                  <a:lnTo>
                    <a:pt x="185261" y="4341031"/>
                  </a:lnTo>
                  <a:lnTo>
                    <a:pt x="155148" y="4308754"/>
                  </a:lnTo>
                  <a:lnTo>
                    <a:pt x="127321" y="4274434"/>
                  </a:lnTo>
                  <a:lnTo>
                    <a:pt x="101905" y="4238193"/>
                  </a:lnTo>
                  <a:lnTo>
                    <a:pt x="79020" y="4200154"/>
                  </a:lnTo>
                  <a:lnTo>
                    <a:pt x="58790" y="4160440"/>
                  </a:lnTo>
                  <a:lnTo>
                    <a:pt x="41336" y="4119171"/>
                  </a:lnTo>
                  <a:lnTo>
                    <a:pt x="26781" y="4076472"/>
                  </a:lnTo>
                  <a:lnTo>
                    <a:pt x="15248" y="4032463"/>
                  </a:lnTo>
                  <a:lnTo>
                    <a:pt x="6858" y="3987268"/>
                  </a:lnTo>
                  <a:lnTo>
                    <a:pt x="1735" y="3941008"/>
                  </a:lnTo>
                  <a:lnTo>
                    <a:pt x="0" y="3893807"/>
                  </a:lnTo>
                  <a:lnTo>
                    <a:pt x="0" y="63245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107806" y="1933437"/>
            <a:ext cx="2871470" cy="91948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QR</a:t>
            </a:r>
            <a:r>
              <a:rPr sz="1600" b="1" spc="-2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11727"/>
                </a:solidFill>
                <a:latin typeface="Calibri"/>
                <a:cs typeface="Calibri"/>
              </a:rPr>
              <a:t>(optional)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810"/>
              </a:spcBef>
            </a:pPr>
            <a:r>
              <a:rPr sz="1400" dirty="0">
                <a:latin typeface="Calibri"/>
                <a:cs typeface="Calibri"/>
              </a:rPr>
              <a:t>Insert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QR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backup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link </a:t>
            </a:r>
            <a:r>
              <a:rPr sz="1400" spc="-10" dirty="0">
                <a:latin typeface="Calibri"/>
                <a:cs typeface="Calibri"/>
              </a:rPr>
              <a:t>(optional). </a:t>
            </a:r>
            <a:r>
              <a:rPr sz="1400" dirty="0">
                <a:latin typeface="Calibri"/>
                <a:cs typeface="Calibri"/>
              </a:rPr>
              <a:t>Keep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readable.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452104" y="2919983"/>
            <a:ext cx="2435860" cy="2435860"/>
            <a:chOff x="8452104" y="2919983"/>
            <a:chExt cx="2435860" cy="2435860"/>
          </a:xfrm>
        </p:grpSpPr>
        <p:sp>
          <p:nvSpPr>
            <p:cNvPr id="40" name="object 40"/>
            <p:cNvSpPr/>
            <p:nvPr/>
          </p:nvSpPr>
          <p:spPr>
            <a:xfrm>
              <a:off x="8458200" y="2926079"/>
              <a:ext cx="2423160" cy="2423160"/>
            </a:xfrm>
            <a:custGeom>
              <a:avLst/>
              <a:gdLst/>
              <a:ahLst/>
              <a:cxnLst/>
              <a:rect l="l" t="t" r="r" b="b"/>
              <a:pathLst>
                <a:path w="2423159" h="2423160">
                  <a:moveTo>
                    <a:pt x="2423159" y="0"/>
                  </a:moveTo>
                  <a:lnTo>
                    <a:pt x="0" y="0"/>
                  </a:lnTo>
                  <a:lnTo>
                    <a:pt x="0" y="2423160"/>
                  </a:lnTo>
                  <a:lnTo>
                    <a:pt x="2423159" y="2423160"/>
                  </a:lnTo>
                  <a:lnTo>
                    <a:pt x="2423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58200" y="2926079"/>
              <a:ext cx="2423160" cy="2423160"/>
            </a:xfrm>
            <a:custGeom>
              <a:avLst/>
              <a:gdLst/>
              <a:ahLst/>
              <a:cxnLst/>
              <a:rect l="l" t="t" r="r" b="b"/>
              <a:pathLst>
                <a:path w="2423159" h="2423160">
                  <a:moveTo>
                    <a:pt x="0" y="2423160"/>
                  </a:moveTo>
                  <a:lnTo>
                    <a:pt x="2423159" y="2423160"/>
                  </a:lnTo>
                  <a:lnTo>
                    <a:pt x="2423159" y="0"/>
                  </a:lnTo>
                  <a:lnTo>
                    <a:pt x="0" y="0"/>
                  </a:lnTo>
                  <a:lnTo>
                    <a:pt x="0" y="2423160"/>
                  </a:lnTo>
                  <a:close/>
                </a:path>
              </a:pathLst>
            </a:custGeom>
            <a:ln w="12191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023095" y="5474614"/>
            <a:ext cx="12928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[Paste</a:t>
            </a:r>
            <a:r>
              <a:rPr sz="1100" i="1" spc="-4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QR</a:t>
            </a:r>
            <a:r>
              <a:rPr sz="1100" i="1" spc="-1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image</a:t>
            </a:r>
            <a:r>
              <a:rPr sz="1100" i="1" spc="-3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6B7180"/>
                </a:solidFill>
                <a:latin typeface="Calibri"/>
                <a:cs typeface="Calibri"/>
              </a:rPr>
              <a:t>here]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0" y="6565391"/>
            <a:ext cx="12192000" cy="292735"/>
          </a:xfrm>
          <a:custGeom>
            <a:avLst/>
            <a:gdLst/>
            <a:ahLst/>
            <a:cxnLst/>
            <a:rect l="l" t="t" r="r" b="b"/>
            <a:pathLst>
              <a:path w="12192000" h="292734">
                <a:moveTo>
                  <a:pt x="0" y="292608"/>
                </a:moveTo>
                <a:lnTo>
                  <a:pt x="12192000" y="292608"/>
                </a:lnTo>
                <a:lnTo>
                  <a:pt x="12192000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138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5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Stage</a:t>
            </a:r>
            <a:r>
              <a:rPr spc="1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Submission</a:t>
            </a:r>
            <a:r>
              <a:rPr spc="-55" dirty="0"/>
              <a:t> </a:t>
            </a:r>
            <a:r>
              <a:rPr spc="-20" dirty="0"/>
              <a:t>Deck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45"/>
              </a:spcBef>
            </a:pPr>
            <a:r>
              <a:rPr spc="-10" dirty="0"/>
              <a:t>18/23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5"/>
            <a:ext cx="12204700" cy="579120"/>
            <a:chOff x="-6095" y="-6095"/>
            <a:chExt cx="12204700" cy="57912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567055"/>
            </a:xfrm>
            <a:custGeom>
              <a:avLst/>
              <a:gdLst/>
              <a:ahLst/>
              <a:cxnLst/>
              <a:rect l="l" t="t" r="r" b="b"/>
              <a:pathLst>
                <a:path w="12045950" h="567055">
                  <a:moveTo>
                    <a:pt x="0" y="566927"/>
                  </a:moveTo>
                  <a:lnTo>
                    <a:pt x="12045696" y="566927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567055"/>
            </a:xfrm>
            <a:custGeom>
              <a:avLst/>
              <a:gdLst/>
              <a:ahLst/>
              <a:cxnLst/>
              <a:rect l="l" t="t" r="r" b="b"/>
              <a:pathLst>
                <a:path w="12192000" h="567055">
                  <a:moveTo>
                    <a:pt x="0" y="566927"/>
                  </a:moveTo>
                  <a:lnTo>
                    <a:pt x="12192000" y="5669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146304" y="566927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7"/>
                  </a:moveTo>
                  <a:lnTo>
                    <a:pt x="146304" y="566927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805796" y="141223"/>
            <a:ext cx="17176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9" name="object 9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RISK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9353"/>
            <a:ext cx="53270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111727"/>
                </a:solidFill>
              </a:rPr>
              <a:t>Risks,</a:t>
            </a:r>
            <a:r>
              <a:rPr sz="3200" spc="-9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Limitations</a:t>
            </a:r>
            <a:r>
              <a:rPr sz="3200" spc="-9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&amp;</a:t>
            </a:r>
            <a:r>
              <a:rPr sz="3200" spc="-95" dirty="0">
                <a:solidFill>
                  <a:srgbClr val="111727"/>
                </a:solidFill>
              </a:rPr>
              <a:t> </a:t>
            </a:r>
            <a:r>
              <a:rPr sz="3200" spc="-10" dirty="0">
                <a:solidFill>
                  <a:srgbClr val="111727"/>
                </a:solidFill>
              </a:rPr>
              <a:t>Mitigations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671880" y="1454023"/>
            <a:ext cx="44932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Be</a:t>
            </a:r>
            <a:r>
              <a:rPr sz="16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honest.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Show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how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you</a:t>
            </a:r>
            <a:r>
              <a:rPr sz="16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will</a:t>
            </a:r>
            <a:r>
              <a:rPr sz="1600" spc="-5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reduce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risk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before </a:t>
            </a:r>
            <a:r>
              <a:rPr sz="1600" spc="-20" dirty="0">
                <a:solidFill>
                  <a:srgbClr val="4A5462"/>
                </a:solidFill>
                <a:latin typeface="Calibri"/>
                <a:cs typeface="Calibri"/>
              </a:rPr>
              <a:t>MVP.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4359" y="1920239"/>
            <a:ext cx="4267200" cy="457200"/>
          </a:xfrm>
          <a:custGeom>
            <a:avLst/>
            <a:gdLst/>
            <a:ahLst/>
            <a:cxnLst/>
            <a:rect l="l" t="t" r="r" b="b"/>
            <a:pathLst>
              <a:path w="4267200" h="457200">
                <a:moveTo>
                  <a:pt x="0" y="457200"/>
                </a:moveTo>
                <a:lnTo>
                  <a:pt x="4267200" y="457200"/>
                </a:lnTo>
                <a:lnTo>
                  <a:pt x="42672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A2D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81608" y="2035809"/>
            <a:ext cx="10331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Risk /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limitation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18761" y="1913889"/>
            <a:ext cx="2271395" cy="1835785"/>
            <a:chOff x="4318761" y="1913889"/>
            <a:chExt cx="2271395" cy="1835785"/>
          </a:xfrm>
        </p:grpSpPr>
        <p:sp>
          <p:nvSpPr>
            <p:cNvPr id="17" name="object 17"/>
            <p:cNvSpPr/>
            <p:nvPr/>
          </p:nvSpPr>
          <p:spPr>
            <a:xfrm>
              <a:off x="4325111" y="1920239"/>
              <a:ext cx="2258695" cy="457200"/>
            </a:xfrm>
            <a:custGeom>
              <a:avLst/>
              <a:gdLst/>
              <a:ahLst/>
              <a:cxnLst/>
              <a:rect l="l" t="t" r="r" b="b"/>
              <a:pathLst>
                <a:path w="2258695" h="457200">
                  <a:moveTo>
                    <a:pt x="0" y="457200"/>
                  </a:moveTo>
                  <a:lnTo>
                    <a:pt x="2258567" y="457200"/>
                  </a:lnTo>
                  <a:lnTo>
                    <a:pt x="2258567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25111" y="1920239"/>
              <a:ext cx="2258695" cy="1823085"/>
            </a:xfrm>
            <a:custGeom>
              <a:avLst/>
              <a:gdLst/>
              <a:ahLst/>
              <a:cxnLst/>
              <a:rect l="l" t="t" r="r" b="b"/>
              <a:pathLst>
                <a:path w="2258695" h="1823085">
                  <a:moveTo>
                    <a:pt x="0" y="1822704"/>
                  </a:moveTo>
                  <a:lnTo>
                    <a:pt x="2258567" y="1822704"/>
                  </a:lnTo>
                  <a:lnTo>
                    <a:pt x="2258567" y="0"/>
                  </a:lnTo>
                  <a:lnTo>
                    <a:pt x="0" y="0"/>
                  </a:lnTo>
                  <a:lnTo>
                    <a:pt x="0" y="182270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13326" y="2035809"/>
            <a:ext cx="10172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(L/M/H)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93865" y="1913889"/>
            <a:ext cx="2271395" cy="1835785"/>
            <a:chOff x="6293865" y="1913889"/>
            <a:chExt cx="2271395" cy="1835785"/>
          </a:xfrm>
        </p:grpSpPr>
        <p:sp>
          <p:nvSpPr>
            <p:cNvPr id="21" name="object 21"/>
            <p:cNvSpPr/>
            <p:nvPr/>
          </p:nvSpPr>
          <p:spPr>
            <a:xfrm>
              <a:off x="6300215" y="1920239"/>
              <a:ext cx="2258695" cy="457200"/>
            </a:xfrm>
            <a:custGeom>
              <a:avLst/>
              <a:gdLst/>
              <a:ahLst/>
              <a:cxnLst/>
              <a:rect l="l" t="t" r="r" b="b"/>
              <a:pathLst>
                <a:path w="2258695" h="457200">
                  <a:moveTo>
                    <a:pt x="0" y="457200"/>
                  </a:moveTo>
                  <a:lnTo>
                    <a:pt x="2258567" y="457200"/>
                  </a:lnTo>
                  <a:lnTo>
                    <a:pt x="2258567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00215" y="1920239"/>
              <a:ext cx="2258695" cy="1823085"/>
            </a:xfrm>
            <a:custGeom>
              <a:avLst/>
              <a:gdLst/>
              <a:ahLst/>
              <a:cxnLst/>
              <a:rect l="l" t="t" r="r" b="b"/>
              <a:pathLst>
                <a:path w="2258695" h="1823085">
                  <a:moveTo>
                    <a:pt x="0" y="1822704"/>
                  </a:moveTo>
                  <a:lnTo>
                    <a:pt x="2258567" y="1822704"/>
                  </a:lnTo>
                  <a:lnTo>
                    <a:pt x="2258567" y="0"/>
                  </a:lnTo>
                  <a:lnTo>
                    <a:pt x="0" y="0"/>
                  </a:lnTo>
                  <a:lnTo>
                    <a:pt x="0" y="182270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488684" y="2035809"/>
            <a:ext cx="674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Likelihood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268969" y="1913889"/>
            <a:ext cx="3776979" cy="1835785"/>
            <a:chOff x="8268969" y="1913889"/>
            <a:chExt cx="3776979" cy="1835785"/>
          </a:xfrm>
        </p:grpSpPr>
        <p:sp>
          <p:nvSpPr>
            <p:cNvPr id="25" name="object 25"/>
            <p:cNvSpPr/>
            <p:nvPr/>
          </p:nvSpPr>
          <p:spPr>
            <a:xfrm>
              <a:off x="8275319" y="1920239"/>
              <a:ext cx="3764279" cy="457200"/>
            </a:xfrm>
            <a:custGeom>
              <a:avLst/>
              <a:gdLst/>
              <a:ahLst/>
              <a:cxnLst/>
              <a:rect l="l" t="t" r="r" b="b"/>
              <a:pathLst>
                <a:path w="3764279" h="457200">
                  <a:moveTo>
                    <a:pt x="0" y="457200"/>
                  </a:moveTo>
                  <a:lnTo>
                    <a:pt x="3764279" y="457200"/>
                  </a:lnTo>
                  <a:lnTo>
                    <a:pt x="3764279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75319" y="1920239"/>
              <a:ext cx="3764279" cy="1823085"/>
            </a:xfrm>
            <a:custGeom>
              <a:avLst/>
              <a:gdLst/>
              <a:ahLst/>
              <a:cxnLst/>
              <a:rect l="l" t="t" r="r" b="b"/>
              <a:pathLst>
                <a:path w="3764279" h="1823085">
                  <a:moveTo>
                    <a:pt x="0" y="1822704"/>
                  </a:moveTo>
                  <a:lnTo>
                    <a:pt x="3764279" y="1822704"/>
                  </a:lnTo>
                  <a:lnTo>
                    <a:pt x="3764279" y="0"/>
                  </a:lnTo>
                  <a:lnTo>
                    <a:pt x="0" y="0"/>
                  </a:lnTo>
                  <a:lnTo>
                    <a:pt x="0" y="182270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464422" y="2035809"/>
            <a:ext cx="1527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Mitigation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 /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action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88009" y="2371089"/>
            <a:ext cx="4279900" cy="3075940"/>
            <a:chOff x="588009" y="2371089"/>
            <a:chExt cx="4279900" cy="3075940"/>
          </a:xfrm>
        </p:grpSpPr>
        <p:sp>
          <p:nvSpPr>
            <p:cNvPr id="29" name="object 29"/>
            <p:cNvSpPr/>
            <p:nvPr/>
          </p:nvSpPr>
          <p:spPr>
            <a:xfrm>
              <a:off x="594359" y="2377439"/>
              <a:ext cx="4267200" cy="3063240"/>
            </a:xfrm>
            <a:custGeom>
              <a:avLst/>
              <a:gdLst/>
              <a:ahLst/>
              <a:cxnLst/>
              <a:rect l="l" t="t" r="r" b="b"/>
              <a:pathLst>
                <a:path w="4267200" h="3063240">
                  <a:moveTo>
                    <a:pt x="4267200" y="0"/>
                  </a:moveTo>
                  <a:lnTo>
                    <a:pt x="0" y="0"/>
                  </a:lnTo>
                  <a:lnTo>
                    <a:pt x="0" y="3063239"/>
                  </a:lnTo>
                  <a:lnTo>
                    <a:pt x="4267200" y="3063239"/>
                  </a:lnTo>
                  <a:lnTo>
                    <a:pt x="42672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4359" y="2377439"/>
              <a:ext cx="4267200" cy="3063240"/>
            </a:xfrm>
            <a:custGeom>
              <a:avLst/>
              <a:gdLst/>
              <a:ahLst/>
              <a:cxnLst/>
              <a:rect l="l" t="t" r="r" b="b"/>
              <a:pathLst>
                <a:path w="4267200" h="3063240">
                  <a:moveTo>
                    <a:pt x="0" y="3063239"/>
                  </a:moveTo>
                  <a:lnTo>
                    <a:pt x="4267200" y="3063239"/>
                  </a:lnTo>
                  <a:lnTo>
                    <a:pt x="4267200" y="0"/>
                  </a:lnTo>
                  <a:lnTo>
                    <a:pt x="0" y="0"/>
                  </a:lnTo>
                  <a:lnTo>
                    <a:pt x="0" y="306323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70966" y="2325370"/>
            <a:ext cx="3498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Cloud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(API/DB)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Downtime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318761" y="2371089"/>
            <a:ext cx="2271395" cy="3075940"/>
            <a:chOff x="4318761" y="2371089"/>
            <a:chExt cx="2271395" cy="3075940"/>
          </a:xfrm>
        </p:grpSpPr>
        <p:sp>
          <p:nvSpPr>
            <p:cNvPr id="33" name="object 33"/>
            <p:cNvSpPr/>
            <p:nvPr/>
          </p:nvSpPr>
          <p:spPr>
            <a:xfrm>
              <a:off x="4325111" y="2377439"/>
              <a:ext cx="2258695" cy="3063240"/>
            </a:xfrm>
            <a:custGeom>
              <a:avLst/>
              <a:gdLst/>
              <a:ahLst/>
              <a:cxnLst/>
              <a:rect l="l" t="t" r="r" b="b"/>
              <a:pathLst>
                <a:path w="2258695" h="3063240">
                  <a:moveTo>
                    <a:pt x="2258567" y="0"/>
                  </a:moveTo>
                  <a:lnTo>
                    <a:pt x="0" y="0"/>
                  </a:lnTo>
                  <a:lnTo>
                    <a:pt x="0" y="3063239"/>
                  </a:lnTo>
                  <a:lnTo>
                    <a:pt x="2258567" y="3063239"/>
                  </a:lnTo>
                  <a:lnTo>
                    <a:pt x="2258567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325111" y="2377439"/>
              <a:ext cx="2258695" cy="3063240"/>
            </a:xfrm>
            <a:custGeom>
              <a:avLst/>
              <a:gdLst/>
              <a:ahLst/>
              <a:cxnLst/>
              <a:rect l="l" t="t" r="r" b="b"/>
              <a:pathLst>
                <a:path w="2258695" h="3063240">
                  <a:moveTo>
                    <a:pt x="0" y="3063239"/>
                  </a:moveTo>
                  <a:lnTo>
                    <a:pt x="2258567" y="3063239"/>
                  </a:lnTo>
                  <a:lnTo>
                    <a:pt x="2258567" y="0"/>
                  </a:lnTo>
                  <a:lnTo>
                    <a:pt x="0" y="0"/>
                  </a:lnTo>
                  <a:lnTo>
                    <a:pt x="0" y="306323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403597" y="2404998"/>
            <a:ext cx="497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High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293865" y="2371089"/>
            <a:ext cx="2271395" cy="3075940"/>
            <a:chOff x="6293865" y="2371089"/>
            <a:chExt cx="2271395" cy="3075940"/>
          </a:xfrm>
        </p:grpSpPr>
        <p:sp>
          <p:nvSpPr>
            <p:cNvPr id="37" name="object 37"/>
            <p:cNvSpPr/>
            <p:nvPr/>
          </p:nvSpPr>
          <p:spPr>
            <a:xfrm>
              <a:off x="6300215" y="2377439"/>
              <a:ext cx="2258695" cy="3063240"/>
            </a:xfrm>
            <a:custGeom>
              <a:avLst/>
              <a:gdLst/>
              <a:ahLst/>
              <a:cxnLst/>
              <a:rect l="l" t="t" r="r" b="b"/>
              <a:pathLst>
                <a:path w="2258695" h="3063240">
                  <a:moveTo>
                    <a:pt x="2258567" y="0"/>
                  </a:moveTo>
                  <a:lnTo>
                    <a:pt x="0" y="0"/>
                  </a:lnTo>
                  <a:lnTo>
                    <a:pt x="0" y="3063239"/>
                  </a:lnTo>
                  <a:lnTo>
                    <a:pt x="2258567" y="3063239"/>
                  </a:lnTo>
                  <a:lnTo>
                    <a:pt x="2258567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00215" y="2377439"/>
              <a:ext cx="2258695" cy="3063240"/>
            </a:xfrm>
            <a:custGeom>
              <a:avLst/>
              <a:gdLst/>
              <a:ahLst/>
              <a:cxnLst/>
              <a:rect l="l" t="t" r="r" b="b"/>
              <a:pathLst>
                <a:path w="2258695" h="3063240">
                  <a:moveTo>
                    <a:pt x="0" y="3063239"/>
                  </a:moveTo>
                  <a:lnTo>
                    <a:pt x="2258567" y="3063239"/>
                  </a:lnTo>
                  <a:lnTo>
                    <a:pt x="2258567" y="0"/>
                  </a:lnTo>
                  <a:lnTo>
                    <a:pt x="0" y="0"/>
                  </a:lnTo>
                  <a:lnTo>
                    <a:pt x="0" y="306323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379209" y="2404998"/>
            <a:ext cx="836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Medium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268969" y="2371089"/>
            <a:ext cx="3776979" cy="3075940"/>
            <a:chOff x="8268969" y="2371089"/>
            <a:chExt cx="3776979" cy="3075940"/>
          </a:xfrm>
        </p:grpSpPr>
        <p:sp>
          <p:nvSpPr>
            <p:cNvPr id="41" name="object 41"/>
            <p:cNvSpPr/>
            <p:nvPr/>
          </p:nvSpPr>
          <p:spPr>
            <a:xfrm>
              <a:off x="8275319" y="2377439"/>
              <a:ext cx="3764279" cy="3063240"/>
            </a:xfrm>
            <a:custGeom>
              <a:avLst/>
              <a:gdLst/>
              <a:ahLst/>
              <a:cxnLst/>
              <a:rect l="l" t="t" r="r" b="b"/>
              <a:pathLst>
                <a:path w="3764279" h="3063240">
                  <a:moveTo>
                    <a:pt x="3764279" y="0"/>
                  </a:moveTo>
                  <a:lnTo>
                    <a:pt x="0" y="0"/>
                  </a:lnTo>
                  <a:lnTo>
                    <a:pt x="0" y="3063239"/>
                  </a:lnTo>
                  <a:lnTo>
                    <a:pt x="3764279" y="3063239"/>
                  </a:lnTo>
                  <a:lnTo>
                    <a:pt x="3764279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75319" y="2377439"/>
              <a:ext cx="3764279" cy="3063240"/>
            </a:xfrm>
            <a:custGeom>
              <a:avLst/>
              <a:gdLst/>
              <a:ahLst/>
              <a:cxnLst/>
              <a:rect l="l" t="t" r="r" b="b"/>
              <a:pathLst>
                <a:path w="3764279" h="3063240">
                  <a:moveTo>
                    <a:pt x="0" y="3063239"/>
                  </a:moveTo>
                  <a:lnTo>
                    <a:pt x="3764279" y="3063239"/>
                  </a:lnTo>
                  <a:lnTo>
                    <a:pt x="3764279" y="0"/>
                  </a:lnTo>
                  <a:lnTo>
                    <a:pt x="0" y="0"/>
                  </a:lnTo>
                  <a:lnTo>
                    <a:pt x="0" y="306323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54694" y="2404998"/>
            <a:ext cx="3474720" cy="8426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0"/>
              </a:spcBef>
            </a:pP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redundant,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managed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cloud </a:t>
            </a:r>
            <a:r>
              <a:rPr sz="1800" dirty="0">
                <a:latin typeface="Arial MT"/>
                <a:cs typeface="Arial MT"/>
              </a:rPr>
              <a:t>services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(CD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Vertical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);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implement </a:t>
            </a:r>
            <a:r>
              <a:rPr sz="1800" dirty="0">
                <a:latin typeface="Arial MT"/>
                <a:cs typeface="Arial MT"/>
              </a:rPr>
              <a:t>API health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checks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retry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logic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88009" y="3139185"/>
            <a:ext cx="3776979" cy="2134235"/>
            <a:chOff x="588009" y="3139185"/>
            <a:chExt cx="3776979" cy="2134235"/>
          </a:xfrm>
        </p:grpSpPr>
        <p:sp>
          <p:nvSpPr>
            <p:cNvPr id="45" name="object 45"/>
            <p:cNvSpPr/>
            <p:nvPr/>
          </p:nvSpPr>
          <p:spPr>
            <a:xfrm>
              <a:off x="594359" y="3145535"/>
              <a:ext cx="3764279" cy="2121535"/>
            </a:xfrm>
            <a:custGeom>
              <a:avLst/>
              <a:gdLst/>
              <a:ahLst/>
              <a:cxnLst/>
              <a:rect l="l" t="t" r="r" b="b"/>
              <a:pathLst>
                <a:path w="3764279" h="2121535">
                  <a:moveTo>
                    <a:pt x="3764279" y="0"/>
                  </a:moveTo>
                  <a:lnTo>
                    <a:pt x="0" y="0"/>
                  </a:lnTo>
                  <a:lnTo>
                    <a:pt x="0" y="2121408"/>
                  </a:lnTo>
                  <a:lnTo>
                    <a:pt x="3764279" y="2121408"/>
                  </a:lnTo>
                  <a:lnTo>
                    <a:pt x="3764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4359" y="3145535"/>
              <a:ext cx="3764279" cy="2121535"/>
            </a:xfrm>
            <a:custGeom>
              <a:avLst/>
              <a:gdLst/>
              <a:ahLst/>
              <a:cxnLst/>
              <a:rect l="l" t="t" r="r" b="b"/>
              <a:pathLst>
                <a:path w="3764279" h="2121535">
                  <a:moveTo>
                    <a:pt x="0" y="2121408"/>
                  </a:moveTo>
                  <a:lnTo>
                    <a:pt x="3764279" y="2121408"/>
                  </a:lnTo>
                  <a:lnTo>
                    <a:pt x="3764279" y="0"/>
                  </a:lnTo>
                  <a:lnTo>
                    <a:pt x="0" y="0"/>
                  </a:lnTo>
                  <a:lnTo>
                    <a:pt x="0" y="2121408"/>
                  </a:lnTo>
                  <a:close/>
                </a:path>
              </a:pathLst>
            </a:custGeom>
            <a:ln w="12191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71880" y="3093796"/>
            <a:ext cx="3578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Donor/Hospital</a:t>
            </a:r>
            <a:r>
              <a:rPr sz="1800" spc="-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Authentication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Flaw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318761" y="3139185"/>
            <a:ext cx="2006600" cy="2134235"/>
            <a:chOff x="4318761" y="3139185"/>
            <a:chExt cx="2006600" cy="2134235"/>
          </a:xfrm>
        </p:grpSpPr>
        <p:sp>
          <p:nvSpPr>
            <p:cNvPr id="49" name="object 49"/>
            <p:cNvSpPr/>
            <p:nvPr/>
          </p:nvSpPr>
          <p:spPr>
            <a:xfrm>
              <a:off x="4325111" y="3145535"/>
              <a:ext cx="1993900" cy="2121535"/>
            </a:xfrm>
            <a:custGeom>
              <a:avLst/>
              <a:gdLst/>
              <a:ahLst/>
              <a:cxnLst/>
              <a:rect l="l" t="t" r="r" b="b"/>
              <a:pathLst>
                <a:path w="1993900" h="2121535">
                  <a:moveTo>
                    <a:pt x="1993391" y="0"/>
                  </a:moveTo>
                  <a:lnTo>
                    <a:pt x="0" y="0"/>
                  </a:lnTo>
                  <a:lnTo>
                    <a:pt x="0" y="2121408"/>
                  </a:lnTo>
                  <a:lnTo>
                    <a:pt x="1993391" y="2121408"/>
                  </a:lnTo>
                  <a:lnTo>
                    <a:pt x="1993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25111" y="3145535"/>
              <a:ext cx="1993900" cy="2121535"/>
            </a:xfrm>
            <a:custGeom>
              <a:avLst/>
              <a:gdLst/>
              <a:ahLst/>
              <a:cxnLst/>
              <a:rect l="l" t="t" r="r" b="b"/>
              <a:pathLst>
                <a:path w="1993900" h="2121535">
                  <a:moveTo>
                    <a:pt x="0" y="2121408"/>
                  </a:moveTo>
                  <a:lnTo>
                    <a:pt x="1993391" y="2121408"/>
                  </a:lnTo>
                  <a:lnTo>
                    <a:pt x="1993391" y="0"/>
                  </a:lnTo>
                  <a:lnTo>
                    <a:pt x="0" y="0"/>
                  </a:lnTo>
                  <a:lnTo>
                    <a:pt x="0" y="2121408"/>
                  </a:lnTo>
                  <a:close/>
                </a:path>
              </a:pathLst>
            </a:custGeom>
            <a:ln w="12191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403597" y="3173044"/>
            <a:ext cx="4972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High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293865" y="3139185"/>
            <a:ext cx="2006600" cy="2134235"/>
            <a:chOff x="6293865" y="3139185"/>
            <a:chExt cx="2006600" cy="2134235"/>
          </a:xfrm>
        </p:grpSpPr>
        <p:sp>
          <p:nvSpPr>
            <p:cNvPr id="53" name="object 53"/>
            <p:cNvSpPr/>
            <p:nvPr/>
          </p:nvSpPr>
          <p:spPr>
            <a:xfrm>
              <a:off x="6300215" y="3145535"/>
              <a:ext cx="1993900" cy="2121535"/>
            </a:xfrm>
            <a:custGeom>
              <a:avLst/>
              <a:gdLst/>
              <a:ahLst/>
              <a:cxnLst/>
              <a:rect l="l" t="t" r="r" b="b"/>
              <a:pathLst>
                <a:path w="1993900" h="2121535">
                  <a:moveTo>
                    <a:pt x="1993391" y="0"/>
                  </a:moveTo>
                  <a:lnTo>
                    <a:pt x="0" y="0"/>
                  </a:lnTo>
                  <a:lnTo>
                    <a:pt x="0" y="2121408"/>
                  </a:lnTo>
                  <a:lnTo>
                    <a:pt x="1993391" y="2121408"/>
                  </a:lnTo>
                  <a:lnTo>
                    <a:pt x="1993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300215" y="3145535"/>
              <a:ext cx="1993900" cy="2121535"/>
            </a:xfrm>
            <a:custGeom>
              <a:avLst/>
              <a:gdLst/>
              <a:ahLst/>
              <a:cxnLst/>
              <a:rect l="l" t="t" r="r" b="b"/>
              <a:pathLst>
                <a:path w="1993900" h="2121535">
                  <a:moveTo>
                    <a:pt x="0" y="2121408"/>
                  </a:moveTo>
                  <a:lnTo>
                    <a:pt x="1993391" y="2121408"/>
                  </a:lnTo>
                  <a:lnTo>
                    <a:pt x="1993391" y="0"/>
                  </a:lnTo>
                  <a:lnTo>
                    <a:pt x="0" y="0"/>
                  </a:lnTo>
                  <a:lnTo>
                    <a:pt x="0" y="2121408"/>
                  </a:lnTo>
                  <a:close/>
                </a:path>
              </a:pathLst>
            </a:custGeom>
            <a:ln w="12191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379209" y="3173044"/>
            <a:ext cx="3702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low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268969" y="3139185"/>
            <a:ext cx="3335020" cy="2134235"/>
            <a:chOff x="8268969" y="3139185"/>
            <a:chExt cx="3335020" cy="2134235"/>
          </a:xfrm>
        </p:grpSpPr>
        <p:sp>
          <p:nvSpPr>
            <p:cNvPr id="57" name="object 57"/>
            <p:cNvSpPr/>
            <p:nvPr/>
          </p:nvSpPr>
          <p:spPr>
            <a:xfrm>
              <a:off x="8275319" y="3145535"/>
              <a:ext cx="3322320" cy="2121535"/>
            </a:xfrm>
            <a:custGeom>
              <a:avLst/>
              <a:gdLst/>
              <a:ahLst/>
              <a:cxnLst/>
              <a:rect l="l" t="t" r="r" b="b"/>
              <a:pathLst>
                <a:path w="3322320" h="2121535">
                  <a:moveTo>
                    <a:pt x="3322320" y="0"/>
                  </a:moveTo>
                  <a:lnTo>
                    <a:pt x="0" y="0"/>
                  </a:lnTo>
                  <a:lnTo>
                    <a:pt x="0" y="2121408"/>
                  </a:lnTo>
                  <a:lnTo>
                    <a:pt x="3322320" y="2121408"/>
                  </a:lnTo>
                  <a:lnTo>
                    <a:pt x="3322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275319" y="3145535"/>
              <a:ext cx="3322320" cy="2121535"/>
            </a:xfrm>
            <a:custGeom>
              <a:avLst/>
              <a:gdLst/>
              <a:ahLst/>
              <a:cxnLst/>
              <a:rect l="l" t="t" r="r" b="b"/>
              <a:pathLst>
                <a:path w="3322320" h="2121535">
                  <a:moveTo>
                    <a:pt x="0" y="2121408"/>
                  </a:moveTo>
                  <a:lnTo>
                    <a:pt x="3322320" y="2121408"/>
                  </a:lnTo>
                  <a:lnTo>
                    <a:pt x="3322320" y="0"/>
                  </a:lnTo>
                  <a:lnTo>
                    <a:pt x="0" y="0"/>
                  </a:lnTo>
                  <a:lnTo>
                    <a:pt x="0" y="2121408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8354694" y="3173044"/>
            <a:ext cx="294449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OAuth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2.0/JWT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standard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security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libraries; </a:t>
            </a:r>
            <a:r>
              <a:rPr sz="1800" dirty="0">
                <a:latin typeface="Arial MT"/>
                <a:cs typeface="Arial MT"/>
              </a:rPr>
              <a:t>conduct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 review</a:t>
            </a:r>
            <a:r>
              <a:rPr sz="1800" spc="-25" dirty="0">
                <a:latin typeface="Arial MT"/>
                <a:cs typeface="Arial MT"/>
              </a:rPr>
              <a:t> on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367394" y="4025202"/>
            <a:ext cx="186245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auth</a:t>
            </a:r>
            <a:r>
              <a:rPr sz="1800" spc="-10" dirty="0">
                <a:latin typeface="Arial MT"/>
                <a:cs typeface="Arial MT"/>
              </a:rPr>
              <a:t> endpoints.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588009" y="3907282"/>
            <a:ext cx="3776979" cy="2134235"/>
            <a:chOff x="588009" y="3907282"/>
            <a:chExt cx="3776979" cy="2134235"/>
          </a:xfrm>
        </p:grpSpPr>
        <p:sp>
          <p:nvSpPr>
            <p:cNvPr id="62" name="object 62"/>
            <p:cNvSpPr/>
            <p:nvPr/>
          </p:nvSpPr>
          <p:spPr>
            <a:xfrm>
              <a:off x="594359" y="3913632"/>
              <a:ext cx="3764279" cy="2121535"/>
            </a:xfrm>
            <a:custGeom>
              <a:avLst/>
              <a:gdLst/>
              <a:ahLst/>
              <a:cxnLst/>
              <a:rect l="l" t="t" r="r" b="b"/>
              <a:pathLst>
                <a:path w="3764279" h="2121535">
                  <a:moveTo>
                    <a:pt x="3764279" y="0"/>
                  </a:moveTo>
                  <a:lnTo>
                    <a:pt x="0" y="0"/>
                  </a:lnTo>
                  <a:lnTo>
                    <a:pt x="0" y="2121407"/>
                  </a:lnTo>
                  <a:lnTo>
                    <a:pt x="3764279" y="2121407"/>
                  </a:lnTo>
                  <a:lnTo>
                    <a:pt x="3764279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94359" y="3913632"/>
              <a:ext cx="3764279" cy="2121535"/>
            </a:xfrm>
            <a:custGeom>
              <a:avLst/>
              <a:gdLst/>
              <a:ahLst/>
              <a:cxnLst/>
              <a:rect l="l" t="t" r="r" b="b"/>
              <a:pathLst>
                <a:path w="3764279" h="2121535">
                  <a:moveTo>
                    <a:pt x="0" y="2121407"/>
                  </a:moveTo>
                  <a:lnTo>
                    <a:pt x="3764279" y="2121407"/>
                  </a:lnTo>
                  <a:lnTo>
                    <a:pt x="3764279" y="0"/>
                  </a:lnTo>
                  <a:lnTo>
                    <a:pt x="0" y="0"/>
                  </a:lnTo>
                  <a:lnTo>
                    <a:pt x="0" y="2121407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71880" y="3862578"/>
            <a:ext cx="3231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Real-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Status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Delay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318761" y="3907282"/>
            <a:ext cx="2006600" cy="2134235"/>
            <a:chOff x="4318761" y="3907282"/>
            <a:chExt cx="2006600" cy="2134235"/>
          </a:xfrm>
        </p:grpSpPr>
        <p:sp>
          <p:nvSpPr>
            <p:cNvPr id="66" name="object 66"/>
            <p:cNvSpPr/>
            <p:nvPr/>
          </p:nvSpPr>
          <p:spPr>
            <a:xfrm>
              <a:off x="4325111" y="3913632"/>
              <a:ext cx="1993900" cy="2121535"/>
            </a:xfrm>
            <a:custGeom>
              <a:avLst/>
              <a:gdLst/>
              <a:ahLst/>
              <a:cxnLst/>
              <a:rect l="l" t="t" r="r" b="b"/>
              <a:pathLst>
                <a:path w="1993900" h="2121535">
                  <a:moveTo>
                    <a:pt x="1993391" y="0"/>
                  </a:moveTo>
                  <a:lnTo>
                    <a:pt x="0" y="0"/>
                  </a:lnTo>
                  <a:lnTo>
                    <a:pt x="0" y="2121407"/>
                  </a:lnTo>
                  <a:lnTo>
                    <a:pt x="1993391" y="2121407"/>
                  </a:lnTo>
                  <a:lnTo>
                    <a:pt x="1993391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325111" y="3913632"/>
              <a:ext cx="1993900" cy="2121535"/>
            </a:xfrm>
            <a:custGeom>
              <a:avLst/>
              <a:gdLst/>
              <a:ahLst/>
              <a:cxnLst/>
              <a:rect l="l" t="t" r="r" b="b"/>
              <a:pathLst>
                <a:path w="1993900" h="2121535">
                  <a:moveTo>
                    <a:pt x="0" y="2121407"/>
                  </a:moveTo>
                  <a:lnTo>
                    <a:pt x="1993391" y="2121407"/>
                  </a:lnTo>
                  <a:lnTo>
                    <a:pt x="1993391" y="0"/>
                  </a:lnTo>
                  <a:lnTo>
                    <a:pt x="0" y="0"/>
                  </a:lnTo>
                  <a:lnTo>
                    <a:pt x="0" y="2121407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403597" y="3941826"/>
            <a:ext cx="836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Medium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293865" y="3907282"/>
            <a:ext cx="2006600" cy="2134235"/>
            <a:chOff x="6293865" y="3907282"/>
            <a:chExt cx="2006600" cy="2134235"/>
          </a:xfrm>
        </p:grpSpPr>
        <p:sp>
          <p:nvSpPr>
            <p:cNvPr id="70" name="object 70"/>
            <p:cNvSpPr/>
            <p:nvPr/>
          </p:nvSpPr>
          <p:spPr>
            <a:xfrm>
              <a:off x="6300215" y="3913632"/>
              <a:ext cx="1993900" cy="2121535"/>
            </a:xfrm>
            <a:custGeom>
              <a:avLst/>
              <a:gdLst/>
              <a:ahLst/>
              <a:cxnLst/>
              <a:rect l="l" t="t" r="r" b="b"/>
              <a:pathLst>
                <a:path w="1993900" h="2121535">
                  <a:moveTo>
                    <a:pt x="1993391" y="0"/>
                  </a:moveTo>
                  <a:lnTo>
                    <a:pt x="0" y="0"/>
                  </a:lnTo>
                  <a:lnTo>
                    <a:pt x="0" y="2121407"/>
                  </a:lnTo>
                  <a:lnTo>
                    <a:pt x="1993391" y="2121407"/>
                  </a:lnTo>
                  <a:lnTo>
                    <a:pt x="1993391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300215" y="3913632"/>
              <a:ext cx="1993900" cy="2121535"/>
            </a:xfrm>
            <a:custGeom>
              <a:avLst/>
              <a:gdLst/>
              <a:ahLst/>
              <a:cxnLst/>
              <a:rect l="l" t="t" r="r" b="b"/>
              <a:pathLst>
                <a:path w="1993900" h="2121535">
                  <a:moveTo>
                    <a:pt x="0" y="2121407"/>
                  </a:moveTo>
                  <a:lnTo>
                    <a:pt x="1993391" y="2121407"/>
                  </a:lnTo>
                  <a:lnTo>
                    <a:pt x="1993391" y="0"/>
                  </a:lnTo>
                  <a:lnTo>
                    <a:pt x="0" y="0"/>
                  </a:lnTo>
                  <a:lnTo>
                    <a:pt x="0" y="2121407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6379209" y="3941826"/>
            <a:ext cx="836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Medium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8269223" y="3907535"/>
            <a:ext cx="3335020" cy="2133600"/>
            <a:chOff x="8269223" y="3907535"/>
            <a:chExt cx="3335020" cy="2133600"/>
          </a:xfrm>
        </p:grpSpPr>
        <p:sp>
          <p:nvSpPr>
            <p:cNvPr id="74" name="object 74"/>
            <p:cNvSpPr/>
            <p:nvPr/>
          </p:nvSpPr>
          <p:spPr>
            <a:xfrm>
              <a:off x="8275319" y="3913631"/>
              <a:ext cx="3322320" cy="2121535"/>
            </a:xfrm>
            <a:custGeom>
              <a:avLst/>
              <a:gdLst/>
              <a:ahLst/>
              <a:cxnLst/>
              <a:rect l="l" t="t" r="r" b="b"/>
              <a:pathLst>
                <a:path w="3322320" h="2121535">
                  <a:moveTo>
                    <a:pt x="3322320" y="0"/>
                  </a:moveTo>
                  <a:lnTo>
                    <a:pt x="0" y="0"/>
                  </a:lnTo>
                  <a:lnTo>
                    <a:pt x="0" y="2121407"/>
                  </a:lnTo>
                  <a:lnTo>
                    <a:pt x="3322320" y="2121407"/>
                  </a:lnTo>
                  <a:lnTo>
                    <a:pt x="332232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275319" y="3913631"/>
              <a:ext cx="3322320" cy="2121535"/>
            </a:xfrm>
            <a:custGeom>
              <a:avLst/>
              <a:gdLst/>
              <a:ahLst/>
              <a:cxnLst/>
              <a:rect l="l" t="t" r="r" b="b"/>
              <a:pathLst>
                <a:path w="3322320" h="2121535">
                  <a:moveTo>
                    <a:pt x="0" y="2121407"/>
                  </a:moveTo>
                  <a:lnTo>
                    <a:pt x="3322320" y="2121407"/>
                  </a:lnTo>
                  <a:lnTo>
                    <a:pt x="3322320" y="0"/>
                  </a:lnTo>
                  <a:lnTo>
                    <a:pt x="0" y="0"/>
                  </a:lnTo>
                  <a:lnTo>
                    <a:pt x="0" y="2121407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8354694" y="3941826"/>
            <a:ext cx="31546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Optimize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database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queries;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WebSocket/polling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for </a:t>
            </a:r>
            <a:r>
              <a:rPr sz="1800" dirty="0">
                <a:latin typeface="Arial MT"/>
                <a:cs typeface="Arial MT"/>
              </a:rPr>
              <a:t>critical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updates;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monitor latency.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71880" y="6262522"/>
            <a:ext cx="52762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Include:</a:t>
            </a:r>
            <a:r>
              <a:rPr sz="1200" i="1" spc="-5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data</a:t>
            </a:r>
            <a:r>
              <a:rPr sz="1200" i="1" spc="-3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6B7180"/>
                </a:solidFill>
                <a:latin typeface="Calibri"/>
                <a:cs typeface="Calibri"/>
              </a:rPr>
              <a:t>access,</a:t>
            </a:r>
            <a:r>
              <a:rPr sz="1200" i="1" spc="-2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safety, privacy,</a:t>
            </a:r>
            <a:r>
              <a:rPr sz="1200" i="1" spc="1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integration,</a:t>
            </a:r>
            <a:r>
              <a:rPr sz="1200" i="1" spc="-7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performance,</a:t>
            </a:r>
            <a:r>
              <a:rPr sz="1200" i="1" spc="-5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stakeholder</a:t>
            </a:r>
            <a:r>
              <a:rPr sz="120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6B7180"/>
                </a:solidFill>
                <a:latin typeface="Calibri"/>
                <a:cs typeface="Calibri"/>
              </a:rPr>
              <a:t>approvals.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0" y="6565391"/>
            <a:ext cx="12192000" cy="292735"/>
          </a:xfrm>
          <a:custGeom>
            <a:avLst/>
            <a:gdLst/>
            <a:ahLst/>
            <a:cxnLst/>
            <a:rect l="l" t="t" r="r" b="b"/>
            <a:pathLst>
              <a:path w="12192000" h="292734">
                <a:moveTo>
                  <a:pt x="0" y="292608"/>
                </a:moveTo>
                <a:lnTo>
                  <a:pt x="12192000" y="292608"/>
                </a:lnTo>
                <a:lnTo>
                  <a:pt x="12192000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138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5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Stage</a:t>
            </a:r>
            <a:r>
              <a:rPr spc="1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Submission</a:t>
            </a:r>
            <a:r>
              <a:rPr spc="-55" dirty="0"/>
              <a:t> </a:t>
            </a:r>
            <a:r>
              <a:rPr spc="-20" dirty="0"/>
              <a:t>Deck</a:t>
            </a:r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45"/>
              </a:spcBef>
            </a:pPr>
            <a:r>
              <a:rPr spc="-10" dirty="0"/>
              <a:t>19/23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41223"/>
            <a:ext cx="120338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667385" algn="r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4" name="object 4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71880" y="819353"/>
            <a:ext cx="6788784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111727"/>
                </a:solidFill>
              </a:rPr>
              <a:t>Go</a:t>
            </a:r>
            <a:r>
              <a:rPr sz="3200" spc="-6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/</a:t>
            </a:r>
            <a:r>
              <a:rPr sz="3200" spc="-7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Refine</a:t>
            </a:r>
            <a:r>
              <a:rPr sz="3200" spc="-6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/</a:t>
            </a:r>
            <a:r>
              <a:rPr sz="3200" spc="-6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Pivot</a:t>
            </a:r>
            <a:r>
              <a:rPr sz="3200" spc="-7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&amp;</a:t>
            </a:r>
            <a:r>
              <a:rPr sz="3200" spc="-7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Next</a:t>
            </a:r>
            <a:r>
              <a:rPr sz="3200" spc="-60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Steps</a:t>
            </a:r>
            <a:r>
              <a:rPr sz="3200" spc="-35" dirty="0">
                <a:solidFill>
                  <a:srgbClr val="111727"/>
                </a:solidFill>
              </a:rPr>
              <a:t> </a:t>
            </a:r>
            <a:r>
              <a:rPr sz="3200" dirty="0">
                <a:solidFill>
                  <a:srgbClr val="111727"/>
                </a:solidFill>
              </a:rPr>
              <a:t>→</a:t>
            </a:r>
            <a:r>
              <a:rPr sz="3200" spc="-65" dirty="0">
                <a:solidFill>
                  <a:srgbClr val="111727"/>
                </a:solidFill>
              </a:rPr>
              <a:t> </a:t>
            </a:r>
            <a:r>
              <a:rPr sz="3200" spc="-25" dirty="0">
                <a:solidFill>
                  <a:srgbClr val="111727"/>
                </a:solidFill>
              </a:rPr>
              <a:t>MVP</a:t>
            </a:r>
            <a:endParaRPr sz="3200"/>
          </a:p>
        </p:txBody>
      </p:sp>
      <p:grpSp>
        <p:nvGrpSpPr>
          <p:cNvPr id="8" name="object 8"/>
          <p:cNvGrpSpPr/>
          <p:nvPr/>
        </p:nvGrpSpPr>
        <p:grpSpPr>
          <a:xfrm>
            <a:off x="579496" y="1822450"/>
            <a:ext cx="6245860" cy="4253230"/>
            <a:chOff x="579496" y="1822450"/>
            <a:chExt cx="6245860" cy="425323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496" y="1823376"/>
              <a:ext cx="6245492" cy="4251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4359" y="1828800"/>
              <a:ext cx="6200140" cy="4215765"/>
            </a:xfrm>
            <a:custGeom>
              <a:avLst/>
              <a:gdLst/>
              <a:ahLst/>
              <a:cxnLst/>
              <a:rect l="l" t="t" r="r" b="b"/>
              <a:pathLst>
                <a:path w="6200140" h="4215765">
                  <a:moveTo>
                    <a:pt x="5497068" y="0"/>
                  </a:moveTo>
                  <a:lnTo>
                    <a:pt x="702564" y="0"/>
                  </a:lnTo>
                  <a:lnTo>
                    <a:pt x="654462" y="1620"/>
                  </a:lnTo>
                  <a:lnTo>
                    <a:pt x="607231" y="6414"/>
                  </a:lnTo>
                  <a:lnTo>
                    <a:pt x="560974" y="14274"/>
                  </a:lnTo>
                  <a:lnTo>
                    <a:pt x="515796" y="25098"/>
                  </a:lnTo>
                  <a:lnTo>
                    <a:pt x="471802" y="38780"/>
                  </a:lnTo>
                  <a:lnTo>
                    <a:pt x="429096" y="55215"/>
                  </a:lnTo>
                  <a:lnTo>
                    <a:pt x="387783" y="74299"/>
                  </a:lnTo>
                  <a:lnTo>
                    <a:pt x="347968" y="95927"/>
                  </a:lnTo>
                  <a:lnTo>
                    <a:pt x="309755" y="119994"/>
                  </a:lnTo>
                  <a:lnTo>
                    <a:pt x="273250" y="146397"/>
                  </a:lnTo>
                  <a:lnTo>
                    <a:pt x="238556" y="175029"/>
                  </a:lnTo>
                  <a:lnTo>
                    <a:pt x="205778" y="205787"/>
                  </a:lnTo>
                  <a:lnTo>
                    <a:pt x="175021" y="238566"/>
                  </a:lnTo>
                  <a:lnTo>
                    <a:pt x="146389" y="273261"/>
                  </a:lnTo>
                  <a:lnTo>
                    <a:pt x="119988" y="309767"/>
                  </a:lnTo>
                  <a:lnTo>
                    <a:pt x="95921" y="347980"/>
                  </a:lnTo>
                  <a:lnTo>
                    <a:pt x="74294" y="387794"/>
                  </a:lnTo>
                  <a:lnTo>
                    <a:pt x="55211" y="429107"/>
                  </a:lnTo>
                  <a:lnTo>
                    <a:pt x="38777" y="471812"/>
                  </a:lnTo>
                  <a:lnTo>
                    <a:pt x="25096" y="515805"/>
                  </a:lnTo>
                  <a:lnTo>
                    <a:pt x="14273" y="560981"/>
                  </a:lnTo>
                  <a:lnTo>
                    <a:pt x="6413" y="607236"/>
                  </a:lnTo>
                  <a:lnTo>
                    <a:pt x="1620" y="654465"/>
                  </a:lnTo>
                  <a:lnTo>
                    <a:pt x="0" y="702563"/>
                  </a:lnTo>
                  <a:lnTo>
                    <a:pt x="0" y="3512820"/>
                  </a:lnTo>
                  <a:lnTo>
                    <a:pt x="1620" y="3560921"/>
                  </a:lnTo>
                  <a:lnTo>
                    <a:pt x="6413" y="3608152"/>
                  </a:lnTo>
                  <a:lnTo>
                    <a:pt x="14273" y="3654409"/>
                  </a:lnTo>
                  <a:lnTo>
                    <a:pt x="25096" y="3699587"/>
                  </a:lnTo>
                  <a:lnTo>
                    <a:pt x="38777" y="3743581"/>
                  </a:lnTo>
                  <a:lnTo>
                    <a:pt x="55211" y="3786287"/>
                  </a:lnTo>
                  <a:lnTo>
                    <a:pt x="74294" y="3827600"/>
                  </a:lnTo>
                  <a:lnTo>
                    <a:pt x="95921" y="3867415"/>
                  </a:lnTo>
                  <a:lnTo>
                    <a:pt x="119988" y="3905628"/>
                  </a:lnTo>
                  <a:lnTo>
                    <a:pt x="146389" y="3942133"/>
                  </a:lnTo>
                  <a:lnTo>
                    <a:pt x="175021" y="3976827"/>
                  </a:lnTo>
                  <a:lnTo>
                    <a:pt x="205778" y="4009605"/>
                  </a:lnTo>
                  <a:lnTo>
                    <a:pt x="238556" y="4040362"/>
                  </a:lnTo>
                  <a:lnTo>
                    <a:pt x="273250" y="4068994"/>
                  </a:lnTo>
                  <a:lnTo>
                    <a:pt x="309755" y="4095395"/>
                  </a:lnTo>
                  <a:lnTo>
                    <a:pt x="347968" y="4119462"/>
                  </a:lnTo>
                  <a:lnTo>
                    <a:pt x="387783" y="4141089"/>
                  </a:lnTo>
                  <a:lnTo>
                    <a:pt x="429096" y="4160172"/>
                  </a:lnTo>
                  <a:lnTo>
                    <a:pt x="471802" y="4176606"/>
                  </a:lnTo>
                  <a:lnTo>
                    <a:pt x="515796" y="4190287"/>
                  </a:lnTo>
                  <a:lnTo>
                    <a:pt x="560974" y="4201110"/>
                  </a:lnTo>
                  <a:lnTo>
                    <a:pt x="607231" y="4208970"/>
                  </a:lnTo>
                  <a:lnTo>
                    <a:pt x="654462" y="4213763"/>
                  </a:lnTo>
                  <a:lnTo>
                    <a:pt x="702564" y="4215384"/>
                  </a:lnTo>
                  <a:lnTo>
                    <a:pt x="5497068" y="4215384"/>
                  </a:lnTo>
                  <a:lnTo>
                    <a:pt x="5545166" y="4213763"/>
                  </a:lnTo>
                  <a:lnTo>
                    <a:pt x="5592395" y="4208970"/>
                  </a:lnTo>
                  <a:lnTo>
                    <a:pt x="5638650" y="4201110"/>
                  </a:lnTo>
                  <a:lnTo>
                    <a:pt x="5683826" y="4190287"/>
                  </a:lnTo>
                  <a:lnTo>
                    <a:pt x="5727819" y="4176606"/>
                  </a:lnTo>
                  <a:lnTo>
                    <a:pt x="5770524" y="4160172"/>
                  </a:lnTo>
                  <a:lnTo>
                    <a:pt x="5811837" y="4141089"/>
                  </a:lnTo>
                  <a:lnTo>
                    <a:pt x="5851652" y="4119462"/>
                  </a:lnTo>
                  <a:lnTo>
                    <a:pt x="5889864" y="4095395"/>
                  </a:lnTo>
                  <a:lnTo>
                    <a:pt x="5926370" y="4068994"/>
                  </a:lnTo>
                  <a:lnTo>
                    <a:pt x="5961065" y="4040362"/>
                  </a:lnTo>
                  <a:lnTo>
                    <a:pt x="5993844" y="4009605"/>
                  </a:lnTo>
                  <a:lnTo>
                    <a:pt x="6024602" y="3976827"/>
                  </a:lnTo>
                  <a:lnTo>
                    <a:pt x="6053234" y="3942133"/>
                  </a:lnTo>
                  <a:lnTo>
                    <a:pt x="6079637" y="3905628"/>
                  </a:lnTo>
                  <a:lnTo>
                    <a:pt x="6103704" y="3867415"/>
                  </a:lnTo>
                  <a:lnTo>
                    <a:pt x="6125332" y="3827600"/>
                  </a:lnTo>
                  <a:lnTo>
                    <a:pt x="6144416" y="3786287"/>
                  </a:lnTo>
                  <a:lnTo>
                    <a:pt x="6160851" y="3743581"/>
                  </a:lnTo>
                  <a:lnTo>
                    <a:pt x="6174533" y="3699587"/>
                  </a:lnTo>
                  <a:lnTo>
                    <a:pt x="6185357" y="3654409"/>
                  </a:lnTo>
                  <a:lnTo>
                    <a:pt x="6193217" y="3608152"/>
                  </a:lnTo>
                  <a:lnTo>
                    <a:pt x="6198011" y="3560921"/>
                  </a:lnTo>
                  <a:lnTo>
                    <a:pt x="6199632" y="3512820"/>
                  </a:lnTo>
                  <a:lnTo>
                    <a:pt x="6199632" y="702563"/>
                  </a:lnTo>
                  <a:lnTo>
                    <a:pt x="6198011" y="654465"/>
                  </a:lnTo>
                  <a:lnTo>
                    <a:pt x="6193217" y="607236"/>
                  </a:lnTo>
                  <a:lnTo>
                    <a:pt x="6185357" y="560981"/>
                  </a:lnTo>
                  <a:lnTo>
                    <a:pt x="6174533" y="515805"/>
                  </a:lnTo>
                  <a:lnTo>
                    <a:pt x="6160851" y="471812"/>
                  </a:lnTo>
                  <a:lnTo>
                    <a:pt x="6144416" y="429107"/>
                  </a:lnTo>
                  <a:lnTo>
                    <a:pt x="6125332" y="387794"/>
                  </a:lnTo>
                  <a:lnTo>
                    <a:pt x="6103704" y="347980"/>
                  </a:lnTo>
                  <a:lnTo>
                    <a:pt x="6079637" y="309767"/>
                  </a:lnTo>
                  <a:lnTo>
                    <a:pt x="6053234" y="273261"/>
                  </a:lnTo>
                  <a:lnTo>
                    <a:pt x="6024602" y="238566"/>
                  </a:lnTo>
                  <a:lnTo>
                    <a:pt x="5993844" y="205787"/>
                  </a:lnTo>
                  <a:lnTo>
                    <a:pt x="5961065" y="175029"/>
                  </a:lnTo>
                  <a:lnTo>
                    <a:pt x="5926370" y="146397"/>
                  </a:lnTo>
                  <a:lnTo>
                    <a:pt x="5889864" y="119994"/>
                  </a:lnTo>
                  <a:lnTo>
                    <a:pt x="5851651" y="95927"/>
                  </a:lnTo>
                  <a:lnTo>
                    <a:pt x="5811837" y="74299"/>
                  </a:lnTo>
                  <a:lnTo>
                    <a:pt x="5770524" y="55215"/>
                  </a:lnTo>
                  <a:lnTo>
                    <a:pt x="5727819" y="38780"/>
                  </a:lnTo>
                  <a:lnTo>
                    <a:pt x="5683826" y="25098"/>
                  </a:lnTo>
                  <a:lnTo>
                    <a:pt x="5638650" y="14274"/>
                  </a:lnTo>
                  <a:lnTo>
                    <a:pt x="5592395" y="6414"/>
                  </a:lnTo>
                  <a:lnTo>
                    <a:pt x="5545166" y="1620"/>
                  </a:lnTo>
                  <a:lnTo>
                    <a:pt x="5497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4359" y="1828800"/>
              <a:ext cx="6200140" cy="4215765"/>
            </a:xfrm>
            <a:custGeom>
              <a:avLst/>
              <a:gdLst/>
              <a:ahLst/>
              <a:cxnLst/>
              <a:rect l="l" t="t" r="r" b="b"/>
              <a:pathLst>
                <a:path w="6200140" h="4215765">
                  <a:moveTo>
                    <a:pt x="0" y="702563"/>
                  </a:moveTo>
                  <a:lnTo>
                    <a:pt x="1620" y="654465"/>
                  </a:lnTo>
                  <a:lnTo>
                    <a:pt x="6413" y="607236"/>
                  </a:lnTo>
                  <a:lnTo>
                    <a:pt x="14273" y="560981"/>
                  </a:lnTo>
                  <a:lnTo>
                    <a:pt x="25096" y="515805"/>
                  </a:lnTo>
                  <a:lnTo>
                    <a:pt x="38777" y="471812"/>
                  </a:lnTo>
                  <a:lnTo>
                    <a:pt x="55211" y="429107"/>
                  </a:lnTo>
                  <a:lnTo>
                    <a:pt x="74294" y="387794"/>
                  </a:lnTo>
                  <a:lnTo>
                    <a:pt x="95921" y="347980"/>
                  </a:lnTo>
                  <a:lnTo>
                    <a:pt x="119988" y="309767"/>
                  </a:lnTo>
                  <a:lnTo>
                    <a:pt x="146389" y="273261"/>
                  </a:lnTo>
                  <a:lnTo>
                    <a:pt x="175021" y="238566"/>
                  </a:lnTo>
                  <a:lnTo>
                    <a:pt x="205778" y="205787"/>
                  </a:lnTo>
                  <a:lnTo>
                    <a:pt x="238556" y="175029"/>
                  </a:lnTo>
                  <a:lnTo>
                    <a:pt x="273250" y="146397"/>
                  </a:lnTo>
                  <a:lnTo>
                    <a:pt x="309755" y="119994"/>
                  </a:lnTo>
                  <a:lnTo>
                    <a:pt x="347968" y="95927"/>
                  </a:lnTo>
                  <a:lnTo>
                    <a:pt x="387783" y="74299"/>
                  </a:lnTo>
                  <a:lnTo>
                    <a:pt x="429096" y="55215"/>
                  </a:lnTo>
                  <a:lnTo>
                    <a:pt x="471802" y="38780"/>
                  </a:lnTo>
                  <a:lnTo>
                    <a:pt x="515796" y="25098"/>
                  </a:lnTo>
                  <a:lnTo>
                    <a:pt x="560974" y="14274"/>
                  </a:lnTo>
                  <a:lnTo>
                    <a:pt x="607231" y="6414"/>
                  </a:lnTo>
                  <a:lnTo>
                    <a:pt x="654462" y="1620"/>
                  </a:lnTo>
                  <a:lnTo>
                    <a:pt x="702564" y="0"/>
                  </a:lnTo>
                  <a:lnTo>
                    <a:pt x="5497068" y="0"/>
                  </a:lnTo>
                  <a:lnTo>
                    <a:pt x="5545166" y="1620"/>
                  </a:lnTo>
                  <a:lnTo>
                    <a:pt x="5592395" y="6414"/>
                  </a:lnTo>
                  <a:lnTo>
                    <a:pt x="5638650" y="14274"/>
                  </a:lnTo>
                  <a:lnTo>
                    <a:pt x="5683826" y="25098"/>
                  </a:lnTo>
                  <a:lnTo>
                    <a:pt x="5727819" y="38780"/>
                  </a:lnTo>
                  <a:lnTo>
                    <a:pt x="5770524" y="55215"/>
                  </a:lnTo>
                  <a:lnTo>
                    <a:pt x="5811837" y="74299"/>
                  </a:lnTo>
                  <a:lnTo>
                    <a:pt x="5851651" y="95927"/>
                  </a:lnTo>
                  <a:lnTo>
                    <a:pt x="5889864" y="119994"/>
                  </a:lnTo>
                  <a:lnTo>
                    <a:pt x="5926370" y="146397"/>
                  </a:lnTo>
                  <a:lnTo>
                    <a:pt x="5961065" y="175029"/>
                  </a:lnTo>
                  <a:lnTo>
                    <a:pt x="5993844" y="205787"/>
                  </a:lnTo>
                  <a:lnTo>
                    <a:pt x="6024602" y="238566"/>
                  </a:lnTo>
                  <a:lnTo>
                    <a:pt x="6053234" y="273261"/>
                  </a:lnTo>
                  <a:lnTo>
                    <a:pt x="6079637" y="309767"/>
                  </a:lnTo>
                  <a:lnTo>
                    <a:pt x="6103704" y="347980"/>
                  </a:lnTo>
                  <a:lnTo>
                    <a:pt x="6125332" y="387794"/>
                  </a:lnTo>
                  <a:lnTo>
                    <a:pt x="6144416" y="429107"/>
                  </a:lnTo>
                  <a:lnTo>
                    <a:pt x="6160851" y="471812"/>
                  </a:lnTo>
                  <a:lnTo>
                    <a:pt x="6174533" y="515805"/>
                  </a:lnTo>
                  <a:lnTo>
                    <a:pt x="6185357" y="560981"/>
                  </a:lnTo>
                  <a:lnTo>
                    <a:pt x="6193217" y="607236"/>
                  </a:lnTo>
                  <a:lnTo>
                    <a:pt x="6198011" y="654465"/>
                  </a:lnTo>
                  <a:lnTo>
                    <a:pt x="6199632" y="702563"/>
                  </a:lnTo>
                  <a:lnTo>
                    <a:pt x="6199632" y="3512820"/>
                  </a:lnTo>
                  <a:lnTo>
                    <a:pt x="6198011" y="3560921"/>
                  </a:lnTo>
                  <a:lnTo>
                    <a:pt x="6193217" y="3608152"/>
                  </a:lnTo>
                  <a:lnTo>
                    <a:pt x="6185357" y="3654409"/>
                  </a:lnTo>
                  <a:lnTo>
                    <a:pt x="6174533" y="3699587"/>
                  </a:lnTo>
                  <a:lnTo>
                    <a:pt x="6160851" y="3743581"/>
                  </a:lnTo>
                  <a:lnTo>
                    <a:pt x="6144416" y="3786287"/>
                  </a:lnTo>
                  <a:lnTo>
                    <a:pt x="6125332" y="3827600"/>
                  </a:lnTo>
                  <a:lnTo>
                    <a:pt x="6103704" y="3867415"/>
                  </a:lnTo>
                  <a:lnTo>
                    <a:pt x="6079637" y="3905628"/>
                  </a:lnTo>
                  <a:lnTo>
                    <a:pt x="6053234" y="3942133"/>
                  </a:lnTo>
                  <a:lnTo>
                    <a:pt x="6024602" y="3976827"/>
                  </a:lnTo>
                  <a:lnTo>
                    <a:pt x="5993844" y="4009605"/>
                  </a:lnTo>
                  <a:lnTo>
                    <a:pt x="5961065" y="4040362"/>
                  </a:lnTo>
                  <a:lnTo>
                    <a:pt x="5926370" y="4068994"/>
                  </a:lnTo>
                  <a:lnTo>
                    <a:pt x="5889864" y="4095395"/>
                  </a:lnTo>
                  <a:lnTo>
                    <a:pt x="5851652" y="4119462"/>
                  </a:lnTo>
                  <a:lnTo>
                    <a:pt x="5811837" y="4141089"/>
                  </a:lnTo>
                  <a:lnTo>
                    <a:pt x="5770524" y="4160172"/>
                  </a:lnTo>
                  <a:lnTo>
                    <a:pt x="5727819" y="4176606"/>
                  </a:lnTo>
                  <a:lnTo>
                    <a:pt x="5683826" y="4190287"/>
                  </a:lnTo>
                  <a:lnTo>
                    <a:pt x="5638650" y="4201110"/>
                  </a:lnTo>
                  <a:lnTo>
                    <a:pt x="5592395" y="4208970"/>
                  </a:lnTo>
                  <a:lnTo>
                    <a:pt x="5545166" y="4213763"/>
                  </a:lnTo>
                  <a:lnTo>
                    <a:pt x="5497068" y="4215384"/>
                  </a:lnTo>
                  <a:lnTo>
                    <a:pt x="702564" y="4215384"/>
                  </a:lnTo>
                  <a:lnTo>
                    <a:pt x="654462" y="4213763"/>
                  </a:lnTo>
                  <a:lnTo>
                    <a:pt x="607231" y="4208970"/>
                  </a:lnTo>
                  <a:lnTo>
                    <a:pt x="560974" y="4201110"/>
                  </a:lnTo>
                  <a:lnTo>
                    <a:pt x="515796" y="4190287"/>
                  </a:lnTo>
                  <a:lnTo>
                    <a:pt x="471802" y="4176606"/>
                  </a:lnTo>
                  <a:lnTo>
                    <a:pt x="429096" y="4160172"/>
                  </a:lnTo>
                  <a:lnTo>
                    <a:pt x="387783" y="4141089"/>
                  </a:lnTo>
                  <a:lnTo>
                    <a:pt x="347968" y="4119462"/>
                  </a:lnTo>
                  <a:lnTo>
                    <a:pt x="309755" y="4095395"/>
                  </a:lnTo>
                  <a:lnTo>
                    <a:pt x="273250" y="4068994"/>
                  </a:lnTo>
                  <a:lnTo>
                    <a:pt x="238556" y="4040362"/>
                  </a:lnTo>
                  <a:lnTo>
                    <a:pt x="205778" y="4009605"/>
                  </a:lnTo>
                  <a:lnTo>
                    <a:pt x="175021" y="3976827"/>
                  </a:lnTo>
                  <a:lnTo>
                    <a:pt x="146389" y="3942133"/>
                  </a:lnTo>
                  <a:lnTo>
                    <a:pt x="119988" y="3905628"/>
                  </a:lnTo>
                  <a:lnTo>
                    <a:pt x="95921" y="3867415"/>
                  </a:lnTo>
                  <a:lnTo>
                    <a:pt x="74294" y="3827600"/>
                  </a:lnTo>
                  <a:lnTo>
                    <a:pt x="55211" y="3786287"/>
                  </a:lnTo>
                  <a:lnTo>
                    <a:pt x="38777" y="3743581"/>
                  </a:lnTo>
                  <a:lnTo>
                    <a:pt x="25096" y="3699587"/>
                  </a:lnTo>
                  <a:lnTo>
                    <a:pt x="14273" y="3654409"/>
                  </a:lnTo>
                  <a:lnTo>
                    <a:pt x="6413" y="3608152"/>
                  </a:lnTo>
                  <a:lnTo>
                    <a:pt x="1620" y="3560921"/>
                  </a:lnTo>
                  <a:lnTo>
                    <a:pt x="0" y="3512820"/>
                  </a:lnTo>
                  <a:lnTo>
                    <a:pt x="0" y="702563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1880" y="1454023"/>
            <a:ext cx="3987800" cy="2473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Decision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must</a:t>
            </a:r>
            <a:r>
              <a:rPr sz="1600" spc="-5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be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tied</a:t>
            </a:r>
            <a:r>
              <a:rPr sz="1600" spc="-2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to</a:t>
            </a:r>
            <a:r>
              <a:rPr sz="1600" spc="-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evidence</a:t>
            </a:r>
            <a:r>
              <a:rPr sz="16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(not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opinion).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60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Decision</a:t>
            </a:r>
            <a:r>
              <a:rPr sz="1600" b="1" spc="-5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11727"/>
                </a:solidFill>
                <a:latin typeface="Calibri"/>
                <a:cs typeface="Calibri"/>
              </a:rPr>
              <a:t>(fill)</a:t>
            </a:r>
            <a:endParaRPr sz="160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  <a:spcBef>
                <a:spcPts val="885"/>
              </a:spcBef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Decision: [GO</a:t>
            </a:r>
            <a:r>
              <a:rPr sz="13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4A5462"/>
                </a:solidFill>
                <a:latin typeface="Calibri"/>
                <a:cs typeface="Calibri"/>
              </a:rPr>
              <a:t>]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30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Rationale</a:t>
            </a:r>
            <a:r>
              <a:rPr sz="1300" spc="1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(tie</a:t>
            </a:r>
            <a:r>
              <a:rPr sz="13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to</a:t>
            </a:r>
            <a:r>
              <a:rPr sz="13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metrics):</a:t>
            </a:r>
            <a:endParaRPr sz="1300">
              <a:latin typeface="Calibri"/>
              <a:cs typeface="Calibri"/>
            </a:endParaRPr>
          </a:p>
          <a:p>
            <a:pPr marL="328930" indent="-69850">
              <a:lnSpc>
                <a:spcPct val="100000"/>
              </a:lnSpc>
              <a:spcBef>
                <a:spcPts val="120"/>
              </a:spcBef>
              <a:buSzPct val="92857"/>
              <a:buChar char="•"/>
              <a:tabLst>
                <a:tab pos="328930" algn="l"/>
              </a:tabLst>
            </a:pPr>
            <a:r>
              <a:rPr sz="1400" dirty="0">
                <a:latin typeface="Arial MT"/>
                <a:cs typeface="Arial MT"/>
              </a:rPr>
              <a:t>Secure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authentication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validated</a:t>
            </a:r>
            <a:endParaRPr sz="1400">
              <a:latin typeface="Arial MT"/>
              <a:cs typeface="Arial MT"/>
            </a:endParaRPr>
          </a:p>
          <a:p>
            <a:pPr marL="328930" indent="-69850">
              <a:lnSpc>
                <a:spcPct val="100000"/>
              </a:lnSpc>
              <a:buSzPct val="92857"/>
              <a:buChar char="•"/>
              <a:tabLst>
                <a:tab pos="328930" algn="l"/>
              </a:tabLst>
            </a:pPr>
            <a:r>
              <a:rPr sz="1400" spc="-20" dirty="0">
                <a:latin typeface="Arial MT"/>
                <a:cs typeface="Arial MT"/>
              </a:rPr>
              <a:t>Real-</a:t>
            </a:r>
            <a:r>
              <a:rPr sz="1400" dirty="0">
                <a:latin typeface="Arial MT"/>
                <a:cs typeface="Arial MT"/>
              </a:rPr>
              <a:t>time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availability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works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expected</a:t>
            </a:r>
            <a:endParaRPr sz="1400">
              <a:latin typeface="Arial MT"/>
              <a:cs typeface="Arial MT"/>
            </a:endParaRPr>
          </a:p>
          <a:p>
            <a:pPr marL="328930" indent="-69850">
              <a:lnSpc>
                <a:spcPct val="100000"/>
              </a:lnSpc>
              <a:buSzPct val="92857"/>
              <a:buChar char="•"/>
              <a:tabLst>
                <a:tab pos="328930" algn="l"/>
              </a:tabLst>
            </a:pPr>
            <a:r>
              <a:rPr sz="1400" dirty="0">
                <a:latin typeface="Arial MT"/>
                <a:cs typeface="Arial MT"/>
              </a:rPr>
              <a:t>Performance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targets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met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under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load</a:t>
            </a:r>
            <a:endParaRPr sz="1400">
              <a:latin typeface="Arial MT"/>
              <a:cs typeface="Arial MT"/>
            </a:endParaRPr>
          </a:p>
          <a:p>
            <a:pPr marL="268605">
              <a:lnSpc>
                <a:spcPct val="100000"/>
              </a:lnSpc>
              <a:spcBef>
                <a:spcPts val="30"/>
              </a:spcBef>
            </a:pPr>
            <a:r>
              <a:rPr sz="1300" spc="-50" dirty="0">
                <a:solidFill>
                  <a:srgbClr val="4A5462"/>
                </a:solidFill>
                <a:latin typeface="Calibri"/>
                <a:cs typeface="Calibri"/>
              </a:rPr>
              <a:t>]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65549" y="1688820"/>
            <a:ext cx="5424170" cy="4601210"/>
            <a:chOff x="6513576" y="1850072"/>
            <a:chExt cx="5424170" cy="460121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3576" y="1850072"/>
              <a:ext cx="5423789" cy="460082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537960" y="1874520"/>
              <a:ext cx="5349240" cy="4526280"/>
            </a:xfrm>
            <a:custGeom>
              <a:avLst/>
              <a:gdLst/>
              <a:ahLst/>
              <a:cxnLst/>
              <a:rect l="l" t="t" r="r" b="b"/>
              <a:pathLst>
                <a:path w="5349240" h="4526280">
                  <a:moveTo>
                    <a:pt x="4594860" y="0"/>
                  </a:moveTo>
                  <a:lnTo>
                    <a:pt x="754380" y="0"/>
                  </a:lnTo>
                  <a:lnTo>
                    <a:pt x="706666" y="1483"/>
                  </a:lnTo>
                  <a:lnTo>
                    <a:pt x="659741" y="5876"/>
                  </a:lnTo>
                  <a:lnTo>
                    <a:pt x="613694" y="13090"/>
                  </a:lnTo>
                  <a:lnTo>
                    <a:pt x="568613" y="23036"/>
                  </a:lnTo>
                  <a:lnTo>
                    <a:pt x="524587" y="35626"/>
                  </a:lnTo>
                  <a:lnTo>
                    <a:pt x="481704" y="50771"/>
                  </a:lnTo>
                  <a:lnTo>
                    <a:pt x="440051" y="68384"/>
                  </a:lnTo>
                  <a:lnTo>
                    <a:pt x="399718" y="88376"/>
                  </a:lnTo>
                  <a:lnTo>
                    <a:pt x="360792" y="110659"/>
                  </a:lnTo>
                  <a:lnTo>
                    <a:pt x="323362" y="135144"/>
                  </a:lnTo>
                  <a:lnTo>
                    <a:pt x="287517" y="161744"/>
                  </a:lnTo>
                  <a:lnTo>
                    <a:pt x="253344" y="190369"/>
                  </a:lnTo>
                  <a:lnTo>
                    <a:pt x="220932" y="220932"/>
                  </a:lnTo>
                  <a:lnTo>
                    <a:pt x="190369" y="253344"/>
                  </a:lnTo>
                  <a:lnTo>
                    <a:pt x="161744" y="287517"/>
                  </a:lnTo>
                  <a:lnTo>
                    <a:pt x="135144" y="323362"/>
                  </a:lnTo>
                  <a:lnTo>
                    <a:pt x="110659" y="360792"/>
                  </a:lnTo>
                  <a:lnTo>
                    <a:pt x="88376" y="399718"/>
                  </a:lnTo>
                  <a:lnTo>
                    <a:pt x="68384" y="440051"/>
                  </a:lnTo>
                  <a:lnTo>
                    <a:pt x="50771" y="481704"/>
                  </a:lnTo>
                  <a:lnTo>
                    <a:pt x="35626" y="524587"/>
                  </a:lnTo>
                  <a:lnTo>
                    <a:pt x="23036" y="568613"/>
                  </a:lnTo>
                  <a:lnTo>
                    <a:pt x="13090" y="613694"/>
                  </a:lnTo>
                  <a:lnTo>
                    <a:pt x="5876" y="659741"/>
                  </a:lnTo>
                  <a:lnTo>
                    <a:pt x="1483" y="706666"/>
                  </a:lnTo>
                  <a:lnTo>
                    <a:pt x="0" y="754379"/>
                  </a:lnTo>
                  <a:lnTo>
                    <a:pt x="0" y="3771887"/>
                  </a:lnTo>
                  <a:lnTo>
                    <a:pt x="1483" y="3819595"/>
                  </a:lnTo>
                  <a:lnTo>
                    <a:pt x="5876" y="3866516"/>
                  </a:lnTo>
                  <a:lnTo>
                    <a:pt x="13090" y="3912559"/>
                  </a:lnTo>
                  <a:lnTo>
                    <a:pt x="23036" y="3957637"/>
                  </a:lnTo>
                  <a:lnTo>
                    <a:pt x="35626" y="4001661"/>
                  </a:lnTo>
                  <a:lnTo>
                    <a:pt x="50771" y="4044544"/>
                  </a:lnTo>
                  <a:lnTo>
                    <a:pt x="68384" y="4086196"/>
                  </a:lnTo>
                  <a:lnTo>
                    <a:pt x="88376" y="4126529"/>
                  </a:lnTo>
                  <a:lnTo>
                    <a:pt x="110659" y="4165455"/>
                  </a:lnTo>
                  <a:lnTo>
                    <a:pt x="135144" y="4202886"/>
                  </a:lnTo>
                  <a:lnTo>
                    <a:pt x="161744" y="4238733"/>
                  </a:lnTo>
                  <a:lnTo>
                    <a:pt x="190369" y="4272908"/>
                  </a:lnTo>
                  <a:lnTo>
                    <a:pt x="220932" y="4305322"/>
                  </a:lnTo>
                  <a:lnTo>
                    <a:pt x="253344" y="4335887"/>
                  </a:lnTo>
                  <a:lnTo>
                    <a:pt x="287517" y="4364515"/>
                  </a:lnTo>
                  <a:lnTo>
                    <a:pt x="323362" y="4391117"/>
                  </a:lnTo>
                  <a:lnTo>
                    <a:pt x="360792" y="4415604"/>
                  </a:lnTo>
                  <a:lnTo>
                    <a:pt x="399718" y="4437890"/>
                  </a:lnTo>
                  <a:lnTo>
                    <a:pt x="440051" y="4457884"/>
                  </a:lnTo>
                  <a:lnTo>
                    <a:pt x="481704" y="4475500"/>
                  </a:lnTo>
                  <a:lnTo>
                    <a:pt x="524587" y="4490648"/>
                  </a:lnTo>
                  <a:lnTo>
                    <a:pt x="568613" y="4503239"/>
                  </a:lnTo>
                  <a:lnTo>
                    <a:pt x="613694" y="4513187"/>
                  </a:lnTo>
                  <a:lnTo>
                    <a:pt x="659741" y="4520402"/>
                  </a:lnTo>
                  <a:lnTo>
                    <a:pt x="706666" y="4524795"/>
                  </a:lnTo>
                  <a:lnTo>
                    <a:pt x="754380" y="4526280"/>
                  </a:lnTo>
                  <a:lnTo>
                    <a:pt x="4594860" y="4526280"/>
                  </a:lnTo>
                  <a:lnTo>
                    <a:pt x="4642573" y="4524795"/>
                  </a:lnTo>
                  <a:lnTo>
                    <a:pt x="4689498" y="4520402"/>
                  </a:lnTo>
                  <a:lnTo>
                    <a:pt x="4735545" y="4513187"/>
                  </a:lnTo>
                  <a:lnTo>
                    <a:pt x="4780626" y="4503239"/>
                  </a:lnTo>
                  <a:lnTo>
                    <a:pt x="4824652" y="4490648"/>
                  </a:lnTo>
                  <a:lnTo>
                    <a:pt x="4867535" y="4475500"/>
                  </a:lnTo>
                  <a:lnTo>
                    <a:pt x="4909188" y="4457884"/>
                  </a:lnTo>
                  <a:lnTo>
                    <a:pt x="4949521" y="4437890"/>
                  </a:lnTo>
                  <a:lnTo>
                    <a:pt x="4988447" y="4415604"/>
                  </a:lnTo>
                  <a:lnTo>
                    <a:pt x="5025877" y="4391117"/>
                  </a:lnTo>
                  <a:lnTo>
                    <a:pt x="5061722" y="4364515"/>
                  </a:lnTo>
                  <a:lnTo>
                    <a:pt x="5095895" y="4335887"/>
                  </a:lnTo>
                  <a:lnTo>
                    <a:pt x="5128307" y="4305322"/>
                  </a:lnTo>
                  <a:lnTo>
                    <a:pt x="5158870" y="4272908"/>
                  </a:lnTo>
                  <a:lnTo>
                    <a:pt x="5187495" y="4238733"/>
                  </a:lnTo>
                  <a:lnTo>
                    <a:pt x="5214095" y="4202886"/>
                  </a:lnTo>
                  <a:lnTo>
                    <a:pt x="5238580" y="4165455"/>
                  </a:lnTo>
                  <a:lnTo>
                    <a:pt x="5260863" y="4126529"/>
                  </a:lnTo>
                  <a:lnTo>
                    <a:pt x="5280855" y="4086196"/>
                  </a:lnTo>
                  <a:lnTo>
                    <a:pt x="5298468" y="4044544"/>
                  </a:lnTo>
                  <a:lnTo>
                    <a:pt x="5313613" y="4001661"/>
                  </a:lnTo>
                  <a:lnTo>
                    <a:pt x="5326203" y="3957637"/>
                  </a:lnTo>
                  <a:lnTo>
                    <a:pt x="5336149" y="3912559"/>
                  </a:lnTo>
                  <a:lnTo>
                    <a:pt x="5343363" y="3866516"/>
                  </a:lnTo>
                  <a:lnTo>
                    <a:pt x="5347756" y="3819595"/>
                  </a:lnTo>
                  <a:lnTo>
                    <a:pt x="5349240" y="3771887"/>
                  </a:lnTo>
                  <a:lnTo>
                    <a:pt x="5349240" y="754379"/>
                  </a:lnTo>
                  <a:lnTo>
                    <a:pt x="5347756" y="706666"/>
                  </a:lnTo>
                  <a:lnTo>
                    <a:pt x="5343363" y="659741"/>
                  </a:lnTo>
                  <a:lnTo>
                    <a:pt x="5336149" y="613694"/>
                  </a:lnTo>
                  <a:lnTo>
                    <a:pt x="5326203" y="568613"/>
                  </a:lnTo>
                  <a:lnTo>
                    <a:pt x="5313613" y="524587"/>
                  </a:lnTo>
                  <a:lnTo>
                    <a:pt x="5298468" y="481704"/>
                  </a:lnTo>
                  <a:lnTo>
                    <a:pt x="5280855" y="440051"/>
                  </a:lnTo>
                  <a:lnTo>
                    <a:pt x="5260863" y="399718"/>
                  </a:lnTo>
                  <a:lnTo>
                    <a:pt x="5238580" y="360792"/>
                  </a:lnTo>
                  <a:lnTo>
                    <a:pt x="5214095" y="323362"/>
                  </a:lnTo>
                  <a:lnTo>
                    <a:pt x="5187495" y="287517"/>
                  </a:lnTo>
                  <a:lnTo>
                    <a:pt x="5158870" y="253344"/>
                  </a:lnTo>
                  <a:lnTo>
                    <a:pt x="5128307" y="220932"/>
                  </a:lnTo>
                  <a:lnTo>
                    <a:pt x="5095895" y="190369"/>
                  </a:lnTo>
                  <a:lnTo>
                    <a:pt x="5061722" y="161744"/>
                  </a:lnTo>
                  <a:lnTo>
                    <a:pt x="5025877" y="135144"/>
                  </a:lnTo>
                  <a:lnTo>
                    <a:pt x="4988447" y="110659"/>
                  </a:lnTo>
                  <a:lnTo>
                    <a:pt x="4949521" y="88376"/>
                  </a:lnTo>
                  <a:lnTo>
                    <a:pt x="4909188" y="68384"/>
                  </a:lnTo>
                  <a:lnTo>
                    <a:pt x="4867535" y="50771"/>
                  </a:lnTo>
                  <a:lnTo>
                    <a:pt x="4824652" y="35626"/>
                  </a:lnTo>
                  <a:lnTo>
                    <a:pt x="4780626" y="23036"/>
                  </a:lnTo>
                  <a:lnTo>
                    <a:pt x="4735545" y="13090"/>
                  </a:lnTo>
                  <a:lnTo>
                    <a:pt x="4689498" y="5876"/>
                  </a:lnTo>
                  <a:lnTo>
                    <a:pt x="4642573" y="1483"/>
                  </a:lnTo>
                  <a:lnTo>
                    <a:pt x="4594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37960" y="1874520"/>
              <a:ext cx="5349240" cy="4526280"/>
            </a:xfrm>
            <a:custGeom>
              <a:avLst/>
              <a:gdLst/>
              <a:ahLst/>
              <a:cxnLst/>
              <a:rect l="l" t="t" r="r" b="b"/>
              <a:pathLst>
                <a:path w="5349240" h="4526280">
                  <a:moveTo>
                    <a:pt x="0" y="754379"/>
                  </a:moveTo>
                  <a:lnTo>
                    <a:pt x="1483" y="706666"/>
                  </a:lnTo>
                  <a:lnTo>
                    <a:pt x="5876" y="659741"/>
                  </a:lnTo>
                  <a:lnTo>
                    <a:pt x="13090" y="613694"/>
                  </a:lnTo>
                  <a:lnTo>
                    <a:pt x="23036" y="568613"/>
                  </a:lnTo>
                  <a:lnTo>
                    <a:pt x="35626" y="524587"/>
                  </a:lnTo>
                  <a:lnTo>
                    <a:pt x="50771" y="481704"/>
                  </a:lnTo>
                  <a:lnTo>
                    <a:pt x="68384" y="440051"/>
                  </a:lnTo>
                  <a:lnTo>
                    <a:pt x="88376" y="399718"/>
                  </a:lnTo>
                  <a:lnTo>
                    <a:pt x="110659" y="360792"/>
                  </a:lnTo>
                  <a:lnTo>
                    <a:pt x="135144" y="323362"/>
                  </a:lnTo>
                  <a:lnTo>
                    <a:pt x="161744" y="287517"/>
                  </a:lnTo>
                  <a:lnTo>
                    <a:pt x="190369" y="253344"/>
                  </a:lnTo>
                  <a:lnTo>
                    <a:pt x="220932" y="220932"/>
                  </a:lnTo>
                  <a:lnTo>
                    <a:pt x="253344" y="190369"/>
                  </a:lnTo>
                  <a:lnTo>
                    <a:pt x="287517" y="161744"/>
                  </a:lnTo>
                  <a:lnTo>
                    <a:pt x="323362" y="135144"/>
                  </a:lnTo>
                  <a:lnTo>
                    <a:pt x="360792" y="110659"/>
                  </a:lnTo>
                  <a:lnTo>
                    <a:pt x="399718" y="88376"/>
                  </a:lnTo>
                  <a:lnTo>
                    <a:pt x="440051" y="68384"/>
                  </a:lnTo>
                  <a:lnTo>
                    <a:pt x="481704" y="50771"/>
                  </a:lnTo>
                  <a:lnTo>
                    <a:pt x="524587" y="35626"/>
                  </a:lnTo>
                  <a:lnTo>
                    <a:pt x="568613" y="23036"/>
                  </a:lnTo>
                  <a:lnTo>
                    <a:pt x="613694" y="13090"/>
                  </a:lnTo>
                  <a:lnTo>
                    <a:pt x="659741" y="5876"/>
                  </a:lnTo>
                  <a:lnTo>
                    <a:pt x="706666" y="1483"/>
                  </a:lnTo>
                  <a:lnTo>
                    <a:pt x="754380" y="0"/>
                  </a:lnTo>
                  <a:lnTo>
                    <a:pt x="4594860" y="0"/>
                  </a:lnTo>
                  <a:lnTo>
                    <a:pt x="4642573" y="1483"/>
                  </a:lnTo>
                  <a:lnTo>
                    <a:pt x="4689498" y="5876"/>
                  </a:lnTo>
                  <a:lnTo>
                    <a:pt x="4735545" y="13090"/>
                  </a:lnTo>
                  <a:lnTo>
                    <a:pt x="4780626" y="23036"/>
                  </a:lnTo>
                  <a:lnTo>
                    <a:pt x="4824652" y="35626"/>
                  </a:lnTo>
                  <a:lnTo>
                    <a:pt x="4867535" y="50771"/>
                  </a:lnTo>
                  <a:lnTo>
                    <a:pt x="4909188" y="68384"/>
                  </a:lnTo>
                  <a:lnTo>
                    <a:pt x="4949521" y="88376"/>
                  </a:lnTo>
                  <a:lnTo>
                    <a:pt x="4988447" y="110659"/>
                  </a:lnTo>
                  <a:lnTo>
                    <a:pt x="5025877" y="135144"/>
                  </a:lnTo>
                  <a:lnTo>
                    <a:pt x="5061722" y="161744"/>
                  </a:lnTo>
                  <a:lnTo>
                    <a:pt x="5095895" y="190369"/>
                  </a:lnTo>
                  <a:lnTo>
                    <a:pt x="5128307" y="220932"/>
                  </a:lnTo>
                  <a:lnTo>
                    <a:pt x="5158870" y="253344"/>
                  </a:lnTo>
                  <a:lnTo>
                    <a:pt x="5187495" y="287517"/>
                  </a:lnTo>
                  <a:lnTo>
                    <a:pt x="5214095" y="323362"/>
                  </a:lnTo>
                  <a:lnTo>
                    <a:pt x="5238580" y="360792"/>
                  </a:lnTo>
                  <a:lnTo>
                    <a:pt x="5260863" y="399718"/>
                  </a:lnTo>
                  <a:lnTo>
                    <a:pt x="5280855" y="440051"/>
                  </a:lnTo>
                  <a:lnTo>
                    <a:pt x="5298468" y="481704"/>
                  </a:lnTo>
                  <a:lnTo>
                    <a:pt x="5313613" y="524587"/>
                  </a:lnTo>
                  <a:lnTo>
                    <a:pt x="5326203" y="568613"/>
                  </a:lnTo>
                  <a:lnTo>
                    <a:pt x="5336149" y="613694"/>
                  </a:lnTo>
                  <a:lnTo>
                    <a:pt x="5343363" y="659741"/>
                  </a:lnTo>
                  <a:lnTo>
                    <a:pt x="5347756" y="706666"/>
                  </a:lnTo>
                  <a:lnTo>
                    <a:pt x="5349240" y="754379"/>
                  </a:lnTo>
                  <a:lnTo>
                    <a:pt x="5349240" y="3771887"/>
                  </a:lnTo>
                  <a:lnTo>
                    <a:pt x="5347756" y="3819595"/>
                  </a:lnTo>
                  <a:lnTo>
                    <a:pt x="5343363" y="3866516"/>
                  </a:lnTo>
                  <a:lnTo>
                    <a:pt x="5336149" y="3912559"/>
                  </a:lnTo>
                  <a:lnTo>
                    <a:pt x="5326203" y="3957637"/>
                  </a:lnTo>
                  <a:lnTo>
                    <a:pt x="5313613" y="4001661"/>
                  </a:lnTo>
                  <a:lnTo>
                    <a:pt x="5298468" y="4044544"/>
                  </a:lnTo>
                  <a:lnTo>
                    <a:pt x="5280855" y="4086196"/>
                  </a:lnTo>
                  <a:lnTo>
                    <a:pt x="5260863" y="4126529"/>
                  </a:lnTo>
                  <a:lnTo>
                    <a:pt x="5238580" y="4165455"/>
                  </a:lnTo>
                  <a:lnTo>
                    <a:pt x="5214095" y="4202886"/>
                  </a:lnTo>
                  <a:lnTo>
                    <a:pt x="5187495" y="4238733"/>
                  </a:lnTo>
                  <a:lnTo>
                    <a:pt x="5158870" y="4272908"/>
                  </a:lnTo>
                  <a:lnTo>
                    <a:pt x="5128307" y="4305322"/>
                  </a:lnTo>
                  <a:lnTo>
                    <a:pt x="5095895" y="4335887"/>
                  </a:lnTo>
                  <a:lnTo>
                    <a:pt x="5061722" y="4364515"/>
                  </a:lnTo>
                  <a:lnTo>
                    <a:pt x="5025877" y="4391117"/>
                  </a:lnTo>
                  <a:lnTo>
                    <a:pt x="4988447" y="4415604"/>
                  </a:lnTo>
                  <a:lnTo>
                    <a:pt x="4949521" y="4437890"/>
                  </a:lnTo>
                  <a:lnTo>
                    <a:pt x="4909188" y="4457884"/>
                  </a:lnTo>
                  <a:lnTo>
                    <a:pt x="4867535" y="4475500"/>
                  </a:lnTo>
                  <a:lnTo>
                    <a:pt x="4824652" y="4490648"/>
                  </a:lnTo>
                  <a:lnTo>
                    <a:pt x="4780626" y="4503239"/>
                  </a:lnTo>
                  <a:lnTo>
                    <a:pt x="4735545" y="4513187"/>
                  </a:lnTo>
                  <a:lnTo>
                    <a:pt x="4689498" y="4520402"/>
                  </a:lnTo>
                  <a:lnTo>
                    <a:pt x="4642573" y="4524795"/>
                  </a:lnTo>
                  <a:lnTo>
                    <a:pt x="4594860" y="4526280"/>
                  </a:lnTo>
                  <a:lnTo>
                    <a:pt x="754380" y="4526280"/>
                  </a:lnTo>
                  <a:lnTo>
                    <a:pt x="706666" y="4524795"/>
                  </a:lnTo>
                  <a:lnTo>
                    <a:pt x="659741" y="4520402"/>
                  </a:lnTo>
                  <a:lnTo>
                    <a:pt x="613694" y="4513187"/>
                  </a:lnTo>
                  <a:lnTo>
                    <a:pt x="568613" y="4503239"/>
                  </a:lnTo>
                  <a:lnTo>
                    <a:pt x="524587" y="4490648"/>
                  </a:lnTo>
                  <a:lnTo>
                    <a:pt x="481704" y="4475500"/>
                  </a:lnTo>
                  <a:lnTo>
                    <a:pt x="440051" y="4457884"/>
                  </a:lnTo>
                  <a:lnTo>
                    <a:pt x="399718" y="4437890"/>
                  </a:lnTo>
                  <a:lnTo>
                    <a:pt x="360792" y="4415604"/>
                  </a:lnTo>
                  <a:lnTo>
                    <a:pt x="323362" y="4391117"/>
                  </a:lnTo>
                  <a:lnTo>
                    <a:pt x="287517" y="4364515"/>
                  </a:lnTo>
                  <a:lnTo>
                    <a:pt x="253344" y="4335887"/>
                  </a:lnTo>
                  <a:lnTo>
                    <a:pt x="220932" y="4305322"/>
                  </a:lnTo>
                  <a:lnTo>
                    <a:pt x="190369" y="4272908"/>
                  </a:lnTo>
                  <a:lnTo>
                    <a:pt x="161744" y="4238733"/>
                  </a:lnTo>
                  <a:lnTo>
                    <a:pt x="135144" y="4202886"/>
                  </a:lnTo>
                  <a:lnTo>
                    <a:pt x="110659" y="4165455"/>
                  </a:lnTo>
                  <a:lnTo>
                    <a:pt x="88376" y="4126529"/>
                  </a:lnTo>
                  <a:lnTo>
                    <a:pt x="68384" y="4086196"/>
                  </a:lnTo>
                  <a:lnTo>
                    <a:pt x="50771" y="4044544"/>
                  </a:lnTo>
                  <a:lnTo>
                    <a:pt x="35626" y="4001661"/>
                  </a:lnTo>
                  <a:lnTo>
                    <a:pt x="23036" y="3957637"/>
                  </a:lnTo>
                  <a:lnTo>
                    <a:pt x="13090" y="3912559"/>
                  </a:lnTo>
                  <a:lnTo>
                    <a:pt x="5876" y="3866516"/>
                  </a:lnTo>
                  <a:lnTo>
                    <a:pt x="1483" y="3819595"/>
                  </a:lnTo>
                  <a:lnTo>
                    <a:pt x="0" y="3771887"/>
                  </a:lnTo>
                  <a:lnTo>
                    <a:pt x="0" y="75437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80601" y="2532023"/>
            <a:ext cx="4739519" cy="265585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Next</a:t>
            </a:r>
            <a:r>
              <a:rPr sz="1600" b="1" spc="-5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steps</a:t>
            </a:r>
            <a:r>
              <a:rPr sz="1600" b="1" spc="-6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toward</a:t>
            </a:r>
            <a:r>
              <a:rPr sz="1600" b="1" spc="-2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MVP</a:t>
            </a:r>
            <a:r>
              <a:rPr sz="1600" b="1" spc="-4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(not</a:t>
            </a:r>
            <a:r>
              <a:rPr sz="1600" b="1" spc="-45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11727"/>
                </a:solidFill>
                <a:latin typeface="Calibri"/>
                <a:cs typeface="Calibri"/>
              </a:rPr>
              <a:t>MVP</a:t>
            </a:r>
            <a:r>
              <a:rPr sz="1600" b="1" spc="-40" dirty="0">
                <a:solidFill>
                  <a:srgbClr val="11172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11727"/>
                </a:solidFill>
                <a:latin typeface="Calibri"/>
                <a:cs typeface="Calibri"/>
              </a:rPr>
              <a:t>itself)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Clr>
                <a:srgbClr val="4A5462"/>
              </a:buClr>
            </a:pPr>
            <a:r>
              <a:rPr lang="en-US" sz="1400" dirty="0">
                <a:latin typeface="Calibri"/>
                <a:cs typeface="Calibri"/>
              </a:rPr>
              <a:t>1) First, we’ll integrate SMS and email notification alerts so donors and hospitals get updates instantly.</a:t>
            </a:r>
          </a:p>
          <a:p>
            <a:pPr>
              <a:lnSpc>
                <a:spcPct val="100000"/>
              </a:lnSpc>
              <a:spcBef>
                <a:spcPts val="190"/>
              </a:spcBef>
              <a:buClr>
                <a:srgbClr val="4A5462"/>
              </a:buClr>
            </a:pPr>
            <a:r>
              <a:rPr lang="en-US" sz="1400" dirty="0">
                <a:latin typeface="Calibri"/>
                <a:cs typeface="Calibri"/>
              </a:rPr>
              <a:t>2)Second, we’ll add accurate location-based donor matching to improve how hospitals find nearby compatible donors.</a:t>
            </a:r>
          </a:p>
          <a:p>
            <a:pPr>
              <a:lnSpc>
                <a:spcPct val="100000"/>
              </a:lnSpc>
              <a:spcBef>
                <a:spcPts val="190"/>
              </a:spcBef>
              <a:buClr>
                <a:srgbClr val="4A5462"/>
              </a:buClr>
            </a:pPr>
            <a:r>
              <a:rPr lang="en-US" sz="1400" dirty="0">
                <a:latin typeface="Calibri"/>
                <a:cs typeface="Calibri"/>
              </a:rPr>
              <a:t>3)Third, we’ll refine the hospital UI to make verified donor data and availability status clearer and easier to understand </a:t>
            </a:r>
          </a:p>
          <a:p>
            <a:pPr>
              <a:lnSpc>
                <a:spcPct val="100000"/>
              </a:lnSpc>
              <a:spcBef>
                <a:spcPts val="190"/>
              </a:spcBef>
              <a:buClr>
                <a:srgbClr val="4A5462"/>
              </a:buClr>
            </a:pP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KPIs</a:t>
            </a:r>
            <a:r>
              <a:rPr sz="1300" spc="-1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A5462"/>
                </a:solidFill>
                <a:latin typeface="Calibri"/>
                <a:cs typeface="Calibri"/>
              </a:rPr>
              <a:t>to carry</a:t>
            </a:r>
            <a:r>
              <a:rPr sz="13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Calibri"/>
                <a:cs typeface="Calibri"/>
              </a:rPr>
              <a:t>forward:</a:t>
            </a:r>
            <a:endParaRPr sz="1300" dirty="0">
              <a:latin typeface="Calibri"/>
              <a:cs typeface="Calibri"/>
            </a:endParaRPr>
          </a:p>
          <a:p>
            <a:pPr marL="299085" lvl="1" indent="-286385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Secure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authentication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validated</a:t>
            </a:r>
            <a:endParaRPr sz="1400" dirty="0">
              <a:latin typeface="Arial MT"/>
              <a:cs typeface="Arial MT"/>
            </a:endParaRPr>
          </a:p>
          <a:p>
            <a:pPr marL="299085" lvl="1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400" spc="-20" dirty="0">
                <a:latin typeface="Arial MT"/>
                <a:cs typeface="Arial MT"/>
              </a:rPr>
              <a:t>Real-</a:t>
            </a:r>
            <a:r>
              <a:rPr sz="1400" dirty="0">
                <a:latin typeface="Arial MT"/>
                <a:cs typeface="Arial MT"/>
              </a:rPr>
              <a:t>time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availability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works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expected</a:t>
            </a:r>
            <a:endParaRPr sz="1400" dirty="0">
              <a:latin typeface="Arial MT"/>
              <a:cs typeface="Arial MT"/>
            </a:endParaRPr>
          </a:p>
          <a:p>
            <a:pPr marL="299085" lvl="1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Performance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targets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met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under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load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6565391"/>
            <a:ext cx="12192000" cy="292735"/>
          </a:xfrm>
          <a:custGeom>
            <a:avLst/>
            <a:gdLst/>
            <a:ahLst/>
            <a:cxnLst/>
            <a:rect l="l" t="t" r="r" b="b"/>
            <a:pathLst>
              <a:path w="12192000" h="292734">
                <a:moveTo>
                  <a:pt x="0" y="292608"/>
                </a:moveTo>
                <a:lnTo>
                  <a:pt x="12192000" y="292608"/>
                </a:lnTo>
                <a:lnTo>
                  <a:pt x="12192000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1880" y="6305270"/>
            <a:ext cx="7280909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Reminder:</a:t>
            </a:r>
            <a:r>
              <a:rPr sz="1100" i="1" spc="-3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MVP</a:t>
            </a:r>
            <a:r>
              <a:rPr sz="1100" i="1" spc="1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stage</a:t>
            </a:r>
            <a:r>
              <a:rPr sz="1100" i="1" spc="-1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=</a:t>
            </a:r>
            <a:r>
              <a:rPr sz="1100" i="1" spc="1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real</a:t>
            </a:r>
            <a:r>
              <a:rPr sz="1100" i="1" spc="-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end-user</a:t>
            </a:r>
            <a:r>
              <a:rPr sz="1100" i="1" spc="-4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pilot</a:t>
            </a:r>
            <a:r>
              <a:rPr sz="1100" i="1" spc="-5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+</a:t>
            </a:r>
            <a:r>
              <a:rPr sz="1100" i="1" spc="3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6B7180"/>
                </a:solidFill>
                <a:latin typeface="Calibri"/>
                <a:cs typeface="Calibri"/>
              </a:rPr>
              <a:t>feedback</a:t>
            </a:r>
            <a:r>
              <a:rPr sz="1100" i="1" spc="-4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loops.</a:t>
            </a:r>
            <a:r>
              <a:rPr sz="1100" i="1" spc="-6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Prototype</a:t>
            </a:r>
            <a:r>
              <a:rPr sz="1100" i="1" spc="-4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stage</a:t>
            </a:r>
            <a:r>
              <a:rPr sz="1100" i="1" spc="-1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focuses</a:t>
            </a:r>
            <a:r>
              <a:rPr sz="110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on</a:t>
            </a:r>
            <a:r>
              <a:rPr sz="1100" i="1" spc="-1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integration</a:t>
            </a:r>
            <a:r>
              <a:rPr sz="1100" i="1" spc="-6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+</a:t>
            </a:r>
            <a:r>
              <a:rPr sz="1100" i="1" spc="1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controlled</a:t>
            </a:r>
            <a:r>
              <a:rPr sz="1100" i="1" spc="-6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B7180"/>
                </a:solidFill>
                <a:latin typeface="Calibri"/>
                <a:cs typeface="Calibri"/>
              </a:rPr>
              <a:t>usability</a:t>
            </a:r>
            <a:r>
              <a:rPr sz="1100" i="1" spc="-6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6B7180"/>
                </a:solidFill>
                <a:latin typeface="Calibri"/>
                <a:cs typeface="Calibri"/>
              </a:rPr>
              <a:t>checks.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138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5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Stage</a:t>
            </a:r>
            <a:r>
              <a:rPr spc="1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Submission</a:t>
            </a:r>
            <a:r>
              <a:rPr spc="-55" dirty="0"/>
              <a:t> </a:t>
            </a:r>
            <a:r>
              <a:rPr spc="-20" dirty="0"/>
              <a:t>Deck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0614" rIns="0" bIns="0" rtlCol="0">
            <a:spAutoFit/>
          </a:bodyPr>
          <a:lstStyle/>
          <a:p>
            <a:pPr marL="157480">
              <a:lnSpc>
                <a:spcPts val="1150"/>
              </a:lnSpc>
            </a:pPr>
            <a:r>
              <a:rPr spc="-10" dirty="0"/>
              <a:t>20/23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-6095"/>
            <a:ext cx="12204700" cy="579120"/>
            <a:chOff x="-6095" y="-6095"/>
            <a:chExt cx="12204700" cy="57912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567055"/>
            </a:xfrm>
            <a:custGeom>
              <a:avLst/>
              <a:gdLst/>
              <a:ahLst/>
              <a:cxnLst/>
              <a:rect l="l" t="t" r="r" b="b"/>
              <a:pathLst>
                <a:path w="12045950" h="567055">
                  <a:moveTo>
                    <a:pt x="0" y="566927"/>
                  </a:moveTo>
                  <a:lnTo>
                    <a:pt x="12045696" y="566927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solidFill>
              <a:srgbClr val="0A2D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567055"/>
            </a:xfrm>
            <a:custGeom>
              <a:avLst/>
              <a:gdLst/>
              <a:ahLst/>
              <a:cxnLst/>
              <a:rect l="l" t="t" r="r" b="b"/>
              <a:pathLst>
                <a:path w="12192000" h="567055">
                  <a:moveTo>
                    <a:pt x="0" y="566927"/>
                  </a:moveTo>
                  <a:lnTo>
                    <a:pt x="12192000" y="56692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0A2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14630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146304" y="566927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46685" cy="567055"/>
            </a:xfrm>
            <a:custGeom>
              <a:avLst/>
              <a:gdLst/>
              <a:ahLst/>
              <a:cxnLst/>
              <a:rect l="l" t="t" r="r" b="b"/>
              <a:pathLst>
                <a:path w="146685" h="567055">
                  <a:moveTo>
                    <a:pt x="0" y="566927"/>
                  </a:moveTo>
                  <a:lnTo>
                    <a:pt x="146304" y="566927"/>
                  </a:lnTo>
                  <a:lnTo>
                    <a:pt x="14630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2400" y="141223"/>
            <a:ext cx="120338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667385" algn="r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8263" y="652272"/>
            <a:ext cx="1932939" cy="304800"/>
            <a:chOff x="588263" y="652272"/>
            <a:chExt cx="1932939" cy="304800"/>
          </a:xfrm>
        </p:grpSpPr>
        <p:sp>
          <p:nvSpPr>
            <p:cNvPr id="9" name="object 9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1871472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8"/>
                  </a:lnTo>
                  <a:lnTo>
                    <a:pt x="0" y="243840"/>
                  </a:lnTo>
                  <a:lnTo>
                    <a:pt x="3832" y="262818"/>
                  </a:lnTo>
                  <a:lnTo>
                    <a:pt x="14282" y="278320"/>
                  </a:lnTo>
                  <a:lnTo>
                    <a:pt x="29784" y="288774"/>
                  </a:lnTo>
                  <a:lnTo>
                    <a:pt x="48768" y="292608"/>
                  </a:lnTo>
                  <a:lnTo>
                    <a:pt x="1871472" y="292608"/>
                  </a:lnTo>
                  <a:lnTo>
                    <a:pt x="1890450" y="288774"/>
                  </a:lnTo>
                  <a:lnTo>
                    <a:pt x="1905952" y="278320"/>
                  </a:lnTo>
                  <a:lnTo>
                    <a:pt x="1916406" y="262818"/>
                  </a:lnTo>
                  <a:lnTo>
                    <a:pt x="1920239" y="243840"/>
                  </a:lnTo>
                  <a:lnTo>
                    <a:pt x="1920239" y="48768"/>
                  </a:lnTo>
                  <a:lnTo>
                    <a:pt x="1916406" y="29789"/>
                  </a:lnTo>
                  <a:lnTo>
                    <a:pt x="1905952" y="14287"/>
                  </a:lnTo>
                  <a:lnTo>
                    <a:pt x="1890450" y="3833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2E6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59" y="658368"/>
              <a:ext cx="1920239" cy="292735"/>
            </a:xfrm>
            <a:custGeom>
              <a:avLst/>
              <a:gdLst/>
              <a:ahLst/>
              <a:cxnLst/>
              <a:rect l="l" t="t" r="r" b="b"/>
              <a:pathLst>
                <a:path w="1920239" h="292734">
                  <a:moveTo>
                    <a:pt x="0" y="48768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1871472" y="0"/>
                  </a:lnTo>
                  <a:lnTo>
                    <a:pt x="1890450" y="3833"/>
                  </a:lnTo>
                  <a:lnTo>
                    <a:pt x="1905952" y="14287"/>
                  </a:lnTo>
                  <a:lnTo>
                    <a:pt x="1916406" y="29789"/>
                  </a:lnTo>
                  <a:lnTo>
                    <a:pt x="1920239" y="48768"/>
                  </a:lnTo>
                  <a:lnTo>
                    <a:pt x="1920239" y="243840"/>
                  </a:lnTo>
                  <a:lnTo>
                    <a:pt x="1916406" y="262818"/>
                  </a:lnTo>
                  <a:lnTo>
                    <a:pt x="1905952" y="278320"/>
                  </a:lnTo>
                  <a:lnTo>
                    <a:pt x="1890450" y="288774"/>
                  </a:lnTo>
                  <a:lnTo>
                    <a:pt x="1871472" y="292608"/>
                  </a:lnTo>
                  <a:lnTo>
                    <a:pt x="48768" y="292608"/>
                  </a:lnTo>
                  <a:lnTo>
                    <a:pt x="29784" y="288774"/>
                  </a:lnTo>
                  <a:lnTo>
                    <a:pt x="14282" y="278320"/>
                  </a:lnTo>
                  <a:lnTo>
                    <a:pt x="3832" y="262818"/>
                  </a:lnTo>
                  <a:lnTo>
                    <a:pt x="0" y="243840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2E6E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2372" y="691641"/>
            <a:ext cx="1904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REFS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71880" y="819353"/>
            <a:ext cx="18700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5" dirty="0">
                <a:solidFill>
                  <a:srgbClr val="111727"/>
                </a:solidFill>
              </a:rPr>
              <a:t>References</a:t>
            </a:r>
            <a:endParaRPr sz="3200"/>
          </a:p>
        </p:txBody>
      </p:sp>
      <p:grpSp>
        <p:nvGrpSpPr>
          <p:cNvPr id="13" name="object 13"/>
          <p:cNvGrpSpPr/>
          <p:nvPr/>
        </p:nvGrpSpPr>
        <p:grpSpPr>
          <a:xfrm>
            <a:off x="588263" y="1959864"/>
            <a:ext cx="10985500" cy="4493260"/>
            <a:chOff x="588263" y="1959864"/>
            <a:chExt cx="10985500" cy="4493260"/>
          </a:xfrm>
        </p:grpSpPr>
        <p:sp>
          <p:nvSpPr>
            <p:cNvPr id="14" name="object 14"/>
            <p:cNvSpPr/>
            <p:nvPr/>
          </p:nvSpPr>
          <p:spPr>
            <a:xfrm>
              <a:off x="594359" y="1965960"/>
              <a:ext cx="10972800" cy="4480560"/>
            </a:xfrm>
            <a:custGeom>
              <a:avLst/>
              <a:gdLst/>
              <a:ahLst/>
              <a:cxnLst/>
              <a:rect l="l" t="t" r="r" b="b"/>
              <a:pathLst>
                <a:path w="10972800" h="4480560">
                  <a:moveTo>
                    <a:pt x="10226040" y="0"/>
                  </a:moveTo>
                  <a:lnTo>
                    <a:pt x="746760" y="0"/>
                  </a:lnTo>
                  <a:lnTo>
                    <a:pt x="699534" y="1469"/>
                  </a:lnTo>
                  <a:lnTo>
                    <a:pt x="653088" y="5819"/>
                  </a:lnTo>
                  <a:lnTo>
                    <a:pt x="607511" y="12961"/>
                  </a:lnTo>
                  <a:lnTo>
                    <a:pt x="562889" y="22810"/>
                  </a:lnTo>
                  <a:lnTo>
                    <a:pt x="519310" y="35275"/>
                  </a:lnTo>
                  <a:lnTo>
                    <a:pt x="476862" y="50272"/>
                  </a:lnTo>
                  <a:lnTo>
                    <a:pt x="435631" y="67711"/>
                  </a:lnTo>
                  <a:lnTo>
                    <a:pt x="395706" y="87505"/>
                  </a:lnTo>
                  <a:lnTo>
                    <a:pt x="357173" y="109567"/>
                  </a:lnTo>
                  <a:lnTo>
                    <a:pt x="320121" y="133809"/>
                  </a:lnTo>
                  <a:lnTo>
                    <a:pt x="284637" y="160144"/>
                  </a:lnTo>
                  <a:lnTo>
                    <a:pt x="250808" y="188484"/>
                  </a:lnTo>
                  <a:lnTo>
                    <a:pt x="218722" y="218741"/>
                  </a:lnTo>
                  <a:lnTo>
                    <a:pt x="188466" y="250829"/>
                  </a:lnTo>
                  <a:lnTo>
                    <a:pt x="160128" y="284659"/>
                  </a:lnTo>
                  <a:lnTo>
                    <a:pt x="133795" y="320144"/>
                  </a:lnTo>
                  <a:lnTo>
                    <a:pt x="109555" y="357196"/>
                  </a:lnTo>
                  <a:lnTo>
                    <a:pt x="87495" y="395728"/>
                  </a:lnTo>
                  <a:lnTo>
                    <a:pt x="67703" y="435653"/>
                  </a:lnTo>
                  <a:lnTo>
                    <a:pt x="50265" y="476882"/>
                  </a:lnTo>
                  <a:lnTo>
                    <a:pt x="35271" y="519329"/>
                  </a:lnTo>
                  <a:lnTo>
                    <a:pt x="22807" y="562906"/>
                  </a:lnTo>
                  <a:lnTo>
                    <a:pt x="12960" y="607525"/>
                  </a:lnTo>
                  <a:lnTo>
                    <a:pt x="5818" y="653098"/>
                  </a:lnTo>
                  <a:lnTo>
                    <a:pt x="1469" y="699539"/>
                  </a:lnTo>
                  <a:lnTo>
                    <a:pt x="0" y="746760"/>
                  </a:lnTo>
                  <a:lnTo>
                    <a:pt x="0" y="3733787"/>
                  </a:lnTo>
                  <a:lnTo>
                    <a:pt x="1469" y="3781014"/>
                  </a:lnTo>
                  <a:lnTo>
                    <a:pt x="5818" y="3827461"/>
                  </a:lnTo>
                  <a:lnTo>
                    <a:pt x="12960" y="3873039"/>
                  </a:lnTo>
                  <a:lnTo>
                    <a:pt x="22807" y="3917662"/>
                  </a:lnTo>
                  <a:lnTo>
                    <a:pt x="35271" y="3961242"/>
                  </a:lnTo>
                  <a:lnTo>
                    <a:pt x="50265" y="4003692"/>
                  </a:lnTo>
                  <a:lnTo>
                    <a:pt x="67703" y="4044923"/>
                  </a:lnTo>
                  <a:lnTo>
                    <a:pt x="87495" y="4084849"/>
                  </a:lnTo>
                  <a:lnTo>
                    <a:pt x="109555" y="4123382"/>
                  </a:lnTo>
                  <a:lnTo>
                    <a:pt x="133795" y="4160435"/>
                  </a:lnTo>
                  <a:lnTo>
                    <a:pt x="160128" y="4195919"/>
                  </a:lnTo>
                  <a:lnTo>
                    <a:pt x="188466" y="4229749"/>
                  </a:lnTo>
                  <a:lnTo>
                    <a:pt x="218722" y="4261835"/>
                  </a:lnTo>
                  <a:lnTo>
                    <a:pt x="250808" y="4292092"/>
                  </a:lnTo>
                  <a:lnTo>
                    <a:pt x="284637" y="4320430"/>
                  </a:lnTo>
                  <a:lnTo>
                    <a:pt x="320121" y="4346763"/>
                  </a:lnTo>
                  <a:lnTo>
                    <a:pt x="357173" y="4371003"/>
                  </a:lnTo>
                  <a:lnTo>
                    <a:pt x="395706" y="4393064"/>
                  </a:lnTo>
                  <a:lnTo>
                    <a:pt x="435631" y="4412856"/>
                  </a:lnTo>
                  <a:lnTo>
                    <a:pt x="476862" y="4430293"/>
                  </a:lnTo>
                  <a:lnTo>
                    <a:pt x="519310" y="4445288"/>
                  </a:lnTo>
                  <a:lnTo>
                    <a:pt x="562889" y="4457752"/>
                  </a:lnTo>
                  <a:lnTo>
                    <a:pt x="607511" y="4467599"/>
                  </a:lnTo>
                  <a:lnTo>
                    <a:pt x="653088" y="4474741"/>
                  </a:lnTo>
                  <a:lnTo>
                    <a:pt x="699534" y="4479090"/>
                  </a:lnTo>
                  <a:lnTo>
                    <a:pt x="746760" y="4480560"/>
                  </a:lnTo>
                  <a:lnTo>
                    <a:pt x="10226040" y="4480560"/>
                  </a:lnTo>
                  <a:lnTo>
                    <a:pt x="10273260" y="4479090"/>
                  </a:lnTo>
                  <a:lnTo>
                    <a:pt x="10319701" y="4474741"/>
                  </a:lnTo>
                  <a:lnTo>
                    <a:pt x="10365274" y="4467599"/>
                  </a:lnTo>
                  <a:lnTo>
                    <a:pt x="10409893" y="4457752"/>
                  </a:lnTo>
                  <a:lnTo>
                    <a:pt x="10453470" y="4445288"/>
                  </a:lnTo>
                  <a:lnTo>
                    <a:pt x="10495917" y="4430293"/>
                  </a:lnTo>
                  <a:lnTo>
                    <a:pt x="10537146" y="4412856"/>
                  </a:lnTo>
                  <a:lnTo>
                    <a:pt x="10577071" y="4393064"/>
                  </a:lnTo>
                  <a:lnTo>
                    <a:pt x="10615603" y="4371003"/>
                  </a:lnTo>
                  <a:lnTo>
                    <a:pt x="10652655" y="4346763"/>
                  </a:lnTo>
                  <a:lnTo>
                    <a:pt x="10688140" y="4320430"/>
                  </a:lnTo>
                  <a:lnTo>
                    <a:pt x="10721970" y="4292092"/>
                  </a:lnTo>
                  <a:lnTo>
                    <a:pt x="10754058" y="4261835"/>
                  </a:lnTo>
                  <a:lnTo>
                    <a:pt x="10784315" y="4229749"/>
                  </a:lnTo>
                  <a:lnTo>
                    <a:pt x="10812655" y="4195919"/>
                  </a:lnTo>
                  <a:lnTo>
                    <a:pt x="10838990" y="4160435"/>
                  </a:lnTo>
                  <a:lnTo>
                    <a:pt x="10863232" y="4123382"/>
                  </a:lnTo>
                  <a:lnTo>
                    <a:pt x="10885294" y="4084849"/>
                  </a:lnTo>
                  <a:lnTo>
                    <a:pt x="10905088" y="4044923"/>
                  </a:lnTo>
                  <a:lnTo>
                    <a:pt x="10922527" y="4003692"/>
                  </a:lnTo>
                  <a:lnTo>
                    <a:pt x="10937524" y="3961242"/>
                  </a:lnTo>
                  <a:lnTo>
                    <a:pt x="10949989" y="3917662"/>
                  </a:lnTo>
                  <a:lnTo>
                    <a:pt x="10959838" y="3873039"/>
                  </a:lnTo>
                  <a:lnTo>
                    <a:pt x="10966980" y="3827461"/>
                  </a:lnTo>
                  <a:lnTo>
                    <a:pt x="10971330" y="3781014"/>
                  </a:lnTo>
                  <a:lnTo>
                    <a:pt x="10972800" y="3733787"/>
                  </a:lnTo>
                  <a:lnTo>
                    <a:pt x="10972800" y="746760"/>
                  </a:lnTo>
                  <a:lnTo>
                    <a:pt x="10971330" y="699539"/>
                  </a:lnTo>
                  <a:lnTo>
                    <a:pt x="10966980" y="653098"/>
                  </a:lnTo>
                  <a:lnTo>
                    <a:pt x="10959838" y="607525"/>
                  </a:lnTo>
                  <a:lnTo>
                    <a:pt x="10949989" y="562906"/>
                  </a:lnTo>
                  <a:lnTo>
                    <a:pt x="10937524" y="519329"/>
                  </a:lnTo>
                  <a:lnTo>
                    <a:pt x="10922527" y="476882"/>
                  </a:lnTo>
                  <a:lnTo>
                    <a:pt x="10905088" y="435653"/>
                  </a:lnTo>
                  <a:lnTo>
                    <a:pt x="10885294" y="395728"/>
                  </a:lnTo>
                  <a:lnTo>
                    <a:pt x="10863232" y="357196"/>
                  </a:lnTo>
                  <a:lnTo>
                    <a:pt x="10838990" y="320144"/>
                  </a:lnTo>
                  <a:lnTo>
                    <a:pt x="10812655" y="284659"/>
                  </a:lnTo>
                  <a:lnTo>
                    <a:pt x="10784315" y="250829"/>
                  </a:lnTo>
                  <a:lnTo>
                    <a:pt x="10754058" y="218741"/>
                  </a:lnTo>
                  <a:lnTo>
                    <a:pt x="10721970" y="188484"/>
                  </a:lnTo>
                  <a:lnTo>
                    <a:pt x="10688140" y="160144"/>
                  </a:lnTo>
                  <a:lnTo>
                    <a:pt x="10652655" y="133809"/>
                  </a:lnTo>
                  <a:lnTo>
                    <a:pt x="10615603" y="109567"/>
                  </a:lnTo>
                  <a:lnTo>
                    <a:pt x="10577071" y="87505"/>
                  </a:lnTo>
                  <a:lnTo>
                    <a:pt x="10537146" y="67711"/>
                  </a:lnTo>
                  <a:lnTo>
                    <a:pt x="10495917" y="50272"/>
                  </a:lnTo>
                  <a:lnTo>
                    <a:pt x="10453470" y="35275"/>
                  </a:lnTo>
                  <a:lnTo>
                    <a:pt x="10409893" y="22810"/>
                  </a:lnTo>
                  <a:lnTo>
                    <a:pt x="10365274" y="12961"/>
                  </a:lnTo>
                  <a:lnTo>
                    <a:pt x="10319701" y="5819"/>
                  </a:lnTo>
                  <a:lnTo>
                    <a:pt x="10273260" y="1469"/>
                  </a:lnTo>
                  <a:lnTo>
                    <a:pt x="1022604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4359" y="1965960"/>
              <a:ext cx="10972800" cy="4480560"/>
            </a:xfrm>
            <a:custGeom>
              <a:avLst/>
              <a:gdLst/>
              <a:ahLst/>
              <a:cxnLst/>
              <a:rect l="l" t="t" r="r" b="b"/>
              <a:pathLst>
                <a:path w="10972800" h="4480560">
                  <a:moveTo>
                    <a:pt x="0" y="746760"/>
                  </a:moveTo>
                  <a:lnTo>
                    <a:pt x="1469" y="699539"/>
                  </a:lnTo>
                  <a:lnTo>
                    <a:pt x="5818" y="653098"/>
                  </a:lnTo>
                  <a:lnTo>
                    <a:pt x="12960" y="607525"/>
                  </a:lnTo>
                  <a:lnTo>
                    <a:pt x="22807" y="562906"/>
                  </a:lnTo>
                  <a:lnTo>
                    <a:pt x="35271" y="519329"/>
                  </a:lnTo>
                  <a:lnTo>
                    <a:pt x="50265" y="476882"/>
                  </a:lnTo>
                  <a:lnTo>
                    <a:pt x="67703" y="435653"/>
                  </a:lnTo>
                  <a:lnTo>
                    <a:pt x="87495" y="395728"/>
                  </a:lnTo>
                  <a:lnTo>
                    <a:pt x="109555" y="357196"/>
                  </a:lnTo>
                  <a:lnTo>
                    <a:pt x="133795" y="320144"/>
                  </a:lnTo>
                  <a:lnTo>
                    <a:pt x="160128" y="284659"/>
                  </a:lnTo>
                  <a:lnTo>
                    <a:pt x="188466" y="250829"/>
                  </a:lnTo>
                  <a:lnTo>
                    <a:pt x="218722" y="218741"/>
                  </a:lnTo>
                  <a:lnTo>
                    <a:pt x="250808" y="188484"/>
                  </a:lnTo>
                  <a:lnTo>
                    <a:pt x="284637" y="160144"/>
                  </a:lnTo>
                  <a:lnTo>
                    <a:pt x="320121" y="133809"/>
                  </a:lnTo>
                  <a:lnTo>
                    <a:pt x="357173" y="109567"/>
                  </a:lnTo>
                  <a:lnTo>
                    <a:pt x="395706" y="87505"/>
                  </a:lnTo>
                  <a:lnTo>
                    <a:pt x="435631" y="67711"/>
                  </a:lnTo>
                  <a:lnTo>
                    <a:pt x="476862" y="50272"/>
                  </a:lnTo>
                  <a:lnTo>
                    <a:pt x="519310" y="35275"/>
                  </a:lnTo>
                  <a:lnTo>
                    <a:pt x="562889" y="22810"/>
                  </a:lnTo>
                  <a:lnTo>
                    <a:pt x="607511" y="12961"/>
                  </a:lnTo>
                  <a:lnTo>
                    <a:pt x="653088" y="5819"/>
                  </a:lnTo>
                  <a:lnTo>
                    <a:pt x="699534" y="1469"/>
                  </a:lnTo>
                  <a:lnTo>
                    <a:pt x="746760" y="0"/>
                  </a:lnTo>
                  <a:lnTo>
                    <a:pt x="10226040" y="0"/>
                  </a:lnTo>
                  <a:lnTo>
                    <a:pt x="10273260" y="1469"/>
                  </a:lnTo>
                  <a:lnTo>
                    <a:pt x="10319701" y="5819"/>
                  </a:lnTo>
                  <a:lnTo>
                    <a:pt x="10365274" y="12961"/>
                  </a:lnTo>
                  <a:lnTo>
                    <a:pt x="10409893" y="22810"/>
                  </a:lnTo>
                  <a:lnTo>
                    <a:pt x="10453470" y="35275"/>
                  </a:lnTo>
                  <a:lnTo>
                    <a:pt x="10495917" y="50272"/>
                  </a:lnTo>
                  <a:lnTo>
                    <a:pt x="10537146" y="67711"/>
                  </a:lnTo>
                  <a:lnTo>
                    <a:pt x="10577071" y="87505"/>
                  </a:lnTo>
                  <a:lnTo>
                    <a:pt x="10615603" y="109567"/>
                  </a:lnTo>
                  <a:lnTo>
                    <a:pt x="10652655" y="133809"/>
                  </a:lnTo>
                  <a:lnTo>
                    <a:pt x="10688140" y="160144"/>
                  </a:lnTo>
                  <a:lnTo>
                    <a:pt x="10721970" y="188484"/>
                  </a:lnTo>
                  <a:lnTo>
                    <a:pt x="10754058" y="218741"/>
                  </a:lnTo>
                  <a:lnTo>
                    <a:pt x="10784315" y="250829"/>
                  </a:lnTo>
                  <a:lnTo>
                    <a:pt x="10812655" y="284659"/>
                  </a:lnTo>
                  <a:lnTo>
                    <a:pt x="10838990" y="320144"/>
                  </a:lnTo>
                  <a:lnTo>
                    <a:pt x="10863232" y="357196"/>
                  </a:lnTo>
                  <a:lnTo>
                    <a:pt x="10885294" y="395728"/>
                  </a:lnTo>
                  <a:lnTo>
                    <a:pt x="10905088" y="435653"/>
                  </a:lnTo>
                  <a:lnTo>
                    <a:pt x="10922527" y="476882"/>
                  </a:lnTo>
                  <a:lnTo>
                    <a:pt x="10937524" y="519329"/>
                  </a:lnTo>
                  <a:lnTo>
                    <a:pt x="10949989" y="562906"/>
                  </a:lnTo>
                  <a:lnTo>
                    <a:pt x="10959838" y="607525"/>
                  </a:lnTo>
                  <a:lnTo>
                    <a:pt x="10966980" y="653098"/>
                  </a:lnTo>
                  <a:lnTo>
                    <a:pt x="10971330" y="699539"/>
                  </a:lnTo>
                  <a:lnTo>
                    <a:pt x="10972800" y="746760"/>
                  </a:lnTo>
                  <a:lnTo>
                    <a:pt x="10972800" y="3733787"/>
                  </a:lnTo>
                  <a:lnTo>
                    <a:pt x="10971330" y="3781014"/>
                  </a:lnTo>
                  <a:lnTo>
                    <a:pt x="10966980" y="3827461"/>
                  </a:lnTo>
                  <a:lnTo>
                    <a:pt x="10959838" y="3873039"/>
                  </a:lnTo>
                  <a:lnTo>
                    <a:pt x="10949989" y="3917662"/>
                  </a:lnTo>
                  <a:lnTo>
                    <a:pt x="10937524" y="3961242"/>
                  </a:lnTo>
                  <a:lnTo>
                    <a:pt x="10922527" y="4003692"/>
                  </a:lnTo>
                  <a:lnTo>
                    <a:pt x="10905088" y="4044923"/>
                  </a:lnTo>
                  <a:lnTo>
                    <a:pt x="10885294" y="4084849"/>
                  </a:lnTo>
                  <a:lnTo>
                    <a:pt x="10863232" y="4123382"/>
                  </a:lnTo>
                  <a:lnTo>
                    <a:pt x="10838990" y="4160435"/>
                  </a:lnTo>
                  <a:lnTo>
                    <a:pt x="10812655" y="4195919"/>
                  </a:lnTo>
                  <a:lnTo>
                    <a:pt x="10784315" y="4229749"/>
                  </a:lnTo>
                  <a:lnTo>
                    <a:pt x="10754058" y="4261835"/>
                  </a:lnTo>
                  <a:lnTo>
                    <a:pt x="10721970" y="4292092"/>
                  </a:lnTo>
                  <a:lnTo>
                    <a:pt x="10688140" y="4320430"/>
                  </a:lnTo>
                  <a:lnTo>
                    <a:pt x="10652655" y="4346763"/>
                  </a:lnTo>
                  <a:lnTo>
                    <a:pt x="10615603" y="4371003"/>
                  </a:lnTo>
                  <a:lnTo>
                    <a:pt x="10577071" y="4393064"/>
                  </a:lnTo>
                  <a:lnTo>
                    <a:pt x="10537146" y="4412856"/>
                  </a:lnTo>
                  <a:lnTo>
                    <a:pt x="10495917" y="4430293"/>
                  </a:lnTo>
                  <a:lnTo>
                    <a:pt x="10453470" y="4445288"/>
                  </a:lnTo>
                  <a:lnTo>
                    <a:pt x="10409893" y="4457752"/>
                  </a:lnTo>
                  <a:lnTo>
                    <a:pt x="10365274" y="4467599"/>
                  </a:lnTo>
                  <a:lnTo>
                    <a:pt x="10319701" y="4474741"/>
                  </a:lnTo>
                  <a:lnTo>
                    <a:pt x="10273260" y="4479090"/>
                  </a:lnTo>
                  <a:lnTo>
                    <a:pt x="10226040" y="4480560"/>
                  </a:lnTo>
                  <a:lnTo>
                    <a:pt x="746760" y="4480560"/>
                  </a:lnTo>
                  <a:lnTo>
                    <a:pt x="699534" y="4479090"/>
                  </a:lnTo>
                  <a:lnTo>
                    <a:pt x="653088" y="4474741"/>
                  </a:lnTo>
                  <a:lnTo>
                    <a:pt x="607511" y="4467599"/>
                  </a:lnTo>
                  <a:lnTo>
                    <a:pt x="562889" y="4457752"/>
                  </a:lnTo>
                  <a:lnTo>
                    <a:pt x="519310" y="4445288"/>
                  </a:lnTo>
                  <a:lnTo>
                    <a:pt x="476862" y="4430293"/>
                  </a:lnTo>
                  <a:lnTo>
                    <a:pt x="435631" y="4412856"/>
                  </a:lnTo>
                  <a:lnTo>
                    <a:pt x="395706" y="4393064"/>
                  </a:lnTo>
                  <a:lnTo>
                    <a:pt x="357173" y="4371003"/>
                  </a:lnTo>
                  <a:lnTo>
                    <a:pt x="320121" y="4346763"/>
                  </a:lnTo>
                  <a:lnTo>
                    <a:pt x="284637" y="4320430"/>
                  </a:lnTo>
                  <a:lnTo>
                    <a:pt x="250808" y="4292092"/>
                  </a:lnTo>
                  <a:lnTo>
                    <a:pt x="218722" y="4261835"/>
                  </a:lnTo>
                  <a:lnTo>
                    <a:pt x="188466" y="4229749"/>
                  </a:lnTo>
                  <a:lnTo>
                    <a:pt x="160128" y="4195919"/>
                  </a:lnTo>
                  <a:lnTo>
                    <a:pt x="133795" y="4160435"/>
                  </a:lnTo>
                  <a:lnTo>
                    <a:pt x="109555" y="4123382"/>
                  </a:lnTo>
                  <a:lnTo>
                    <a:pt x="87495" y="4084849"/>
                  </a:lnTo>
                  <a:lnTo>
                    <a:pt x="67703" y="4044923"/>
                  </a:lnTo>
                  <a:lnTo>
                    <a:pt x="50265" y="4003692"/>
                  </a:lnTo>
                  <a:lnTo>
                    <a:pt x="35271" y="3961242"/>
                  </a:lnTo>
                  <a:lnTo>
                    <a:pt x="22807" y="3917662"/>
                  </a:lnTo>
                  <a:lnTo>
                    <a:pt x="12960" y="3873039"/>
                  </a:lnTo>
                  <a:lnTo>
                    <a:pt x="5818" y="3827461"/>
                  </a:lnTo>
                  <a:lnTo>
                    <a:pt x="1469" y="3781014"/>
                  </a:lnTo>
                  <a:lnTo>
                    <a:pt x="0" y="3733787"/>
                  </a:lnTo>
                  <a:lnTo>
                    <a:pt x="0" y="746760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43000" y="2346655"/>
            <a:ext cx="9144000" cy="12137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Cite</a:t>
            </a:r>
            <a:r>
              <a:rPr sz="16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datasets,</a:t>
            </a:r>
            <a:r>
              <a:rPr sz="16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papers,</a:t>
            </a:r>
            <a:r>
              <a:rPr sz="1600" spc="-3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APIs,</a:t>
            </a:r>
            <a:r>
              <a:rPr sz="1600" spc="-6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libraries,</a:t>
            </a:r>
            <a:r>
              <a:rPr sz="1600" spc="-4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A5462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external</a:t>
            </a:r>
            <a:r>
              <a:rPr sz="1600" spc="-30" dirty="0">
                <a:solidFill>
                  <a:srgbClr val="4A5462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Calibri"/>
                <a:cs typeface="Calibri"/>
              </a:rPr>
              <a:t>assets.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600" dirty="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lang="en-US" sz="1800" dirty="0">
                <a:latin typeface="Calibri"/>
                <a:cs typeface="Calibri"/>
              </a:rPr>
              <a:t>1] World Health Organization, “Blood safety and availability,” WHO, 2024. [Online]. </a:t>
            </a:r>
          </a:p>
          <a:p>
            <a:pPr marL="194945">
              <a:lnSpc>
                <a:spcPct val="100000"/>
              </a:lnSpc>
            </a:pPr>
            <a:r>
              <a:rPr lang="en-US" sz="1800" dirty="0">
                <a:latin typeface="Calibri"/>
                <a:cs typeface="Calibri"/>
              </a:rPr>
              <a:t>Available: https://www.who.int/news-room/fact-sheets/detail/blood-safety-and-availability.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1880" y="6040323"/>
            <a:ext cx="6762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Calibri"/>
                <a:cs typeface="Calibri"/>
              </a:rPr>
              <a:t>Example: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6565391"/>
            <a:ext cx="12192000" cy="292735"/>
          </a:xfrm>
          <a:custGeom>
            <a:avLst/>
            <a:gdLst/>
            <a:ahLst/>
            <a:cxnLst/>
            <a:rect l="l" t="t" r="r" b="b"/>
            <a:pathLst>
              <a:path w="12192000" h="292734">
                <a:moveTo>
                  <a:pt x="0" y="292608"/>
                </a:moveTo>
                <a:lnTo>
                  <a:pt x="12192000" y="292608"/>
                </a:lnTo>
                <a:lnTo>
                  <a:pt x="12192000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ln w="12192">
            <a:solidFill>
              <a:srgbClr val="E4E7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1880" y="6297650"/>
            <a:ext cx="4512310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dirty="0">
                <a:latin typeface="Calibri"/>
                <a:cs typeface="Calibri"/>
              </a:rPr>
              <a:t>[1]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A.</a:t>
            </a:r>
            <a:r>
              <a:rPr sz="1400" spc="-20" dirty="0">
                <a:latin typeface="Calibri"/>
                <a:cs typeface="Calibri"/>
              </a:rPr>
              <a:t> Author,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“Title,”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Source,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60" dirty="0">
                <a:latin typeface="Calibri"/>
                <a:cs typeface="Calibri"/>
              </a:rPr>
              <a:t>Year.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URL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(accessed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2025-</a:t>
            </a:r>
            <a:r>
              <a:rPr sz="1400" spc="-20" dirty="0">
                <a:latin typeface="Calibri"/>
                <a:cs typeface="Calibri"/>
              </a:rPr>
              <a:t>12-26).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138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/>
              <a:t>SoI</a:t>
            </a:r>
            <a:r>
              <a:rPr spc="5" dirty="0"/>
              <a:t> </a:t>
            </a:r>
            <a:r>
              <a:rPr dirty="0"/>
              <a:t>Prototype</a:t>
            </a:r>
            <a:r>
              <a:rPr spc="-25" dirty="0"/>
              <a:t> </a:t>
            </a:r>
            <a:r>
              <a:rPr dirty="0"/>
              <a:t>Stage</a:t>
            </a:r>
            <a:r>
              <a:rPr spc="15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Submission</a:t>
            </a:r>
            <a:r>
              <a:rPr spc="-55" dirty="0"/>
              <a:t> </a:t>
            </a:r>
            <a:r>
              <a:rPr spc="-20" dirty="0"/>
              <a:t>Deck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5110">
              <a:lnSpc>
                <a:spcPts val="1150"/>
              </a:lnSpc>
            </a:pPr>
            <a:r>
              <a:rPr spc="-10" dirty="0"/>
              <a:t>21/23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2293</TotalTime>
  <Words>2943</Words>
  <Application>Microsoft Office PowerPoint</Application>
  <PresentationFormat>Widescreen</PresentationFormat>
  <Paragraphs>457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MT</vt:lpstr>
      <vt:lpstr>Calibri</vt:lpstr>
      <vt:lpstr>Times New Roman</vt:lpstr>
      <vt:lpstr>Wingdings</vt:lpstr>
      <vt:lpstr>Office Theme</vt:lpstr>
      <vt:lpstr>SoI — Prototype Stage Submission Deck Template</vt:lpstr>
      <vt:lpstr>How to Use This Template</vt:lpstr>
      <vt:lpstr>PowerPoint Presentation</vt:lpstr>
      <vt:lpstr>SoI Innovation Pipeline</vt:lpstr>
      <vt:lpstr>PoC Recap — What We Built &amp; Learned</vt:lpstr>
      <vt:lpstr>Prototype Objectives &amp; Success Criteria</vt:lpstr>
      <vt:lpstr>PowerPoint Presentation</vt:lpstr>
      <vt:lpstr>Prototype Strategy Option A</vt:lpstr>
      <vt:lpstr>Prototype Scope, Requirements &amp; Constraints</vt:lpstr>
      <vt:lpstr>Prototype System Overview — Architecture / Design</vt:lpstr>
      <vt:lpstr>Prototype Build Plan &amp; Timeline (Sprints)</vt:lpstr>
      <vt:lpstr>Resources, BOM &amp; Budget</vt:lpstr>
      <vt:lpstr>Prototype Demo &amp; Validation Plan</vt:lpstr>
      <vt:lpstr>Evidence — Prototype Results &amp; Iterations</vt:lpstr>
      <vt:lpstr>Prototype Demo &amp; Artifacts</vt:lpstr>
      <vt:lpstr>Risks, Limitations &amp; Mitigations</vt:lpstr>
      <vt:lpstr>Go / Refine / Pivot &amp; Next Steps → MVP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ROSHINI P Panneerselvam</dc:creator>
  <cp:lastModifiedBy>ROSHINI P Panneerselvam</cp:lastModifiedBy>
  <cp:revision>8</cp:revision>
  <dcterms:created xsi:type="dcterms:W3CDTF">2026-01-26T11:20:06Z</dcterms:created>
  <dcterms:modified xsi:type="dcterms:W3CDTF">2026-01-28T15:50:23Z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2026-01-26T00:00:00Z</vt:filetime>
  </property>
  <property fmtid="{D5CDD505-2E9C-101B-9397-08002B2CF9AE}" pid="3" name="LastSaved">
    <vt:filetime>2026-01-26T00:00:00Z</vt:filetime>
  </property>
  <property fmtid="{D5CDD505-2E9C-101B-9397-08002B2CF9AE}" pid="4" name="Producer">
    <vt:lpwstr>iLovePDF</vt:lpwstr>
  </property>
</Properties>
</file>