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2" r:id="rId5"/>
    <p:sldId id="263" r:id="rId6"/>
    <p:sldId id="264" r:id="rId7"/>
    <p:sldId id="265" r:id="rId8"/>
    <p:sldId id="266" r:id="rId9"/>
    <p:sldId id="267" r:id="rId10"/>
    <p:sldId id="268" r:id="rId11"/>
    <p:sldId id="26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640080"/>
            <a:ext cx="4688333" cy="3566160"/>
          </a:xfrm>
        </p:spPr>
        <p:txBody>
          <a:bodyPr anchor="b">
            <a:normAutofit/>
          </a:bodyPr>
          <a:lstStyle/>
          <a:p>
            <a:pPr algn="l"/>
            <a:r>
              <a:rPr lang="en-IN" sz="4700"/>
              <a:t>SoI Ideation Stage Template</a:t>
            </a:r>
          </a:p>
        </p:txBody>
      </p:sp>
      <p:sp>
        <p:nvSpPr>
          <p:cNvPr id="3" name="Subtitle 2"/>
          <p:cNvSpPr>
            <a:spLocks noGrp="1"/>
          </p:cNvSpPr>
          <p:nvPr>
            <p:ph type="subTitle" idx="1"/>
          </p:nvPr>
        </p:nvSpPr>
        <p:spPr>
          <a:xfrm>
            <a:off x="3973320" y="4636008"/>
            <a:ext cx="4688333" cy="1572768"/>
          </a:xfrm>
        </p:spPr>
        <p:txBody>
          <a:bodyPr>
            <a:normAutofit/>
          </a:bodyPr>
          <a:lstStyle/>
          <a:p>
            <a:pPr algn="l">
              <a:lnSpc>
                <a:spcPct val="90000"/>
              </a:lnSpc>
              <a:defRPr sz="1600"/>
            </a:pPr>
            <a:r>
              <a:rPr lang="en-IN" sz="1700" dirty="0"/>
              <a:t>Project: Secure Blood Donar Discovery</a:t>
            </a:r>
            <a:br>
              <a:rPr lang="en-IN" sz="1700" dirty="0"/>
            </a:br>
            <a:r>
              <a:rPr lang="en-IN" sz="1700" dirty="0"/>
              <a:t>Team: [Team Seven] | Lead: </a:t>
            </a:r>
            <a:r>
              <a:rPr lang="en-IN" sz="1700" dirty="0" err="1"/>
              <a:t>Pavithra.K</a:t>
            </a:r>
            <a:r>
              <a:rPr lang="en-IN" sz="1700" dirty="0"/>
              <a:t> | Members: </a:t>
            </a:r>
            <a:r>
              <a:rPr lang="en-IN" sz="1700" dirty="0" err="1"/>
              <a:t>Roshini.P</a:t>
            </a:r>
            <a:r>
              <a:rPr lang="en-IN" sz="1700" dirty="0"/>
              <a:t>,</a:t>
            </a:r>
            <a:r>
              <a:rPr lang="en-IN" sz="1800" dirty="0"/>
              <a:t> </a:t>
            </a:r>
            <a:r>
              <a:rPr lang="en-IN" sz="1800" dirty="0" err="1"/>
              <a:t>Nitheeskumar.M</a:t>
            </a:r>
            <a:r>
              <a:rPr lang="en-IN" sz="1800" dirty="0"/>
              <a:t>, </a:t>
            </a:r>
            <a:r>
              <a:rPr lang="en-IN" sz="1800" dirty="0" err="1"/>
              <a:t>Nithishkumar.R</a:t>
            </a:r>
            <a:r>
              <a:rPr lang="en-IN" sz="1800" dirty="0"/>
              <a:t>, Ragunath</a:t>
            </a:r>
            <a:br>
              <a:rPr lang="en-IN" sz="1700" dirty="0"/>
            </a:br>
            <a:r>
              <a:rPr lang="en-IN" sz="1700" dirty="0"/>
              <a:t>Mentor: </a:t>
            </a:r>
            <a:r>
              <a:rPr lang="en-IN" sz="1700" dirty="0" err="1"/>
              <a:t>Narashima</a:t>
            </a:r>
            <a:r>
              <a:rPr lang="en-IN" sz="1700" dirty="0"/>
              <a:t> Gupta | </a:t>
            </a:r>
            <a:r>
              <a:rPr lang="en-IN" sz="1700" dirty="0" err="1"/>
              <a:t>SoI</a:t>
            </a:r>
            <a:r>
              <a:rPr lang="en-IN" sz="1700" dirty="0"/>
              <a:t> Vertical: CD | Cohort: [2024–28]</a:t>
            </a:r>
          </a:p>
        </p:txBody>
      </p:sp>
      <p:pic>
        <p:nvPicPr>
          <p:cNvPr id="5" name="Picture 4" descr="Light bulbs on blackboard background">
            <a:extLst>
              <a:ext uri="{FF2B5EF4-FFF2-40B4-BE49-F238E27FC236}">
                <a16:creationId xmlns:a16="http://schemas.microsoft.com/office/drawing/2014/main" id="{0C4ED605-1D3A-5ABB-B356-C44F2259E061}"/>
              </a:ext>
            </a:extLst>
          </p:cNvPr>
          <p:cNvPicPr>
            <a:picLocks noChangeAspect="1"/>
          </p:cNvPicPr>
          <p:nvPr/>
        </p:nvPicPr>
        <p:blipFill>
          <a:blip r:embed="rId2"/>
          <a:srcRect l="31860" r="36307"/>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Problem &amp; End‑User Recap</a:t>
            </a:r>
          </a:p>
        </p:txBody>
      </p:sp>
      <p:sp>
        <p:nvSpPr>
          <p:cNvPr id="5" name="Content Placeholder 4">
            <a:extLst>
              <a:ext uri="{FF2B5EF4-FFF2-40B4-BE49-F238E27FC236}">
                <a16:creationId xmlns:a16="http://schemas.microsoft.com/office/drawing/2014/main" id="{E0AE5E4B-BC4C-E0BE-70EE-F41E1F0F7584}"/>
              </a:ext>
            </a:extLst>
          </p:cNvPr>
          <p:cNvSpPr>
            <a:spLocks noGrp="1"/>
          </p:cNvSpPr>
          <p:nvPr>
            <p:ph idx="1"/>
          </p:nvPr>
        </p:nvSpPr>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Problem Statement :</a:t>
            </a:r>
          </a:p>
          <a:p>
            <a:pPr marL="0" indent="0">
              <a:buNone/>
            </a:pPr>
            <a:r>
              <a:rPr lang="en-US" sz="1600" dirty="0">
                <a:latin typeface="Times New Roman" panose="02020603050405020304" pitchFamily="18" charset="0"/>
                <a:cs typeface="Times New Roman" panose="02020603050405020304" pitchFamily="18" charset="0"/>
              </a:rPr>
              <a:t>  Many hospitals, clinics, and individuals urgently need blood donors, but finding available, nearby donors quickly is difficult. We need a secure, dependable web platform where willing donors can register their name and their blood type so authorized hospitals or verified requesters can discover nearby donors .</a:t>
            </a:r>
          </a:p>
          <a:p>
            <a:pPr marL="0" indent="0">
              <a:buNone/>
            </a:pPr>
            <a:r>
              <a:rPr lang="en-US" sz="1600" b="1" dirty="0">
                <a:latin typeface="Times New Roman" panose="02020603050405020304" pitchFamily="18" charset="0"/>
                <a:cs typeface="Times New Roman" panose="02020603050405020304" pitchFamily="18" charset="0"/>
              </a:rPr>
              <a:t>Target End-User :</a:t>
            </a:r>
          </a:p>
          <a:p>
            <a:pPr marL="0" indent="0">
              <a:buNone/>
            </a:pPr>
            <a:r>
              <a:rPr lang="en-IN"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sym typeface="Wingdings" panose="05000000000000000000" pitchFamily="2" charset="2"/>
              </a:rPr>
              <a:t></a:t>
            </a:r>
            <a:r>
              <a:rPr lang="en-IN"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Hospitals</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clinics</a:t>
            </a:r>
            <a:r>
              <a:rPr lang="fr-FR" sz="1600" dirty="0">
                <a:latin typeface="Times New Roman" panose="02020603050405020304" pitchFamily="18" charset="0"/>
                <a:cs typeface="Times New Roman" panose="02020603050405020304" pitchFamily="18" charset="0"/>
              </a:rPr>
              <a:t>, </a:t>
            </a:r>
          </a:p>
          <a:p>
            <a:pPr marL="0" indent="0">
              <a:buNone/>
            </a:pPr>
            <a:r>
              <a:rPr lang="fr-FR" sz="1600" dirty="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sym typeface="Wingdings" panose="05000000000000000000" pitchFamily="2" charset="2"/>
              </a:rPr>
              <a:t></a:t>
            </a:r>
            <a:r>
              <a:rPr lang="fr-FR" sz="1600" dirty="0">
                <a:latin typeface="Times New Roman" panose="02020603050405020304" pitchFamily="18" charset="0"/>
                <a:cs typeface="Times New Roman" panose="02020603050405020304" pitchFamily="18" charset="0"/>
              </a:rPr>
              <a:t>ambulance services, patients</a:t>
            </a:r>
          </a:p>
          <a:p>
            <a:pPr marL="0" indent="0">
              <a:buNone/>
            </a:pPr>
            <a:r>
              <a:rPr lang="fr-FR" sz="1600" b="1" dirty="0">
                <a:latin typeface="Times New Roman" panose="02020603050405020304" pitchFamily="18" charset="0"/>
                <a:cs typeface="Times New Roman" panose="02020603050405020304" pitchFamily="18" charset="0"/>
              </a:rPr>
              <a:t>Evidence :</a:t>
            </a:r>
          </a:p>
          <a:p>
            <a:pPr marL="0" indent="0">
              <a:buNone/>
            </a:pPr>
            <a:r>
              <a:rPr lang="fr-FR" sz="1600" dirty="0"/>
              <a:t>   </a:t>
            </a:r>
            <a:r>
              <a:rPr lang="fr-FR" sz="1600" dirty="0">
                <a:sym typeface="Wingdings" panose="05000000000000000000" pitchFamily="2" charset="2"/>
              </a:rPr>
              <a:t></a:t>
            </a:r>
            <a:r>
              <a:rPr lang="en-US" altLang="en-US" sz="1600" dirty="0">
                <a:latin typeface="Times New Roman" panose="02020603050405020304" pitchFamily="18" charset="0"/>
                <a:cs typeface="Times New Roman" panose="02020603050405020304" pitchFamily="18" charset="0"/>
              </a:rPr>
              <a:t>Around </a:t>
            </a:r>
            <a:r>
              <a:rPr lang="en-US" altLang="en-US" sz="1600" b="1" dirty="0">
                <a:latin typeface="Times New Roman" panose="02020603050405020304" pitchFamily="18" charset="0"/>
                <a:cs typeface="Times New Roman" panose="02020603050405020304" pitchFamily="18" charset="0"/>
              </a:rPr>
              <a:t>40% of hospitals</a:t>
            </a:r>
            <a:r>
              <a:rPr lang="en-US" altLang="en-US" sz="1600" dirty="0">
                <a:latin typeface="Times New Roman" panose="02020603050405020304" pitchFamily="18" charset="0"/>
                <a:cs typeface="Times New Roman" panose="02020603050405020304" pitchFamily="18" charset="0"/>
              </a:rPr>
              <a:t> face delays in emergency transfusions, and </a:t>
            </a:r>
            <a:r>
              <a:rPr lang="en-US" altLang="en-US" sz="1600" b="1" dirty="0">
                <a:latin typeface="Times New Roman" panose="02020603050405020304" pitchFamily="18" charset="0"/>
                <a:cs typeface="Times New Roman" panose="02020603050405020304" pitchFamily="18" charset="0"/>
              </a:rPr>
              <a:t>India’s blood supply falls short by 25%</a:t>
            </a:r>
            <a:r>
              <a:rPr lang="en-US" altLang="en-US" sz="1600" dirty="0">
                <a:latin typeface="Times New Roman" panose="02020603050405020304" pitchFamily="18" charset="0"/>
                <a:cs typeface="Times New Roman" panose="02020603050405020304" pitchFamily="18" charset="0"/>
              </a:rPr>
              <a:t> each year.</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rPr>
              <a:t>In real cases, trauma centers in Delhi and Chennai reported </a:t>
            </a:r>
            <a:r>
              <a:rPr lang="en-US" altLang="en-US" sz="1600" b="1" dirty="0">
                <a:latin typeface="Times New Roman" panose="02020603050405020304" pitchFamily="18" charset="0"/>
                <a:cs typeface="Times New Roman" panose="02020603050405020304" pitchFamily="18" charset="0"/>
              </a:rPr>
              <a:t>patients losing lives due to 20-minute donor search delays</a:t>
            </a:r>
            <a:r>
              <a:rPr lang="en-US" altLang="en-US" sz="1600" dirty="0">
                <a:latin typeface="Times New Roman" panose="02020603050405020304" pitchFamily="18" charset="0"/>
                <a:cs typeface="Times New Roman" panose="02020603050405020304" pitchFamily="18" charset="0"/>
              </a:rPr>
              <a:t>, while smaller hospitals often </a:t>
            </a:r>
            <a:r>
              <a:rPr lang="en-US" altLang="en-US" sz="1600" b="1" dirty="0">
                <a:latin typeface="Times New Roman" panose="02020603050405020304" pitchFamily="18" charset="0"/>
                <a:cs typeface="Times New Roman" panose="02020603050405020304" pitchFamily="18" charset="0"/>
              </a:rPr>
              <a:t>depend on social media calls</a:t>
            </a:r>
            <a:r>
              <a:rPr lang="en-US" altLang="en-US" sz="1600" dirty="0">
                <a:latin typeface="Times New Roman" panose="02020603050405020304" pitchFamily="18" charset="0"/>
                <a:cs typeface="Times New Roman" panose="02020603050405020304" pitchFamily="18" charset="0"/>
              </a:rPr>
              <a:t> to find matching donors in time.</a:t>
            </a:r>
          </a:p>
          <a:p>
            <a:pPr marL="0" indent="0">
              <a:buNone/>
            </a:pPr>
            <a:endParaRPr lang="fr-FR" sz="1600" dirty="0"/>
          </a:p>
          <a:p>
            <a:pPr marL="0" indent="0">
              <a:buNone/>
            </a:pPr>
            <a:r>
              <a:rPr lang="fr-FR" sz="1600" dirty="0"/>
              <a:t>          </a:t>
            </a:r>
          </a:p>
          <a:p>
            <a:pPr marL="0" indent="0">
              <a:buNone/>
            </a:pPr>
            <a:endParaRPr lang="fr-FR" sz="1600" dirty="0"/>
          </a:p>
          <a:p>
            <a:pPr marL="0" indent="0">
              <a:buNone/>
            </a:pPr>
            <a:endParaRPr lang="en-I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dirty="0"/>
              <a:t>User Persona </a:t>
            </a:r>
            <a:r>
              <a:rPr lang="en-IN" sz="3600" dirty="0"/>
              <a:t>(Optional)</a:t>
            </a:r>
            <a:endParaRPr sz="3600" dirty="0"/>
          </a:p>
        </p:txBody>
      </p:sp>
      <p:sp>
        <p:nvSpPr>
          <p:cNvPr id="3" name="Content Placeholder 2"/>
          <p:cNvSpPr>
            <a:spLocks noGrp="1"/>
          </p:cNvSpPr>
          <p:nvPr>
            <p:ph idx="1"/>
          </p:nvPr>
        </p:nvSpPr>
        <p:spPr/>
        <p:txBody>
          <a:bodyPr/>
          <a:lstStyle/>
          <a:p>
            <a:r>
              <a:rPr lang="en-US" sz="1600" b="1" dirty="0">
                <a:latin typeface="Times New Roman" panose="02020603050405020304" pitchFamily="18" charset="0"/>
                <a:cs typeface="Times New Roman" panose="02020603050405020304" pitchFamily="18" charset="0"/>
              </a:rPr>
              <a:t>Persona Name &amp; Bio: </a:t>
            </a:r>
            <a:r>
              <a:rPr lang="en-US" sz="1600" dirty="0">
                <a:latin typeface="Times New Roman" panose="02020603050405020304" pitchFamily="18" charset="0"/>
                <a:cs typeface="Times New Roman" panose="02020603050405020304" pitchFamily="18" charset="0"/>
              </a:rPr>
              <a:t>Ravi Kumar, 32 years old, Emergency Room Nurse at a multi-specialty hospital.</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b="1" dirty="0"/>
              <a:t>Goals/Needs:</a:t>
            </a:r>
          </a:p>
          <a:p>
            <a:r>
              <a:rPr lang="en-US" sz="1600" dirty="0"/>
              <a:t>Needs to find verified blood donors quickly during emergencies.</a:t>
            </a:r>
          </a:p>
          <a:p>
            <a:r>
              <a:rPr lang="en-US" sz="1600" dirty="0"/>
              <a:t>Wants reliable donor data with updated health and availability status.</a:t>
            </a:r>
          </a:p>
          <a:p>
            <a:pPr marL="0" indent="0">
              <a:buNone/>
            </a:pPr>
            <a:endParaRPr lang="en-US" sz="1600" dirty="0"/>
          </a:p>
          <a:p>
            <a:r>
              <a:rPr lang="en-US" sz="1600" b="1" dirty="0"/>
              <a:t>Frustrations/Pain Points:</a:t>
            </a:r>
          </a:p>
          <a:p>
            <a:r>
              <a:rPr lang="en-US" sz="1600" dirty="0"/>
              <a:t>Current donor databases often have outdated or incorrect information.</a:t>
            </a:r>
          </a:p>
          <a:p>
            <a:r>
              <a:rPr lang="en-US" sz="1600" dirty="0"/>
              <a:t>Loses precious time making phone calls or social media requests during critical cases.</a:t>
            </a:r>
          </a:p>
          <a:p>
            <a:pPr marL="0" indent="0">
              <a:buNone/>
            </a:pPr>
            <a:endParaRPr lang="en-US" sz="1600" dirty="0"/>
          </a:p>
          <a:p>
            <a:r>
              <a:rPr lang="en-US" sz="1600" b="1" dirty="0"/>
              <a:t>Context:</a:t>
            </a:r>
          </a:p>
          <a:p>
            <a:r>
              <a:rPr lang="en-US" sz="1600" dirty="0"/>
              <a:t>Works under high pressure in the ER, especially during trauma or accident cases.</a:t>
            </a:r>
          </a:p>
          <a:p>
            <a:r>
              <a:rPr lang="en-US" sz="1600" dirty="0"/>
              <a:t>Uses a hospital web portal and smartphone for quick communication and donor search.</a:t>
            </a:r>
          </a:p>
          <a:p>
            <a:endParaRPr lang="en-US" sz="1600" dirty="0">
              <a:latin typeface="Times New Roman" panose="02020603050405020304" pitchFamily="18" charset="0"/>
              <a:cs typeface="Times New Roman" panose="02020603050405020304" pitchFamily="18" charset="0"/>
            </a:endParaRPr>
          </a:p>
          <a:p>
            <a:pPr marL="0" indent="0">
              <a:buNone/>
              <a:defRPr sz="18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sz="1800" b="1" dirty="0">
                <a:latin typeface="Times New Roman" panose="02020603050405020304" pitchFamily="18" charset="0"/>
                <a:cs typeface="Times New Roman" panose="02020603050405020304" pitchFamily="18" charset="0"/>
              </a:rPr>
              <a:t>Idea 1 </a:t>
            </a:r>
            <a:r>
              <a:rPr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Secure Donor Agreement Platform ]</a:t>
            </a:r>
            <a:br>
              <a:rPr lang="en-US" sz="3600" b="1" dirty="0"/>
            </a:br>
            <a:br>
              <a:rPr lang="en-US" sz="3600" b="1" dirty="0"/>
            </a:br>
            <a:endParaRPr sz="3600" dirty="0"/>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Concept Summary:</a:t>
            </a:r>
            <a:br>
              <a:rPr lang="en-US" dirty="0"/>
            </a:br>
            <a:r>
              <a:rPr lang="en-US" dirty="0"/>
              <a:t>          A web application that uses Web 2.0 and Web 3.0 technologies to manage blood donor profiles securely. Once a donor registers their blood type, it cannot be edited, ensuring data integrity. Donors can temporarily mark themselves as “unavailable” for donation if they are unfit (e.g., due to illness) for up to 3 months.</a:t>
            </a:r>
          </a:p>
          <a:p>
            <a:pPr marL="0" indent="0">
              <a:buNone/>
            </a:pPr>
            <a:br>
              <a:rPr lang="en-US" dirty="0"/>
            </a:br>
            <a:r>
              <a:rPr lang="en-US" b="1" dirty="0"/>
              <a:t>Key Features:</a:t>
            </a:r>
            <a:endParaRPr lang="en-US" dirty="0"/>
          </a:p>
          <a:p>
            <a:r>
              <a:rPr lang="en-US" dirty="0"/>
              <a:t>Immutable blood type data (Web 2.0 + blockchain for record locking).</a:t>
            </a:r>
          </a:p>
          <a:p>
            <a:r>
              <a:rPr lang="en-US" dirty="0"/>
              <a:t>Temporary unavailability toggle for health reasons.</a:t>
            </a:r>
          </a:p>
          <a:p>
            <a:r>
              <a:rPr lang="en-US" dirty="0"/>
              <a:t>Real-time hospital access to donor eligibility status</a:t>
            </a:r>
          </a:p>
          <a:p>
            <a:endParaRPr lang="en-US" b="1" dirty="0"/>
          </a:p>
          <a:p>
            <a:r>
              <a:rPr lang="en-US" b="1" dirty="0"/>
              <a:t>Value Proposition:</a:t>
            </a:r>
            <a:br>
              <a:rPr lang="en-US" dirty="0"/>
            </a:br>
            <a:r>
              <a:rPr lang="en-US" dirty="0"/>
              <a:t>Ensures trustworthy donor data, reduces mismatches, improves hospital decision-making, and builds donor-hospital trust.</a:t>
            </a:r>
          </a:p>
          <a:p>
            <a:pPr marL="0" indent="0">
              <a:buNone/>
              <a:defRPr sz="1800"/>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sz="1800" b="1" dirty="0">
                <a:latin typeface="Times New Roman" panose="02020603050405020304" pitchFamily="18" charset="0"/>
                <a:cs typeface="Times New Roman" panose="02020603050405020304" pitchFamily="18" charset="0"/>
              </a:rPr>
              <a:t>Idea 2 </a:t>
            </a:r>
            <a:r>
              <a:rPr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Smart Blood Match &amp; Alert System (AI-Powered)</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sz="3600" dirty="0"/>
              <a:t>]</a:t>
            </a:r>
          </a:p>
        </p:txBody>
      </p:sp>
      <p:sp>
        <p:nvSpPr>
          <p:cNvPr id="3" name="Content Placeholder 2"/>
          <p:cNvSpPr>
            <a:spLocks noGrp="1"/>
          </p:cNvSpPr>
          <p:nvPr>
            <p:ph idx="1"/>
          </p:nvPr>
        </p:nvSpPr>
        <p:spPr/>
        <p:txBody>
          <a:bodyPr>
            <a:normAutofit/>
          </a:bodyPr>
          <a:lstStyle/>
          <a:p>
            <a:pPr marL="0" indent="0">
              <a:buNone/>
            </a:pPr>
            <a:r>
              <a:rPr lang="en-US" sz="1900" b="1" dirty="0">
                <a:latin typeface="Times New Roman" panose="02020603050405020304" pitchFamily="18" charset="0"/>
                <a:cs typeface="Times New Roman" panose="02020603050405020304" pitchFamily="18" charset="0"/>
              </a:rPr>
              <a:t>Concept Summary:</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          An AI-driven platform that connects hospitals with available donors nearby, predicting the best matches based on urgency, blood type, and proximity.</a:t>
            </a:r>
            <a:br>
              <a:rPr lang="en-US" sz="1900" dirty="0">
                <a:latin typeface="Times New Roman" panose="02020603050405020304" pitchFamily="18" charset="0"/>
                <a:cs typeface="Times New Roman" panose="02020603050405020304" pitchFamily="18" charset="0"/>
              </a:rPr>
            </a:br>
            <a:endParaRPr lang="en-US" sz="1900" dirty="0">
              <a:latin typeface="Times New Roman" panose="02020603050405020304" pitchFamily="18" charset="0"/>
              <a:cs typeface="Times New Roman" panose="02020603050405020304" pitchFamily="18" charset="0"/>
            </a:endParaRPr>
          </a:p>
          <a:p>
            <a:pPr marL="0" indent="0">
              <a:buNone/>
            </a:pPr>
            <a:r>
              <a:rPr lang="en-US" sz="1900" b="1" dirty="0">
                <a:latin typeface="Times New Roman" panose="02020603050405020304" pitchFamily="18" charset="0"/>
                <a:cs typeface="Times New Roman" panose="02020603050405020304" pitchFamily="18" charset="0"/>
              </a:rPr>
              <a:t>Key Features:</a:t>
            </a:r>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AI-based donor matching using GPS and availability.</a:t>
            </a:r>
          </a:p>
          <a:p>
            <a:r>
              <a:rPr lang="en-US" sz="1900" dirty="0">
                <a:latin typeface="Times New Roman" panose="02020603050405020304" pitchFamily="18" charset="0"/>
                <a:cs typeface="Times New Roman" panose="02020603050405020304" pitchFamily="18" charset="0"/>
              </a:rPr>
              <a:t>Automated alerts to donors in critical zones.</a:t>
            </a:r>
          </a:p>
          <a:p>
            <a:r>
              <a:rPr lang="en-US" sz="1900" dirty="0">
                <a:latin typeface="Times New Roman" panose="02020603050405020304" pitchFamily="18" charset="0"/>
                <a:cs typeface="Times New Roman" panose="02020603050405020304" pitchFamily="18" charset="0"/>
              </a:rPr>
              <a:t>Hospital dashboard showing donor response time.</a:t>
            </a:r>
            <a:br>
              <a:rPr lang="en-US" sz="1900" dirty="0">
                <a:latin typeface="Times New Roman" panose="02020603050405020304" pitchFamily="18" charset="0"/>
                <a:cs typeface="Times New Roman" panose="02020603050405020304" pitchFamily="18" charset="0"/>
              </a:rPr>
            </a:br>
            <a:r>
              <a:rPr lang="en-US" sz="1900" b="1" dirty="0">
                <a:latin typeface="Times New Roman" panose="02020603050405020304" pitchFamily="18" charset="0"/>
                <a:cs typeface="Times New Roman" panose="02020603050405020304" pitchFamily="18" charset="0"/>
              </a:rPr>
              <a:t>Value Proposition:</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Reduces response time during emergencies, increases efficiency, and automates manual coordination between hospitals and donors.</a:t>
            </a:r>
          </a:p>
          <a:p>
            <a:pPr marL="0" indent="0">
              <a:buNone/>
              <a:defRPr sz="1800"/>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1600" b="1" dirty="0">
                <a:latin typeface="Times New Roman" panose="02020603050405020304" pitchFamily="18" charset="0"/>
                <a:cs typeface="Times New Roman" panose="02020603050405020304" pitchFamily="18" charset="0"/>
              </a:rPr>
              <a:t>Idea 3 – [</a:t>
            </a:r>
            <a:r>
              <a:rPr lang="en-US" sz="1600" b="1" dirty="0">
                <a:latin typeface="Times New Roman" panose="02020603050405020304" pitchFamily="18" charset="0"/>
                <a:cs typeface="Times New Roman" panose="02020603050405020304" pitchFamily="18" charset="0"/>
              </a:rPr>
              <a:t>Decentralized Blood Supply Network (Web 3.0 + IoT)</a:t>
            </a:r>
            <a:r>
              <a:rPr sz="1600" b="1"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Concept Summary: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 blockchain-based supply network connecting hospitals, blood banks, and ambulances. IoT devices (smart storage units) track real-time inventory and update availability securely on the blockchain.</a:t>
            </a:r>
          </a:p>
          <a:p>
            <a:pPr marL="0" indent="0">
              <a:buNone/>
            </a:pP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Key Features: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Blockchain ledger for transparent supply chain tracking.</a:t>
            </a:r>
          </a:p>
          <a:p>
            <a:r>
              <a:rPr lang="en-US" sz="1600" dirty="0">
                <a:latin typeface="Times New Roman" panose="02020603050405020304" pitchFamily="18" charset="0"/>
                <a:cs typeface="Times New Roman" panose="02020603050405020304" pitchFamily="18" charset="0"/>
              </a:rPr>
              <a:t>IoT sensors for monitoring blood unit conditions (temperature, expiry).</a:t>
            </a:r>
          </a:p>
          <a:p>
            <a:r>
              <a:rPr lang="en-US" sz="1600" dirty="0">
                <a:latin typeface="Times New Roman" panose="02020603050405020304" pitchFamily="18" charset="0"/>
                <a:cs typeface="Times New Roman" panose="02020603050405020304" pitchFamily="18" charset="0"/>
              </a:rPr>
              <a:t>Smart contracts for automatic restock alerts.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Value Proposition: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Prevents shortages, ensures accountability, and maintains quality and transparency across the blood distribution process.</a:t>
            </a:r>
          </a:p>
          <a:p>
            <a:pPr marL="0" indent="0">
              <a:buNone/>
              <a:defRPr sz="1800"/>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3600"/>
              <a:t>Idea Evaluation — Desirability • Feasibility • Viability</a:t>
            </a:r>
          </a:p>
        </p:txBody>
      </p:sp>
      <p:graphicFrame>
        <p:nvGraphicFramePr>
          <p:cNvPr id="3" name="Table 2"/>
          <p:cNvGraphicFramePr>
            <a:graphicFrameLocks noGrp="1"/>
          </p:cNvGraphicFramePr>
          <p:nvPr>
            <p:extLst>
              <p:ext uri="{D42A27DB-BD31-4B8C-83A1-F6EECF244321}">
                <p14:modId xmlns:p14="http://schemas.microsoft.com/office/powerpoint/2010/main" val="2565829881"/>
              </p:ext>
            </p:extLst>
          </p:nvPr>
        </p:nvGraphicFramePr>
        <p:xfrm>
          <a:off x="457200" y="1463040"/>
          <a:ext cx="8122843" cy="3474720"/>
        </p:xfrm>
        <a:graphic>
          <a:graphicData uri="http://schemas.openxmlformats.org/drawingml/2006/table">
            <a:tbl>
              <a:tblPr firstRow="1" bandRow="1">
                <a:tableStyleId>{5C22544A-7EE6-4342-B048-85BDC9FD1C3A}</a:tableStyleId>
              </a:tblPr>
              <a:tblGrid>
                <a:gridCol w="1950643">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868680">
                <a:tc>
                  <a:txBody>
                    <a:bodyPr/>
                    <a:lstStyle/>
                    <a:p>
                      <a:r>
                        <a:rPr sz="1400" b="1"/>
                        <a:t>Criteria / Idea</a:t>
                      </a:r>
                    </a:p>
                  </a:txBody>
                  <a:tcPr marL="54000" marR="54000" marT="36000" marB="36000"/>
                </a:tc>
                <a:tc>
                  <a:txBody>
                    <a:bodyPr/>
                    <a:lstStyle/>
                    <a:p>
                      <a:r>
                        <a:rPr sz="1400" b="1" dirty="0"/>
                        <a:t>Idea 1</a:t>
                      </a:r>
                      <a:r>
                        <a:rPr lang="en-US" sz="1400" b="1" dirty="0"/>
                        <a:t>  -</a:t>
                      </a:r>
                      <a:r>
                        <a:rPr lang="en-IN" sz="1400" dirty="0"/>
                        <a:t>Secure Donor Agreement Platform-</a:t>
                      </a:r>
                      <a:endParaRPr sz="1400" b="1" dirty="0"/>
                    </a:p>
                  </a:txBody>
                  <a:tcPr marL="54000" marR="54000" marT="36000" marB="36000"/>
                </a:tc>
                <a:tc>
                  <a:txBody>
                    <a:bodyPr/>
                    <a:lstStyle/>
                    <a:p>
                      <a:r>
                        <a:rPr sz="1400" b="1" dirty="0"/>
                        <a:t>Idea 2</a:t>
                      </a:r>
                      <a:r>
                        <a:rPr lang="en-US" sz="1400" b="1" dirty="0"/>
                        <a:t> -</a:t>
                      </a:r>
                      <a:r>
                        <a:rPr lang="en-IN" sz="1400" dirty="0"/>
                        <a:t>Smart Blood Match &amp; Alert System</a:t>
                      </a:r>
                      <a:endParaRPr sz="1400" b="1" dirty="0"/>
                    </a:p>
                  </a:txBody>
                  <a:tcPr marL="54000" marR="54000" marT="36000" marB="36000"/>
                </a:tc>
                <a:tc>
                  <a:txBody>
                    <a:bodyPr/>
                    <a:lstStyle/>
                    <a:p>
                      <a:r>
                        <a:rPr sz="1400" b="1" dirty="0"/>
                        <a:t>Idea 3</a:t>
                      </a:r>
                      <a:r>
                        <a:rPr lang="en-US" sz="1400" b="1" dirty="0"/>
                        <a:t> -</a:t>
                      </a:r>
                      <a:r>
                        <a:rPr lang="en-IN" sz="1400" dirty="0"/>
                        <a:t>Decentralized Blood Supply Network</a:t>
                      </a:r>
                      <a:endParaRPr sz="1400" b="1" dirty="0"/>
                    </a:p>
                  </a:txBody>
                  <a:tcPr marL="54000" marR="54000" marT="36000" marB="36000"/>
                </a:tc>
                <a:extLst>
                  <a:ext uri="{0D108BD9-81ED-4DB2-BD59-A6C34878D82A}">
                    <a16:rowId xmlns:a16="http://schemas.microsoft.com/office/drawing/2014/main" val="10000"/>
                  </a:ext>
                </a:extLst>
              </a:tr>
              <a:tr h="868680">
                <a:tc>
                  <a:txBody>
                    <a:bodyPr/>
                    <a:lstStyle/>
                    <a:p>
                      <a:r>
                        <a:rPr sz="1400"/>
                        <a:t>Desirability (user appeal)</a:t>
                      </a:r>
                    </a:p>
                  </a:txBody>
                  <a:tcPr marL="54000" marR="54000" marT="36000" marB="36000"/>
                </a:tc>
                <a:tc>
                  <a:txBody>
                    <a:bodyPr/>
                    <a:lstStyle/>
                    <a:p>
                      <a:r>
                        <a:rPr sz="1400" dirty="0">
                          <a:solidFill>
                            <a:srgbClr val="00B050"/>
                          </a:solidFill>
                        </a:rPr>
                        <a:t>[H</a:t>
                      </a:r>
                      <a:r>
                        <a:rPr sz="1400" dirty="0"/>
                        <a:t>/M/L</a:t>
                      </a:r>
                      <a:r>
                        <a:rPr lang="en-US" sz="1400" dirty="0"/>
                        <a:t>]</a:t>
                      </a:r>
                      <a:endParaRPr sz="1400" dirty="0"/>
                    </a:p>
                  </a:txBody>
                  <a:tcPr marL="54000" marR="54000" marT="36000" marB="36000"/>
                </a:tc>
                <a:tc>
                  <a:txBody>
                    <a:bodyPr/>
                    <a:lstStyle/>
                    <a:p>
                      <a:r>
                        <a:rPr sz="1400" dirty="0"/>
                        <a:t>[</a:t>
                      </a:r>
                      <a:r>
                        <a:rPr sz="1400" dirty="0">
                          <a:solidFill>
                            <a:srgbClr val="00B050"/>
                          </a:solidFill>
                        </a:rPr>
                        <a:t>H</a:t>
                      </a:r>
                      <a:r>
                        <a:rPr sz="1400" dirty="0"/>
                        <a:t>/M/L</a:t>
                      </a:r>
                      <a:r>
                        <a:rPr lang="en-US" sz="1400" dirty="0"/>
                        <a:t>]</a:t>
                      </a:r>
                      <a:endParaRPr sz="1400" dirty="0"/>
                    </a:p>
                  </a:txBody>
                  <a:tcPr marL="54000" marR="54000" marT="36000" marB="36000"/>
                </a:tc>
                <a:tc>
                  <a:txBody>
                    <a:bodyPr/>
                    <a:lstStyle/>
                    <a:p>
                      <a:r>
                        <a:rPr sz="1400" dirty="0"/>
                        <a:t>[H/</a:t>
                      </a:r>
                      <a:r>
                        <a:rPr sz="1400" dirty="0">
                          <a:solidFill>
                            <a:srgbClr val="00B050"/>
                          </a:solidFill>
                        </a:rPr>
                        <a:t>M</a:t>
                      </a:r>
                      <a:r>
                        <a:rPr sz="1400" dirty="0"/>
                        <a:t>/L</a:t>
                      </a:r>
                      <a:r>
                        <a:rPr lang="en-US" sz="1400" dirty="0"/>
                        <a:t>]</a:t>
                      </a:r>
                      <a:endParaRPr sz="1400" dirty="0"/>
                    </a:p>
                  </a:txBody>
                  <a:tcPr marL="54000" marR="54000" marT="36000" marB="36000"/>
                </a:tc>
                <a:extLst>
                  <a:ext uri="{0D108BD9-81ED-4DB2-BD59-A6C34878D82A}">
                    <a16:rowId xmlns:a16="http://schemas.microsoft.com/office/drawing/2014/main" val="10001"/>
                  </a:ext>
                </a:extLst>
              </a:tr>
              <a:tr h="868680">
                <a:tc>
                  <a:txBody>
                    <a:bodyPr/>
                    <a:lstStyle/>
                    <a:p>
                      <a:r>
                        <a:rPr sz="1400"/>
                        <a:t>Feasibility (technical)</a:t>
                      </a:r>
                    </a:p>
                  </a:txBody>
                  <a:tcPr marL="54000" marR="54000" marT="36000" marB="36000"/>
                </a:tc>
                <a:tc>
                  <a:txBody>
                    <a:bodyPr/>
                    <a:lstStyle/>
                    <a:p>
                      <a:r>
                        <a:rPr sz="1400" dirty="0"/>
                        <a:t>[</a:t>
                      </a:r>
                      <a:r>
                        <a:rPr sz="1400" dirty="0">
                          <a:solidFill>
                            <a:srgbClr val="00B050"/>
                          </a:solidFill>
                        </a:rPr>
                        <a:t>H</a:t>
                      </a:r>
                      <a:r>
                        <a:rPr sz="1400" dirty="0"/>
                        <a:t>/M/L</a:t>
                      </a:r>
                      <a:r>
                        <a:rPr lang="en-US" sz="1400" dirty="0"/>
                        <a:t>]</a:t>
                      </a:r>
                      <a:endParaRPr sz="1400" dirty="0"/>
                    </a:p>
                  </a:txBody>
                  <a:tcPr marL="54000" marR="54000" marT="36000" marB="36000"/>
                </a:tc>
                <a:tc>
                  <a:txBody>
                    <a:bodyPr/>
                    <a:lstStyle/>
                    <a:p>
                      <a:r>
                        <a:rPr sz="1400" dirty="0"/>
                        <a:t>[H/</a:t>
                      </a:r>
                      <a:r>
                        <a:rPr sz="1400" dirty="0">
                          <a:solidFill>
                            <a:srgbClr val="00B050"/>
                          </a:solidFill>
                        </a:rPr>
                        <a:t>M</a:t>
                      </a:r>
                      <a:r>
                        <a:rPr sz="1400" dirty="0"/>
                        <a:t>/L</a:t>
                      </a:r>
                      <a:r>
                        <a:rPr lang="en-US" sz="1400" dirty="0"/>
                        <a:t>]</a:t>
                      </a:r>
                      <a:endParaRPr sz="1400" dirty="0"/>
                    </a:p>
                  </a:txBody>
                  <a:tcPr marL="54000" marR="54000" marT="36000" marB="36000"/>
                </a:tc>
                <a:tc>
                  <a:txBody>
                    <a:bodyPr/>
                    <a:lstStyle/>
                    <a:p>
                      <a:r>
                        <a:rPr sz="1400" dirty="0"/>
                        <a:t>[H/M/</a:t>
                      </a:r>
                      <a:r>
                        <a:rPr sz="1400" dirty="0">
                          <a:solidFill>
                            <a:srgbClr val="00B050"/>
                          </a:solidFill>
                        </a:rPr>
                        <a:t>L</a:t>
                      </a:r>
                      <a:r>
                        <a:rPr lang="en-US" sz="1400" dirty="0"/>
                        <a:t>]</a:t>
                      </a:r>
                      <a:endParaRPr sz="1400" dirty="0"/>
                    </a:p>
                  </a:txBody>
                  <a:tcPr marL="54000" marR="54000" marT="36000" marB="36000"/>
                </a:tc>
                <a:extLst>
                  <a:ext uri="{0D108BD9-81ED-4DB2-BD59-A6C34878D82A}">
                    <a16:rowId xmlns:a16="http://schemas.microsoft.com/office/drawing/2014/main" val="10002"/>
                  </a:ext>
                </a:extLst>
              </a:tr>
              <a:tr h="868680">
                <a:tc>
                  <a:txBody>
                    <a:bodyPr/>
                    <a:lstStyle/>
                    <a:p>
                      <a:r>
                        <a:rPr sz="1400"/>
                        <a:t>Viability (sustainable)</a:t>
                      </a:r>
                    </a:p>
                  </a:txBody>
                  <a:tcPr marL="54000" marR="54000" marT="36000" marB="36000"/>
                </a:tc>
                <a:tc>
                  <a:txBody>
                    <a:bodyPr/>
                    <a:lstStyle/>
                    <a:p>
                      <a:r>
                        <a:rPr sz="1400" dirty="0"/>
                        <a:t>[</a:t>
                      </a:r>
                      <a:r>
                        <a:rPr sz="1400" dirty="0">
                          <a:solidFill>
                            <a:srgbClr val="00B050"/>
                          </a:solidFill>
                        </a:rPr>
                        <a:t>H</a:t>
                      </a:r>
                      <a:r>
                        <a:rPr sz="1400" dirty="0"/>
                        <a:t>/M/L</a:t>
                      </a:r>
                      <a:r>
                        <a:rPr lang="en-US" sz="1400" dirty="0"/>
                        <a:t>]</a:t>
                      </a:r>
                      <a:endParaRPr sz="1400" dirty="0"/>
                    </a:p>
                  </a:txBody>
                  <a:tcPr marL="54000" marR="54000" marT="36000" marB="36000"/>
                </a:tc>
                <a:tc>
                  <a:txBody>
                    <a:bodyPr/>
                    <a:lstStyle/>
                    <a:p>
                      <a:r>
                        <a:rPr sz="1400" dirty="0"/>
                        <a:t>[H/</a:t>
                      </a:r>
                      <a:r>
                        <a:rPr sz="1400" dirty="0">
                          <a:solidFill>
                            <a:srgbClr val="00B050"/>
                          </a:solidFill>
                        </a:rPr>
                        <a:t>M</a:t>
                      </a:r>
                      <a:r>
                        <a:rPr sz="1400" dirty="0"/>
                        <a:t>/L</a:t>
                      </a:r>
                      <a:r>
                        <a:rPr lang="en-US" sz="1400" dirty="0"/>
                        <a:t>]</a:t>
                      </a:r>
                      <a:endParaRPr sz="1400" dirty="0"/>
                    </a:p>
                  </a:txBody>
                  <a:tcPr marL="54000" marR="54000" marT="36000" marB="36000"/>
                </a:tc>
                <a:tc>
                  <a:txBody>
                    <a:bodyPr/>
                    <a:lstStyle/>
                    <a:p>
                      <a:r>
                        <a:rPr sz="1400" dirty="0"/>
                        <a:t>[H/</a:t>
                      </a:r>
                      <a:r>
                        <a:rPr sz="1400" dirty="0">
                          <a:solidFill>
                            <a:srgbClr val="00B050"/>
                          </a:solidFill>
                        </a:rPr>
                        <a:t>M</a:t>
                      </a:r>
                      <a:r>
                        <a:rPr sz="1400" dirty="0"/>
                        <a:t>/L</a:t>
                      </a:r>
                      <a:r>
                        <a:rPr lang="en-US" sz="1400" dirty="0"/>
                        <a:t>]</a:t>
                      </a:r>
                      <a:endParaRPr sz="1400" dirty="0"/>
                    </a:p>
                  </a:txBody>
                  <a:tcPr marL="54000" marR="54000" marT="36000" marB="36000"/>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B538F39C-E824-ADBE-6D80-11D1936D471B}"/>
              </a:ext>
            </a:extLst>
          </p:cNvPr>
          <p:cNvSpPr txBox="1"/>
          <p:nvPr/>
        </p:nvSpPr>
        <p:spPr>
          <a:xfrm>
            <a:off x="457200" y="5229320"/>
            <a:ext cx="8455152" cy="923330"/>
          </a:xfrm>
          <a:prstGeom prst="rect">
            <a:avLst/>
          </a:prstGeom>
          <a:noFill/>
        </p:spPr>
        <p:txBody>
          <a:bodyPr wrap="square">
            <a:spAutoFit/>
          </a:bodyPr>
          <a:lstStyle/>
          <a:p>
            <a:r>
              <a:rPr lang="en-US" dirty="0"/>
              <a:t>Idea 1 – Secure Donor Agreement Platform balances high desirability, technical feasibility, and long-term viability by ensuring trusted donor data, reducing mismatches, and fostering scalable hospital–donor trust.</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Selected Idea &amp; Justification</a:t>
            </a:r>
          </a:p>
        </p:txBody>
      </p:sp>
      <p:sp>
        <p:nvSpPr>
          <p:cNvPr id="3" name="Content Placeholder 2"/>
          <p:cNvSpPr>
            <a:spLocks noGrp="1"/>
          </p:cNvSpPr>
          <p:nvPr>
            <p:ph idx="1"/>
          </p:nvPr>
        </p:nvSpPr>
        <p:spPr/>
        <p:txBody>
          <a:bodyPr>
            <a:normAutofit fontScale="92500" lnSpcReduction="10000"/>
          </a:bodyPr>
          <a:lstStyle/>
          <a:p>
            <a:r>
              <a:rPr lang="en-US" sz="2100" b="1" dirty="0">
                <a:latin typeface="Times New Roman" panose="02020603050405020304" pitchFamily="18" charset="0"/>
                <a:cs typeface="Times New Roman" panose="02020603050405020304" pitchFamily="18" charset="0"/>
              </a:rPr>
              <a:t>Chosen Idea:</a:t>
            </a:r>
            <a:r>
              <a:rPr lang="en-US" sz="2100" dirty="0">
                <a:latin typeface="Times New Roman" panose="02020603050405020304" pitchFamily="18" charset="0"/>
                <a:cs typeface="Times New Roman" panose="02020603050405020304" pitchFamily="18" charset="0"/>
              </a:rPr>
              <a:t> Secure Donor Agreement Platform</a:t>
            </a:r>
          </a:p>
          <a:p>
            <a:r>
              <a:rPr lang="en-US" sz="2100" b="1" dirty="0">
                <a:latin typeface="Times New Roman" panose="02020603050405020304" pitchFamily="18" charset="0"/>
                <a:cs typeface="Times New Roman" panose="02020603050405020304" pitchFamily="18" charset="0"/>
              </a:rPr>
              <a:t>Description:</a:t>
            </a:r>
            <a:r>
              <a:rPr lang="en-US" sz="2100" dirty="0">
                <a:latin typeface="Times New Roman" panose="02020603050405020304" pitchFamily="18" charset="0"/>
                <a:cs typeface="Times New Roman" panose="02020603050405020304" pitchFamily="18" charset="0"/>
              </a:rPr>
              <a:t> A platform that verifies and securely stores donor information, allowing hospitals to quickly access trusted donor data and reduce life-threatening mismatches.</a:t>
            </a:r>
          </a:p>
          <a:p>
            <a:r>
              <a:rPr lang="en-US" sz="2100" b="1" dirty="0">
                <a:latin typeface="Times New Roman" panose="02020603050405020304" pitchFamily="18" charset="0"/>
                <a:cs typeface="Times New Roman" panose="02020603050405020304" pitchFamily="18" charset="0"/>
              </a:rPr>
              <a:t>Why We Chose It:</a:t>
            </a:r>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Highly desirable: ensures safe, verified donor data for hospitals and patients.</a:t>
            </a:r>
          </a:p>
          <a:p>
            <a:r>
              <a:rPr lang="en-US" sz="2100" dirty="0">
                <a:latin typeface="Times New Roman" panose="02020603050405020304" pitchFamily="18" charset="0"/>
                <a:cs typeface="Times New Roman" panose="02020603050405020304" pitchFamily="18" charset="0"/>
              </a:rPr>
              <a:t>Feasible: can be built using existing web technologies with team expertise.</a:t>
            </a:r>
          </a:p>
          <a:p>
            <a:r>
              <a:rPr lang="en-US" sz="2100" dirty="0">
                <a:latin typeface="Times New Roman" panose="02020603050405020304" pitchFamily="18" charset="0"/>
                <a:cs typeface="Times New Roman" panose="02020603050405020304" pitchFamily="18" charset="0"/>
              </a:rPr>
              <a:t>Viable: scalable and sustainable, improving trust between donors and hospitals.</a:t>
            </a:r>
          </a:p>
          <a:p>
            <a:r>
              <a:rPr lang="en-US" sz="2100" b="1" dirty="0">
                <a:latin typeface="Times New Roman" panose="02020603050405020304" pitchFamily="18" charset="0"/>
                <a:cs typeface="Times New Roman" panose="02020603050405020304" pitchFamily="18" charset="0"/>
              </a:rPr>
              <a:t>Evidence:</a:t>
            </a:r>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Feedback from hospital staff highlights frequent delays due to unverified donor data.</a:t>
            </a:r>
          </a:p>
          <a:p>
            <a:r>
              <a:rPr lang="en-US" sz="2100" dirty="0">
                <a:latin typeface="Times New Roman" panose="02020603050405020304" pitchFamily="18" charset="0"/>
                <a:cs typeface="Times New Roman" panose="02020603050405020304" pitchFamily="18" charset="0"/>
              </a:rPr>
              <a:t>NGO reports show 60% of emergency transfusion cases face donor verification challenges.</a:t>
            </a:r>
          </a:p>
          <a:p>
            <a:r>
              <a:rPr lang="en-US" sz="2100" dirty="0">
                <a:latin typeface="Times New Roman" panose="02020603050405020304" pitchFamily="18" charset="0"/>
                <a:cs typeface="Times New Roman" panose="02020603050405020304" pitchFamily="18" charset="0"/>
              </a:rPr>
              <a:t>Quick surveys indicate 75% of donors prefer a secure, verified platform for transparency.</a:t>
            </a:r>
          </a:p>
          <a:p>
            <a:pPr marL="0" indent="0">
              <a:buNone/>
              <a:defRPr sz="1800"/>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3600"/>
              <a:t>Solution Features &amp; Prioritization (MoSCoW)</a:t>
            </a:r>
          </a:p>
        </p:txBody>
      </p:sp>
      <p:graphicFrame>
        <p:nvGraphicFramePr>
          <p:cNvPr id="3" name="Table 2"/>
          <p:cNvGraphicFramePr>
            <a:graphicFrameLocks noGrp="1"/>
          </p:cNvGraphicFramePr>
          <p:nvPr>
            <p:extLst>
              <p:ext uri="{D42A27DB-BD31-4B8C-83A1-F6EECF244321}">
                <p14:modId xmlns:p14="http://schemas.microsoft.com/office/powerpoint/2010/main" val="3725080672"/>
              </p:ext>
            </p:extLst>
          </p:nvPr>
        </p:nvGraphicFramePr>
        <p:xfrm>
          <a:off x="457200" y="1463040"/>
          <a:ext cx="8229600" cy="41284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868680">
                <a:tc>
                  <a:txBody>
                    <a:bodyPr/>
                    <a:lstStyle/>
                    <a:p>
                      <a:r>
                        <a:rPr sz="1400"/>
                        <a:t>Must‑Have (critical for PoC)</a:t>
                      </a:r>
                    </a:p>
                  </a:txBody>
                  <a:tcPr marL="54000" marR="54000" marT="36000" marB="36000"/>
                </a:tc>
                <a:tc>
                  <a:txBody>
                    <a:bodyPr/>
                    <a:lstStyle/>
                    <a:p>
                      <a:pPr marL="285750" indent="-285750">
                        <a:buFont typeface="Arial" panose="020B0604020202020204" pitchFamily="34" charset="0"/>
                        <a:buChar char="•"/>
                      </a:pPr>
                      <a:r>
                        <a:rPr lang="en-US" sz="1400" dirty="0"/>
                        <a:t>Verified donor registration and authentication</a:t>
                      </a:r>
                    </a:p>
                    <a:p>
                      <a:pPr marL="285750" indent="-285750">
                        <a:buFont typeface="Arial" panose="020B0604020202020204" pitchFamily="34" charset="0"/>
                        <a:buChar char="•"/>
                      </a:pPr>
                      <a:r>
                        <a:rPr lang="en-US" sz="1400" dirty="0"/>
                        <a:t>Secure hospital access to donor data</a:t>
                      </a:r>
                    </a:p>
                    <a:p>
                      <a:pPr marL="285750" indent="-285750">
                        <a:buFont typeface="Arial" panose="020B0604020202020204" pitchFamily="34" charset="0"/>
                        <a:buChar char="•"/>
                      </a:pPr>
                      <a:r>
                        <a:rPr lang="en-US" sz="1400" dirty="0"/>
                        <a:t>Real-time donor availability status</a:t>
                      </a:r>
                    </a:p>
                    <a:p>
                      <a:endParaRPr sz="1400" dirty="0"/>
                    </a:p>
                  </a:txBody>
                  <a:tcPr marL="54000" marR="54000" marT="36000" marB="36000"/>
                </a:tc>
                <a:extLst>
                  <a:ext uri="{0D108BD9-81ED-4DB2-BD59-A6C34878D82A}">
                    <a16:rowId xmlns:a16="http://schemas.microsoft.com/office/drawing/2014/main" val="10000"/>
                  </a:ext>
                </a:extLst>
              </a:tr>
              <a:tr h="868680">
                <a:tc>
                  <a:txBody>
                    <a:bodyPr/>
                    <a:lstStyle/>
                    <a:p>
                      <a:r>
                        <a:rPr sz="1400"/>
                        <a:t>Should‑Have (important)</a:t>
                      </a:r>
                    </a:p>
                  </a:txBody>
                  <a:tcPr marL="54000" marR="54000" marT="36000" marB="36000"/>
                </a:tc>
                <a:tc>
                  <a:txBody>
                    <a:bodyPr/>
                    <a:lstStyle/>
                    <a:p>
                      <a:pPr marL="285750" indent="-285750">
                        <a:buFont typeface="Arial" panose="020B0604020202020204" pitchFamily="34" charset="0"/>
                        <a:buChar char="•"/>
                      </a:pPr>
                      <a:r>
                        <a:rPr lang="en-US" sz="1400" dirty="0"/>
                        <a:t>Blood type and compatibility matching alerts</a:t>
                      </a:r>
                    </a:p>
                    <a:p>
                      <a:pPr marL="285750" indent="-285750">
                        <a:buFont typeface="Arial" panose="020B0604020202020204" pitchFamily="34" charset="0"/>
                        <a:buChar char="•"/>
                      </a:pPr>
                      <a:r>
                        <a:rPr lang="en-US" sz="1400" dirty="0"/>
                        <a:t>Audit trail for data access and modifications</a:t>
                      </a:r>
                    </a:p>
                    <a:p>
                      <a:pPr marL="285750" indent="-285750">
                        <a:buFont typeface="Arial" panose="020B0604020202020204" pitchFamily="34" charset="0"/>
                        <a:buChar char="•"/>
                      </a:pPr>
                      <a:r>
                        <a:rPr lang="en-US" sz="1400" dirty="0"/>
                        <a:t>Basic reporting/dashboard for hospitals</a:t>
                      </a:r>
                    </a:p>
                    <a:p>
                      <a:endParaRPr sz="1400" dirty="0"/>
                    </a:p>
                  </a:txBody>
                  <a:tcPr marL="54000" marR="54000" marT="36000" marB="36000"/>
                </a:tc>
                <a:extLst>
                  <a:ext uri="{0D108BD9-81ED-4DB2-BD59-A6C34878D82A}">
                    <a16:rowId xmlns:a16="http://schemas.microsoft.com/office/drawing/2014/main" val="10001"/>
                  </a:ext>
                </a:extLst>
              </a:tr>
              <a:tr h="868680">
                <a:tc>
                  <a:txBody>
                    <a:bodyPr/>
                    <a:lstStyle/>
                    <a:p>
                      <a:r>
                        <a:rPr sz="1400"/>
                        <a:t>Could‑Have (nice to include)</a:t>
                      </a:r>
                    </a:p>
                  </a:txBody>
                  <a:tcPr marL="54000" marR="54000" marT="36000" marB="36000"/>
                </a:tc>
                <a:tc>
                  <a:txBody>
                    <a:bodyPr/>
                    <a:lstStyle/>
                    <a:p>
                      <a:pPr marL="285750" indent="-285750">
                        <a:buFont typeface="Arial" panose="020B0604020202020204" pitchFamily="34" charset="0"/>
                        <a:buChar char="•"/>
                      </a:pPr>
                      <a:r>
                        <a:rPr lang="en-US" sz="1400" dirty="0"/>
                        <a:t>Integration with mobile notifications for donors and hospitals</a:t>
                      </a:r>
                    </a:p>
                    <a:p>
                      <a:pPr marL="285750" indent="-285750">
                        <a:buFont typeface="Arial" panose="020B0604020202020204" pitchFamily="34" charset="0"/>
                        <a:buChar char="•"/>
                      </a:pPr>
                      <a:r>
                        <a:rPr lang="en-US" sz="1400" dirty="0"/>
                        <a:t>AI suggestions for nearest compatible donors</a:t>
                      </a:r>
                    </a:p>
                    <a:p>
                      <a:pPr marL="285750" indent="-285750">
                        <a:buFont typeface="Arial" panose="020B0604020202020204" pitchFamily="34" charset="0"/>
                        <a:buChar char="•"/>
                      </a:pPr>
                      <a:r>
                        <a:rPr lang="en-US" sz="1400" dirty="0"/>
                        <a:t>Multi-language support for wider accessibility</a:t>
                      </a:r>
                    </a:p>
                    <a:p>
                      <a:endParaRPr sz="1400" dirty="0"/>
                    </a:p>
                  </a:txBody>
                  <a:tcPr marL="54000" marR="54000" marT="36000" marB="36000"/>
                </a:tc>
                <a:extLst>
                  <a:ext uri="{0D108BD9-81ED-4DB2-BD59-A6C34878D82A}">
                    <a16:rowId xmlns:a16="http://schemas.microsoft.com/office/drawing/2014/main" val="10002"/>
                  </a:ext>
                </a:extLst>
              </a:tr>
              <a:tr h="868680">
                <a:tc>
                  <a:txBody>
                    <a:bodyPr/>
                    <a:lstStyle/>
                    <a:p>
                      <a:r>
                        <a:rPr sz="1400" dirty="0"/>
                        <a:t>Won’t‑Have (for now)</a:t>
                      </a:r>
                    </a:p>
                  </a:txBody>
                  <a:tcPr marL="54000" marR="54000" marT="36000" marB="36000"/>
                </a:tc>
                <a:tc>
                  <a:txBody>
                    <a:bodyPr/>
                    <a:lstStyle/>
                    <a:p>
                      <a:pPr marL="285750" indent="-285750">
                        <a:buFont typeface="Arial" panose="020B0604020202020204" pitchFamily="34" charset="0"/>
                        <a:buChar char="•"/>
                      </a:pPr>
                      <a:r>
                        <a:rPr lang="en-US" sz="1400" dirty="0"/>
                        <a:t>Blockchain-based full data immutability</a:t>
                      </a:r>
                    </a:p>
                    <a:p>
                      <a:pPr marL="285750" indent="-285750">
                        <a:buFont typeface="Arial" panose="020B0604020202020204" pitchFamily="34" charset="0"/>
                        <a:buChar char="•"/>
                      </a:pPr>
                      <a:r>
                        <a:rPr lang="en-US" sz="1400" dirty="0"/>
                        <a:t>Advanced predictive analytics for blood demand</a:t>
                      </a:r>
                    </a:p>
                    <a:p>
                      <a:pPr marL="285750" indent="-285750">
                        <a:buFont typeface="Arial" panose="020B0604020202020204" pitchFamily="34" charset="0"/>
                        <a:buChar char="•"/>
                      </a:pPr>
                      <a:r>
                        <a:rPr lang="en-US" sz="1400" dirty="0"/>
                        <a:t>Integration with insurance or government health databases</a:t>
                      </a:r>
                    </a:p>
                    <a:p>
                      <a:endParaRPr sz="1400" dirty="0"/>
                    </a:p>
                  </a:txBody>
                  <a:tcPr marL="54000" marR="54000" marT="36000" marB="36000"/>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Next Steps Toward PoC</a:t>
            </a:r>
          </a:p>
        </p:txBody>
      </p:sp>
      <p:graphicFrame>
        <p:nvGraphicFramePr>
          <p:cNvPr id="5" name="Table 4">
            <a:extLst>
              <a:ext uri="{FF2B5EF4-FFF2-40B4-BE49-F238E27FC236}">
                <a16:creationId xmlns:a16="http://schemas.microsoft.com/office/drawing/2014/main" id="{FBEACD4F-ADDE-DDE5-408A-EE7A63DA0228}"/>
              </a:ext>
            </a:extLst>
          </p:cNvPr>
          <p:cNvGraphicFramePr>
            <a:graphicFrameLocks noGrp="1"/>
          </p:cNvGraphicFramePr>
          <p:nvPr>
            <p:extLst>
              <p:ext uri="{D42A27DB-BD31-4B8C-83A1-F6EECF244321}">
                <p14:modId xmlns:p14="http://schemas.microsoft.com/office/powerpoint/2010/main" val="2186899288"/>
              </p:ext>
            </p:extLst>
          </p:nvPr>
        </p:nvGraphicFramePr>
        <p:xfrm>
          <a:off x="457200" y="1176528"/>
          <a:ext cx="8229600" cy="5729836"/>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8848969"/>
                    </a:ext>
                  </a:extLst>
                </a:gridCol>
                <a:gridCol w="2057400">
                  <a:extLst>
                    <a:ext uri="{9D8B030D-6E8A-4147-A177-3AD203B41FA5}">
                      <a16:colId xmlns:a16="http://schemas.microsoft.com/office/drawing/2014/main" val="4228144051"/>
                    </a:ext>
                  </a:extLst>
                </a:gridCol>
                <a:gridCol w="2057400">
                  <a:extLst>
                    <a:ext uri="{9D8B030D-6E8A-4147-A177-3AD203B41FA5}">
                      <a16:colId xmlns:a16="http://schemas.microsoft.com/office/drawing/2014/main" val="837095800"/>
                    </a:ext>
                  </a:extLst>
                </a:gridCol>
                <a:gridCol w="2057400">
                  <a:extLst>
                    <a:ext uri="{9D8B030D-6E8A-4147-A177-3AD203B41FA5}">
                      <a16:colId xmlns:a16="http://schemas.microsoft.com/office/drawing/2014/main" val="3757050625"/>
                    </a:ext>
                  </a:extLst>
                </a:gridCol>
              </a:tblGrid>
              <a:tr h="666308">
                <a:tc>
                  <a:txBody>
                    <a:bodyPr/>
                    <a:lstStyle/>
                    <a:p>
                      <a:r>
                        <a:rPr sz="1400" b="1" dirty="0"/>
                        <a:t>Step</a:t>
                      </a:r>
                    </a:p>
                  </a:txBody>
                  <a:tcPr marL="54000" marR="54000" marT="36000" marB="36000"/>
                </a:tc>
                <a:tc>
                  <a:txBody>
                    <a:bodyPr/>
                    <a:lstStyle/>
                    <a:p>
                      <a:r>
                        <a:rPr sz="1400" b="1" dirty="0"/>
                        <a:t>Owner</a:t>
                      </a:r>
                    </a:p>
                  </a:txBody>
                  <a:tcPr marL="54000" marR="54000" marT="36000" marB="36000"/>
                </a:tc>
                <a:tc>
                  <a:txBody>
                    <a:bodyPr/>
                    <a:lstStyle/>
                    <a:p>
                      <a:r>
                        <a:rPr sz="1400" b="1" dirty="0"/>
                        <a:t>Date</a:t>
                      </a:r>
                    </a:p>
                  </a:txBody>
                  <a:tcPr marL="54000" marR="54000" marT="36000" marB="36000"/>
                </a:tc>
                <a:tc>
                  <a:txBody>
                    <a:bodyPr/>
                    <a:lstStyle/>
                    <a:p>
                      <a:r>
                        <a:rPr sz="1400" b="1" dirty="0"/>
                        <a:t>Output / Validation</a:t>
                      </a:r>
                    </a:p>
                  </a:txBody>
                  <a:tcPr marL="54000" marR="54000" marT="36000" marB="36000"/>
                </a:tc>
                <a:extLst>
                  <a:ext uri="{0D108BD9-81ED-4DB2-BD59-A6C34878D82A}">
                    <a16:rowId xmlns:a16="http://schemas.microsoft.com/office/drawing/2014/main" val="726460641"/>
                  </a:ext>
                </a:extLst>
              </a:tr>
              <a:tr h="740852">
                <a:tc>
                  <a:txBody>
                    <a:bodyPr/>
                    <a:lstStyle/>
                    <a:p>
                      <a:r>
                        <a:rPr sz="1400" dirty="0"/>
                        <a:t>Step 1: </a:t>
                      </a:r>
                      <a:r>
                        <a:rPr lang="en-US" sz="1400" dirty="0"/>
                        <a:t>Set up secure donor registration system</a:t>
                      </a:r>
                      <a:endParaRPr sz="1400" dirty="0"/>
                    </a:p>
                  </a:txBody>
                  <a:tcPr marL="54000" marR="54000" marT="36000" marB="36000"/>
                </a:tc>
                <a:tc>
                  <a:txBody>
                    <a:bodyPr/>
                    <a:lstStyle/>
                    <a:p>
                      <a:pPr>
                        <a:buNone/>
                      </a:pPr>
                      <a:r>
                        <a:rPr lang="en-IN"/>
                        <a:t>Pavithra</a:t>
                      </a:r>
                    </a:p>
                  </a:txBody>
                  <a:tcPr anchor="ctr"/>
                </a:tc>
                <a:tc>
                  <a:txBody>
                    <a:bodyPr/>
                    <a:lstStyle/>
                    <a:p>
                      <a:pPr>
                        <a:buNone/>
                      </a:pPr>
                      <a:r>
                        <a:rPr lang="en-US" dirty="0"/>
                        <a:t>Week 1</a:t>
                      </a:r>
                      <a:endParaRPr lang="en-IN" dirty="0"/>
                    </a:p>
                  </a:txBody>
                  <a:tcPr anchor="ctr"/>
                </a:tc>
                <a:tc>
                  <a:txBody>
                    <a:bodyPr/>
                    <a:lstStyle/>
                    <a:p>
                      <a:pPr>
                        <a:buNone/>
                      </a:pPr>
                      <a:r>
                        <a:rPr lang="en-US" dirty="0"/>
                        <a:t>Functional donor registration and authentication module</a:t>
                      </a:r>
                      <a:endParaRPr lang="en-IN" dirty="0"/>
                    </a:p>
                  </a:txBody>
                  <a:tcPr anchor="ctr"/>
                </a:tc>
                <a:extLst>
                  <a:ext uri="{0D108BD9-81ED-4DB2-BD59-A6C34878D82A}">
                    <a16:rowId xmlns:a16="http://schemas.microsoft.com/office/drawing/2014/main" val="3631467958"/>
                  </a:ext>
                </a:extLst>
              </a:tr>
              <a:tr h="780288">
                <a:tc>
                  <a:txBody>
                    <a:bodyPr/>
                    <a:lstStyle/>
                    <a:p>
                      <a:r>
                        <a:rPr sz="1400" dirty="0"/>
                        <a:t>Step 2: </a:t>
                      </a:r>
                      <a:r>
                        <a:rPr lang="en-IN" sz="1400" dirty="0"/>
                        <a:t>Develop hospital access portal</a:t>
                      </a:r>
                      <a:endParaRPr sz="1400" dirty="0"/>
                    </a:p>
                  </a:txBody>
                  <a:tcPr marL="54000" marR="54000" marT="36000" marB="36000"/>
                </a:tc>
                <a:tc>
                  <a:txBody>
                    <a:bodyPr/>
                    <a:lstStyle/>
                    <a:p>
                      <a:pPr>
                        <a:buNone/>
                      </a:pPr>
                      <a:r>
                        <a:rPr lang="en-IN"/>
                        <a:t>Roshini</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Week 2</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nchor="ctr"/>
                </a:tc>
                <a:tc>
                  <a:txBody>
                    <a:bodyPr/>
                    <a:lstStyle/>
                    <a:p>
                      <a:pPr>
                        <a:buNone/>
                      </a:pPr>
                      <a:r>
                        <a:rPr lang="en-US" dirty="0"/>
                        <a:t>Hospitals can log in and view verified donor data</a:t>
                      </a:r>
                      <a:endParaRPr lang="en-IN" dirty="0"/>
                    </a:p>
                  </a:txBody>
                  <a:tcPr anchor="ctr"/>
                </a:tc>
                <a:extLst>
                  <a:ext uri="{0D108BD9-81ED-4DB2-BD59-A6C34878D82A}">
                    <a16:rowId xmlns:a16="http://schemas.microsoft.com/office/drawing/2014/main" val="1944472630"/>
                  </a:ext>
                </a:extLst>
              </a:tr>
              <a:tr h="951365">
                <a:tc>
                  <a:txBody>
                    <a:bodyPr/>
                    <a:lstStyle/>
                    <a:p>
                      <a:r>
                        <a:rPr sz="1400" dirty="0"/>
                        <a:t>Step 3:</a:t>
                      </a:r>
                      <a:r>
                        <a:rPr lang="en-US" sz="1400" dirty="0"/>
                        <a:t>Implement real-time donor availability status</a:t>
                      </a:r>
                      <a:endParaRPr sz="1400" dirty="0"/>
                    </a:p>
                  </a:txBody>
                  <a:tcPr marL="54000" marR="54000" marT="36000" marB="36000"/>
                </a:tc>
                <a:tc>
                  <a:txBody>
                    <a:bodyPr/>
                    <a:lstStyle/>
                    <a:p>
                      <a:pPr>
                        <a:buNone/>
                      </a:pPr>
                      <a:r>
                        <a:rPr lang="en-IN"/>
                        <a:t>Nitheeskumar</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Week 3-4</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nchor="ctr"/>
                </a:tc>
                <a:tc>
                  <a:txBody>
                    <a:bodyPr/>
                    <a:lstStyle/>
                    <a:p>
                      <a:pPr>
                        <a:buNone/>
                      </a:pPr>
                      <a:r>
                        <a:rPr lang="en-US" dirty="0"/>
                        <a:t>Dashboard showing donor availability updates</a:t>
                      </a:r>
                      <a:endParaRPr lang="en-IN" dirty="0"/>
                    </a:p>
                  </a:txBody>
                  <a:tcPr anchor="ctr"/>
                </a:tc>
                <a:extLst>
                  <a:ext uri="{0D108BD9-81ED-4DB2-BD59-A6C34878D82A}">
                    <a16:rowId xmlns:a16="http://schemas.microsoft.com/office/drawing/2014/main" val="1138481799"/>
                  </a:ext>
                </a:extLst>
              </a:tr>
              <a:tr h="951365">
                <a:tc>
                  <a:txBody>
                    <a:bodyPr/>
                    <a:lstStyle/>
                    <a:p>
                      <a:r>
                        <a:rPr sz="1400" dirty="0"/>
                        <a:t>Step 4</a:t>
                      </a:r>
                      <a:r>
                        <a:rPr lang="en-US" sz="1400" dirty="0"/>
                        <a:t>:Add blood compatibility alerts and reporting</a:t>
                      </a:r>
                      <a:endParaRPr sz="1400" dirty="0"/>
                    </a:p>
                  </a:txBody>
                  <a:tcPr marL="54000" marR="54000" marT="36000" marB="36000"/>
                </a:tc>
                <a:tc>
                  <a:txBody>
                    <a:bodyPr/>
                    <a:lstStyle/>
                    <a:p>
                      <a:pPr>
                        <a:buNone/>
                      </a:pPr>
                      <a:r>
                        <a:rPr lang="en-IN"/>
                        <a:t>Nithishkumar</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Week 5</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nchor="ctr"/>
                </a:tc>
                <a:tc>
                  <a:txBody>
                    <a:bodyPr/>
                    <a:lstStyle/>
                    <a:p>
                      <a:pPr>
                        <a:buNone/>
                      </a:pPr>
                      <a:r>
                        <a:rPr lang="en-US" dirty="0"/>
                        <a:t>Alerts and basic reports generated for hospital users</a:t>
                      </a:r>
                      <a:endParaRPr lang="en-IN" dirty="0"/>
                    </a:p>
                  </a:txBody>
                  <a:tcPr anchor="ctr"/>
                </a:tc>
                <a:extLst>
                  <a:ext uri="{0D108BD9-81ED-4DB2-BD59-A6C34878D82A}">
                    <a16:rowId xmlns:a16="http://schemas.microsoft.com/office/drawing/2014/main" val="3487523764"/>
                  </a:ext>
                </a:extLst>
              </a:tr>
              <a:tr h="1057678">
                <a:tc>
                  <a:txBody>
                    <a:bodyPr/>
                    <a:lstStyle/>
                    <a:p>
                      <a:r>
                        <a:rPr lang="en-US" sz="1400" dirty="0"/>
                        <a:t>Step 5: Conduct PoC testing with end-users</a:t>
                      </a:r>
                      <a:endParaRPr sz="1400" dirty="0"/>
                    </a:p>
                  </a:txBody>
                  <a:tcPr marL="54000" marR="54000" marT="36000" marB="36000"/>
                </a:tc>
                <a:tc>
                  <a:txBody>
                    <a:bodyPr/>
                    <a:lstStyle/>
                    <a:p>
                      <a:pPr>
                        <a:buNone/>
                      </a:pPr>
                      <a:r>
                        <a:rPr lang="en-IN"/>
                        <a:t>Ragunath</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Week 6-7</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nchor="ctr"/>
                </a:tc>
                <a:tc>
                  <a:txBody>
                    <a:bodyPr/>
                    <a:lstStyle/>
                    <a:p>
                      <a:pPr>
                        <a:buNone/>
                      </a:pPr>
                      <a:r>
                        <a:rPr lang="en-US" dirty="0"/>
                        <a:t>End-user feedback and validation of platform features</a:t>
                      </a:r>
                      <a:endParaRPr lang="en-IN" dirty="0"/>
                    </a:p>
                  </a:txBody>
                  <a:tcPr anchor="ctr"/>
                </a:tc>
                <a:extLst>
                  <a:ext uri="{0D108BD9-81ED-4DB2-BD59-A6C34878D82A}">
                    <a16:rowId xmlns:a16="http://schemas.microsoft.com/office/drawing/2014/main" val="564583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dirty="0"/>
              <a:t>References</a:t>
            </a:r>
          </a:p>
        </p:txBody>
      </p:sp>
      <p:sp>
        <p:nvSpPr>
          <p:cNvPr id="3" name="Content Placeholder 2"/>
          <p:cNvSpPr>
            <a:spLocks noGrp="1"/>
          </p:cNvSpPr>
          <p:nvPr>
            <p:ph idx="1"/>
          </p:nvPr>
        </p:nvSpPr>
        <p:spPr/>
        <p:txBody>
          <a:bodyPr/>
          <a:lstStyle/>
          <a:p>
            <a:pPr>
              <a:defRPr sz="1800"/>
            </a:pPr>
            <a:r>
              <a:rPr lang="en-US" b="1" dirty="0"/>
              <a:t>Design Thinking:</a:t>
            </a:r>
            <a:r>
              <a:rPr lang="en-US" dirty="0"/>
              <a:t> Balancing Desirability, Feasibility, and Viability – IDEO / </a:t>
            </a:r>
            <a:r>
              <a:rPr lang="en-US" dirty="0" err="1"/>
              <a:t>d.school</a:t>
            </a:r>
            <a:r>
              <a:rPr lang="en-US" dirty="0"/>
              <a:t>. </a:t>
            </a:r>
          </a:p>
          <a:p>
            <a:pPr>
              <a:defRPr sz="1800"/>
            </a:pPr>
            <a:r>
              <a:rPr lang="en-US" b="1" dirty="0"/>
              <a:t>Persona, Storyboard, Value Proposition Canvas:</a:t>
            </a:r>
            <a:r>
              <a:rPr lang="en-US" dirty="0"/>
              <a:t> Standard UX/Product Design Tools – Interaction Design Foundation</a:t>
            </a:r>
          </a:p>
          <a:p>
            <a:pPr>
              <a:defRPr sz="1800"/>
            </a:pPr>
            <a:r>
              <a:rPr lang="en-US" b="1" dirty="0"/>
              <a:t>Secure Donor Agreement Platform Idea:</a:t>
            </a:r>
            <a:r>
              <a:rPr lang="en-US" dirty="0"/>
              <a:t> Inspired by </a:t>
            </a:r>
            <a:r>
              <a:rPr lang="en-US" dirty="0" err="1"/>
              <a:t>Givzey</a:t>
            </a:r>
            <a:endParaRPr lang="en-US" dirty="0"/>
          </a:p>
          <a:p>
            <a:pPr>
              <a:defRPr sz="1800"/>
            </a:pPr>
            <a:r>
              <a:rPr lang="en-US" b="1" dirty="0"/>
              <a:t>Real-Time Donor Matching App Idea:</a:t>
            </a:r>
            <a:r>
              <a:rPr lang="en-US" dirty="0"/>
              <a:t> Inspired by Blood Donors / B-Donor App</a:t>
            </a:r>
          </a:p>
          <a:p>
            <a:pPr>
              <a:defRPr sz="1800"/>
            </a:pPr>
            <a:r>
              <a:rPr lang="en-US" b="1" dirty="0"/>
              <a:t>Community Blood Drive Dashboard Idea:</a:t>
            </a:r>
            <a:r>
              <a:rPr lang="en-US" dirty="0"/>
              <a:t> Inspired by </a:t>
            </a:r>
            <a:r>
              <a:rPr lang="en-US" dirty="0" err="1"/>
              <a:t>ConnectLife</a:t>
            </a:r>
            <a:r>
              <a:rPr lang="en-US" dirty="0"/>
              <a:t> Donor Management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121</TotalTime>
  <Words>1192</Words>
  <Application>Microsoft Office PowerPoint</Application>
  <PresentationFormat>On-screen Show (4:3)</PresentationFormat>
  <Paragraphs>123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SoI Ideation Stage Template</vt:lpstr>
      <vt:lpstr>Problem &amp; End‑User Recap</vt:lpstr>
      <vt:lpstr>User Persona (Optional)</vt:lpstr>
      <vt:lpstr>   Idea 1 – [Secure Donor Agreement Platform ]  </vt:lpstr>
      <vt:lpstr>  Idea 2 – [Smart Blood Match &amp; Alert System (AI-Powered)  ]</vt:lpstr>
      <vt:lpstr>Idea 3 – [Decentralized Blood Supply Network (Web 3.0 + IoT)]</vt:lpstr>
      <vt:lpstr>Idea Evaluation — Desirability • Feasibility • Viability</vt:lpstr>
      <vt:lpstr>Selected Idea &amp; Justification</vt:lpstr>
      <vt:lpstr>Solution Features &amp; Prioritization (MoSCoW)</vt:lpstr>
      <vt:lpstr>Next Steps Toward PoC</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Thiruvaazhi Uloli</dc:creator>
  <cp:keywords/>
  <dc:description>generated using python-pptx</dc:description>
  <cp:lastModifiedBy>ROSHINI P Panneerselvam</cp:lastModifiedBy>
  <cp:revision>6</cp:revision>
  <dcterms:created xsi:type="dcterms:W3CDTF">2013-01-27T09:14:16Z</dcterms:created>
  <dcterms:modified xsi:type="dcterms:W3CDTF">2025-10-09T15:19:28Z</dcterms:modified>
  <cp:category/>
</cp:coreProperties>
</file>