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0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blood-safety-and-availabilit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ages.nist.gov/800-63-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1417320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— MVP Stage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97840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Deck Template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609575"/>
            <a:ext cx="694944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(fill)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6309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name-Project name-MVP: Team Seven-Secure Blood Donor </a:t>
            </a:r>
            <a:r>
              <a:rPr lang="en-US" sz="15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Discovry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Team-ID: P-2024-28-CD-096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 </a:t>
            </a:r>
            <a:r>
              <a:rPr lang="en-US" sz="15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Pavithra.K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US" sz="1600" dirty="0" err="1">
                <a:cs typeface="Calibri"/>
              </a:rPr>
              <a:t>Nitheeskumar.M</a:t>
            </a:r>
            <a:r>
              <a:rPr lang="en-US" sz="1600" dirty="0">
                <a:cs typeface="Calibri"/>
              </a:rPr>
              <a:t>, Ragunath, </a:t>
            </a:r>
            <a:r>
              <a:rPr lang="en-US" sz="1600" dirty="0" err="1">
                <a:cs typeface="Calibri"/>
              </a:rPr>
              <a:t>Nithishkumar.R</a:t>
            </a:r>
            <a:r>
              <a:rPr lang="en-US" sz="1600" dirty="0">
                <a:cs typeface="Calibri"/>
              </a:rPr>
              <a:t>, </a:t>
            </a:r>
            <a:r>
              <a:rPr lang="en-US" sz="1600" dirty="0" err="1">
                <a:cs typeface="Calibri"/>
              </a:rPr>
              <a:t>Roshini.P</a:t>
            </a:r>
            <a:r>
              <a:rPr lang="en-US" sz="1600" dirty="0">
                <a:cs typeface="Calibri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600" dirty="0" err="1"/>
              <a:t>Narashima</a:t>
            </a:r>
            <a:r>
              <a:rPr lang="en-US" sz="1600" dirty="0"/>
              <a:t> </a:t>
            </a:r>
            <a:r>
              <a:rPr lang="en-US" sz="1600" dirty="0" err="1"/>
              <a:t>Guptha</a:t>
            </a:r>
            <a:r>
              <a:rPr lang="en-US" sz="1600" dirty="0"/>
              <a:t> </a:t>
            </a:r>
            <a:endParaRPr lang="en-US" sz="1500" dirty="0">
              <a:solidFill>
                <a:srgbClr val="0B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 Code: CD</a:t>
            </a: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2024-28      </a:t>
            </a: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02.03.2026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5852160"/>
            <a:ext cx="11094415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5907024"/>
            <a:ext cx="107286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Codes (use exactly)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>
                <a:latin typeface="Calibri"/>
              </a:rPr>
              <a:t>SoI Labs: AD — AI and Data Science Lab | BW — Blockchain and Web3 Lab | CD — Cloud and DevOps Lab | CS — Cyber Security Lab</a:t>
            </a:r>
            <a:endParaRPr lang="en-US" sz="1000" dirty="0"/>
          </a:p>
          <a:p>
            <a:r>
              <a:rPr sz="1000">
                <a:latin typeface="Calibri"/>
              </a:rPr>
              <a:t>EI — Embedded Systems and IoT Lab | MA — Design, Manufacturing and Automation Lab | FW — Full Stack Web Development Lab</a:t>
            </a:r>
          </a:p>
        </p:txBody>
      </p:sp>
      <p:sp>
        <p:nvSpPr>
          <p:cNvPr id="15" name="Shape 1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199" y="599025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Quick Comparison (What changes at MVP?)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39" y="1152331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1568161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1069848" y="174650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28281" y="1691640"/>
            <a:ext cx="290109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38009" y="17465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29379" y="1691640"/>
            <a:ext cx="290109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39107" y="17465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30477" y="1691640"/>
            <a:ext cx="290109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40205" y="17465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19456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24942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End-User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28281" y="219456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38009" y="224942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pain is real; define user + context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29379" y="219456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539107" y="224942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Interviews, observations, baseline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30477" y="219456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40205" y="224942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+ user persona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269748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275234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8281" y="269748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638009" y="275234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3–4 solution paths; choose 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29379" y="269748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539107" y="275234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criteria, feasibility, desirability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30477" y="269748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440205" y="275234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concept + why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20040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25526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28281" y="320040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638009" y="325526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feasibility of key tech/approach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29379" y="320040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539107" y="325526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Experiments, results, limits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30477" y="320040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40205" y="325526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proof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" y="370332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69848" y="375818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28281" y="370332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638009" y="375818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build; controlled validation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29379" y="370332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539107" y="375818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basic metrics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30477" y="370332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440205" y="375818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integrated prototype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20624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26110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(NOW)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28281" y="420624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638009" y="42611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usage + feedback + iteration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29379" y="420624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539107" y="42611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sessions, feedback, targets vs actual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30477" y="420624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440205" y="42611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 MVP + evidence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292083" y="7791808"/>
            <a:ext cx="20434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End-User Reconfirmation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user (fill)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end-user: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clinics needing fast access to blood donors, and registered donors willing to help.</a:t>
            </a:r>
          </a:p>
          <a:p>
            <a:pPr>
              <a:lnSpc>
                <a:spcPct val="115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5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Pain point (1–2 lines):</a:t>
            </a:r>
            <a:r>
              <a:rPr lang="en-US" sz="14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cannot quickly find nearby compatible donors during emergencies because current systems are slow and disconnected.</a:t>
            </a:r>
          </a:p>
          <a:p>
            <a:pPr>
              <a:lnSpc>
                <a:spcPct val="115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 / environment: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cases need immediate blood access, but hospitals rely on outdated or manual search methods.</a:t>
            </a:r>
          </a:p>
          <a:p>
            <a:pPr>
              <a:lnSpc>
                <a:spcPct val="115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(current state metric):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cases need immediate blood access, but hospitals rely on outdated or manual search methods.</a:t>
            </a:r>
          </a:p>
          <a:p>
            <a:pPr>
              <a:lnSpc>
                <a:spcPct val="115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now / why </a:t>
            </a:r>
            <a:r>
              <a:rPr lang="en-US" sz="1300" b="1" dirty="0" err="1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urgent: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shortages and emergency cases are rising, making fast and verified donor discovery critical for saving lives.</a:t>
            </a:r>
          </a:p>
          <a:p>
            <a:br>
              <a:rPr lang="en-US" sz="1600" dirty="0"/>
            </a:b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proposition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enables hospitals to instantly find verified, nearby compatible donors, ensuring faster response and improved emergency care.</a:t>
            </a:r>
          </a:p>
        </p:txBody>
      </p:sp>
      <p:sp>
        <p:nvSpPr>
          <p:cNvPr id="11" name="Shape 9"/>
          <p:cNvSpPr/>
          <p:nvPr/>
        </p:nvSpPr>
        <p:spPr>
          <a:xfrm>
            <a:off x="6614160" y="3948684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Success metric anchor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9440" y="4495582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metric: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saved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finding a compatible donor during emergencies.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is measured by faster matches, reduced errors, and improved donor availability accuracy</a:t>
            </a:r>
            <a:r>
              <a:rPr lang="en-US" dirty="0"/>
              <a:t>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Recap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end-to-end flow worked: hospitals logged in, searched donors, and saw real-time availability successfully.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Core metrics achieved: authentication was reliable, donor matches were accurate, and availability updated instantly.</a:t>
            </a:r>
          </a:p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in prototype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gaps blocking 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800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Missing notification system (SMS/email) for faster donor–hospital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Location accuracy needs improvement for precise nearby donor matching.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1426651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8745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at MVP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42316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 with real hospital users, not just teammates.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 structured feedback and track metrics (latency, accuracy, access control) across iterations.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Plan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39" y="709127"/>
            <a:ext cx="11094415" cy="510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: </a:t>
            </a:r>
            <a:r>
              <a:rPr lang="en-US" sz="1400" dirty="0"/>
              <a:t>We believe that if hospitals get real-time, verified donor details, they’ll be able to respond to emergencies much faster.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400" dirty="0"/>
              <a:t>We’ll build a small but complete version that includes donor verification, live availability, alerts, and location-based matching.</a:t>
            </a:r>
            <a:r>
              <a:rPr lang="en-US" sz="14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deployment: </a:t>
            </a:r>
            <a:r>
              <a:rPr lang="en-US" sz="1400" dirty="0"/>
              <a:t>We’ll host the MVP on a secure cloud setup and let a few hospital users try it out in real situations.</a:t>
            </a:r>
            <a:r>
              <a:rPr lang="en-US" sz="14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validation: </a:t>
            </a:r>
            <a:r>
              <a:rPr lang="en-US" sz="1400" dirty="0"/>
              <a:t>We’ll check how fast and accurate the matches are and gather honest feedback from hospital staff to see if it truly helps.</a:t>
            </a:r>
          </a:p>
          <a:p>
            <a:br>
              <a:rPr lang="en-US" dirty="0"/>
            </a:b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5233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Hypothesis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hypothesis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800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/>
              <a:t>If hospitals use our real-time verified blood donor matching platform, they will be able to identify and contact compatible donors significantly faster than with traditional manual search methods.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760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4792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(minimum 2 metrics)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1828800" cy="4343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384962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3794760"/>
            <a:ext cx="1371600" cy="4343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898648" y="384962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3794760"/>
            <a:ext cx="201168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70248" y="384962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24281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9848" y="435254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pain metric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4229100"/>
            <a:ext cx="1371600" cy="48920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 dirty="0"/>
              <a:t>Donor search time ≤ 3 minutes </a:t>
            </a:r>
            <a:endParaRPr sz="1200" dirty="0"/>
          </a:p>
        </p:txBody>
      </p:sp>
      <p:sp>
        <p:nvSpPr>
          <p:cNvPr id="19" name="Text 17"/>
          <p:cNvSpPr/>
          <p:nvPr/>
        </p:nvSpPr>
        <p:spPr>
          <a:xfrm>
            <a:off x="2898648" y="435254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42291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Time tracked from search request to successful donor match during test scenarios.</a:t>
            </a:r>
            <a:endParaRPr sz="1100" dirty="0"/>
          </a:p>
        </p:txBody>
      </p:sp>
      <p:sp>
        <p:nvSpPr>
          <p:cNvPr id="21" name="Text 19"/>
          <p:cNvSpPr/>
          <p:nvPr/>
        </p:nvSpPr>
        <p:spPr>
          <a:xfrm>
            <a:off x="4270248" y="435254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4718304"/>
            <a:ext cx="1828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485546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4718304"/>
            <a:ext cx="1371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050" dirty="0"/>
              <a:t>Blood compatibility matching accuracy ≥ 95%</a:t>
            </a:r>
            <a:endParaRPr sz="1050" dirty="0"/>
          </a:p>
        </p:txBody>
      </p:sp>
      <p:sp>
        <p:nvSpPr>
          <p:cNvPr id="25" name="Text 23"/>
          <p:cNvSpPr/>
          <p:nvPr/>
        </p:nvSpPr>
        <p:spPr>
          <a:xfrm>
            <a:off x="2898648" y="485546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60520" y="4745736"/>
            <a:ext cx="20116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System match results verified against confirmed donor dataset.</a:t>
            </a:r>
            <a:endParaRPr sz="1100" dirty="0"/>
          </a:p>
        </p:txBody>
      </p:sp>
      <p:sp>
        <p:nvSpPr>
          <p:cNvPr id="27" name="Text 25"/>
          <p:cNvSpPr/>
          <p:nvPr/>
        </p:nvSpPr>
        <p:spPr>
          <a:xfrm>
            <a:off x="4270248" y="485546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530352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69848" y="5358384"/>
            <a:ext cx="16093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adoption / repeat use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88920" y="5303520"/>
            <a:ext cx="1371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800" dirty="0"/>
              <a:t> </a:t>
            </a:r>
            <a:r>
              <a:rPr lang="en-US" sz="900" dirty="0"/>
              <a:t>≥ 70% of users successfully complete donor search without assistance and are willing to reuse the system</a:t>
            </a:r>
            <a:endParaRPr sz="900" dirty="0"/>
          </a:p>
        </p:txBody>
      </p:sp>
      <p:sp>
        <p:nvSpPr>
          <p:cNvPr id="31" name="Text 29"/>
          <p:cNvSpPr/>
          <p:nvPr/>
        </p:nvSpPr>
        <p:spPr>
          <a:xfrm>
            <a:off x="2898648" y="535838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60520" y="5303520"/>
            <a:ext cx="2011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User surveys and observation of successful task completion during testing.</a:t>
            </a:r>
            <a:endParaRPr sz="1100" dirty="0"/>
          </a:p>
        </p:txBody>
      </p:sp>
      <p:sp>
        <p:nvSpPr>
          <p:cNvPr id="33" name="Text 31"/>
          <p:cNvSpPr/>
          <p:nvPr/>
        </p:nvSpPr>
        <p:spPr>
          <a:xfrm>
            <a:off x="4270248" y="535838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3474720"/>
            <a:ext cx="4892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949440" y="37033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target (pick one)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4114800"/>
            <a:ext cx="4251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/>
              <a:t>Primary operational impact — emergency response efficiency (reducing donor search time during critical situations).</a:t>
            </a:r>
          </a:p>
        </p:txBody>
      </p:sp>
      <p:sp>
        <p:nvSpPr>
          <p:cNvPr id="37" name="Shape 35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(Thin Slice)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90600" y="20600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user journey (fill)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87216"/>
            <a:ext cx="5120640" cy="330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Hospital logs into the platform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 searches required blood type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system shows available compatible donors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 hospital identifies and contacts donor.</a:t>
            </a:r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28296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Secure hospital login and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Verified donor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Blood compatibility matching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Real-time donor availability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Basic location-based donor filtering.</a:t>
            </a:r>
          </a:p>
          <a:p>
            <a:br>
              <a:rPr lang="en-US" sz="1600" dirty="0"/>
            </a:b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8135" y="374904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02336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43484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Nationwide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Mobile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Full legal or regulatory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Integration with government or external hospital systems.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 (Real Context)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who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site(s):</a:t>
            </a:r>
            <a:r>
              <a:rPr lang="en-US" sz="1400" dirty="0"/>
              <a:t>Controlled hospital simulation environment / academic lab testing setup.</a:t>
            </a: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</a:t>
            </a:r>
            <a:r>
              <a:rPr lang="en-US" sz="15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</a:t>
            </a:r>
            <a:r>
              <a:rPr lang="en-US" sz="1400" dirty="0" err="1"/>
              <a:t>Hospital</a:t>
            </a:r>
            <a:r>
              <a:rPr lang="en-US" sz="1400" dirty="0"/>
              <a:t> staff (test users), healthcare trainees, and authorized testers.</a:t>
            </a:r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user count:</a:t>
            </a:r>
            <a:r>
              <a:rPr lang="en-IN" sz="1400" dirty="0"/>
              <a:t>10–15 users.</a:t>
            </a:r>
            <a:endParaRPr lang="en-US" sz="1400" dirty="0"/>
          </a:p>
          <a:p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(days):</a:t>
            </a:r>
            <a:r>
              <a:rPr lang="en-IN" sz="1400" dirty="0"/>
              <a:t>2–3 days pilot testing.</a:t>
            </a:r>
          </a:p>
          <a:p>
            <a:br>
              <a:rPr lang="en-IN" sz="1600" dirty="0"/>
            </a:b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760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75207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onboarding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4416552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sz="1400" dirty="0"/>
              <a:t>URL / app install </a:t>
            </a:r>
            <a:r>
              <a:rPr sz="1400" dirty="0" err="1"/>
              <a:t>steps</a:t>
            </a:r>
            <a:r>
              <a:rPr lang="en-US" sz="1400" dirty="0" err="1"/>
              <a:t>:Users</a:t>
            </a:r>
            <a:r>
              <a:rPr lang="en-US" sz="1400" dirty="0"/>
              <a:t> access the web platform through provided secure URL using internet-enabled device.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sz="1400" dirty="0"/>
              <a:t>Simple instruction </a:t>
            </a:r>
            <a:r>
              <a:rPr sz="1400" dirty="0" err="1"/>
              <a:t>card</a:t>
            </a:r>
            <a:r>
              <a:rPr lang="en-US" sz="1400" dirty="0" err="1"/>
              <a:t>:Basic</a:t>
            </a:r>
            <a:r>
              <a:rPr lang="en-US" sz="1400" dirty="0"/>
              <a:t> steps explaining login, donor search, and result interpretation.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sz="1400" dirty="0"/>
              <a:t>Support contact during </a:t>
            </a:r>
            <a:r>
              <a:rPr sz="1400" dirty="0" err="1"/>
              <a:t>test</a:t>
            </a:r>
            <a:r>
              <a:rPr lang="en-US" sz="1400" dirty="0" err="1"/>
              <a:t>:Project</a:t>
            </a:r>
            <a:r>
              <a:rPr lang="en-US" sz="1400" dirty="0"/>
              <a:t> team available for technical support and troubleshooting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33895" y="191557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privacy / ethics (minimum)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509934"/>
            <a:ext cx="4251960" cy="3479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Written or verbal consent obtained before participation.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Only sample/test donor data used (no real patient data).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sensitive personal information collected.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 activity recorded using anonymized IDs.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Testing conducted only with authorized participants.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SIMULATED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10820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3821937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82057" y="1783080"/>
            <a:ext cx="143322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91785" y="18379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5283" y="1783080"/>
            <a:ext cx="143322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25011" y="18379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48509" y="1783080"/>
            <a:ext cx="358306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58237" y="183794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(how to automate later)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33172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38658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interaction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82057" y="233172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/>
              <a:t>✔</a:t>
            </a:r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91785" y="238658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5283" y="233172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-</a:t>
            </a:r>
            <a:endParaRPr dirty="0"/>
          </a:p>
        </p:txBody>
      </p:sp>
      <p:sp>
        <p:nvSpPr>
          <p:cNvPr id="19" name="Text 17"/>
          <p:cNvSpPr/>
          <p:nvPr/>
        </p:nvSpPr>
        <p:spPr>
          <a:xfrm>
            <a:off x="6325011" y="238658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48509" y="233172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300" dirty="0"/>
              <a:t>Test users actively logged in and searched for donors using the web platform.</a:t>
            </a:r>
            <a:endParaRPr sz="1300" dirty="0"/>
          </a:p>
        </p:txBody>
      </p:sp>
      <p:sp>
        <p:nvSpPr>
          <p:cNvPr id="21" name="Text 19"/>
          <p:cNvSpPr/>
          <p:nvPr/>
        </p:nvSpPr>
        <p:spPr>
          <a:xfrm>
            <a:off x="7758237" y="238658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288036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293522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82057" y="288036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91785" y="293522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/>
              <a:t>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5283" y="288036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-</a:t>
            </a:r>
            <a:endParaRPr dirty="0"/>
          </a:p>
        </p:txBody>
      </p:sp>
      <p:sp>
        <p:nvSpPr>
          <p:cNvPr id="27" name="Text 25"/>
          <p:cNvSpPr/>
          <p:nvPr/>
        </p:nvSpPr>
        <p:spPr>
          <a:xfrm>
            <a:off x="6325011" y="293522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48509" y="288036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300" dirty="0"/>
              <a:t>System recorded user inputs, donor search queries, and availability updates from database</a:t>
            </a:r>
            <a:r>
              <a:rPr lang="en-US" sz="1400" dirty="0"/>
              <a:t>.</a:t>
            </a:r>
            <a:endParaRPr sz="1400" dirty="0"/>
          </a:p>
        </p:txBody>
      </p:sp>
      <p:sp>
        <p:nvSpPr>
          <p:cNvPr id="29" name="Text 27"/>
          <p:cNvSpPr/>
          <p:nvPr/>
        </p:nvSpPr>
        <p:spPr>
          <a:xfrm>
            <a:off x="7758237" y="293522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42900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48386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/ model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82057" y="342900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891785" y="348386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/>
              <a:t>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5283" y="342900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-</a:t>
            </a:r>
            <a:endParaRPr dirty="0"/>
          </a:p>
        </p:txBody>
      </p:sp>
      <p:sp>
        <p:nvSpPr>
          <p:cNvPr id="35" name="Text 33"/>
          <p:cNvSpPr/>
          <p:nvPr/>
        </p:nvSpPr>
        <p:spPr>
          <a:xfrm>
            <a:off x="6325011" y="348386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48509" y="342900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300" dirty="0"/>
              <a:t>Blood compatibility matching and donor filtering executed automatically by the system.</a:t>
            </a:r>
          </a:p>
          <a:p>
            <a:br>
              <a:rPr lang="en-US" sz="1300" dirty="0"/>
            </a:br>
            <a:endParaRPr sz="1300" dirty="0"/>
          </a:p>
        </p:txBody>
      </p:sp>
      <p:sp>
        <p:nvSpPr>
          <p:cNvPr id="37" name="Text 35"/>
          <p:cNvSpPr/>
          <p:nvPr/>
        </p:nvSpPr>
        <p:spPr>
          <a:xfrm>
            <a:off x="7758237" y="348386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" y="397764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69848" y="403250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(API/IOT)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82057" y="397764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dirty="0"/>
              <a:t>-</a:t>
            </a:r>
            <a:endParaRPr dirty="0"/>
          </a:p>
        </p:txBody>
      </p:sp>
      <p:sp>
        <p:nvSpPr>
          <p:cNvPr id="41" name="Text 39"/>
          <p:cNvSpPr/>
          <p:nvPr/>
        </p:nvSpPr>
        <p:spPr>
          <a:xfrm>
            <a:off x="4891785" y="403250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5283" y="397764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25011" y="403250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/>
              <a:t>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48509" y="397764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300" dirty="0"/>
              <a:t>External hospital systems and advanced location services not integrated; test environment used.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45" name="Text 43"/>
          <p:cNvSpPr/>
          <p:nvPr/>
        </p:nvSpPr>
        <p:spPr>
          <a:xfrm>
            <a:off x="7758237" y="403250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52628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58114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/ reports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91785" y="45811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5283" y="452628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325011" y="45811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/>
              <a:t>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48509" y="452628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300" dirty="0"/>
              <a:t>SMS/email alerts and automated reporting not fully implemented; planned for future.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53" name="Text 51"/>
          <p:cNvSpPr/>
          <p:nvPr/>
        </p:nvSpPr>
        <p:spPr>
          <a:xfrm>
            <a:off x="7758237" y="458114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Simulation is allowed only if clearly marked. MVP still requires real end-users and real feedback.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91690" y="93854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Who tested the system</a:t>
            </a:r>
            <a:br>
              <a:rPr lang="en-US" dirty="0"/>
            </a:br>
            <a:r>
              <a:rPr lang="en-US" sz="1400" dirty="0"/>
              <a:t>Hospital staff (test users), healthcare trainees, and controlled pilot users (10–15 participants).</a:t>
            </a:r>
            <a:br>
              <a:rPr lang="en-US" dirty="0"/>
            </a:b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12/23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AA48B-DF54-2C87-3F76-7B818084C619}"/>
              </a:ext>
            </a:extLst>
          </p:cNvPr>
          <p:cNvSpPr txBox="1"/>
          <p:nvPr/>
        </p:nvSpPr>
        <p:spPr>
          <a:xfrm>
            <a:off x="560868" y="2786348"/>
            <a:ext cx="1138999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users were asked to do</a:t>
            </a:r>
            <a:endParaRPr lang="en-US" dirty="0"/>
          </a:p>
          <a:p>
            <a:r>
              <a:rPr lang="en-US" sz="1400" dirty="0"/>
              <a:t>Log into the </a:t>
            </a:r>
            <a:r>
              <a:rPr lang="en-US" sz="1400" dirty="0" err="1"/>
              <a:t>platform,Search</a:t>
            </a:r>
            <a:r>
              <a:rPr lang="en-US" sz="1400" dirty="0"/>
              <a:t> for a required blood </a:t>
            </a:r>
            <a:r>
              <a:rPr lang="en-US" sz="1400" dirty="0" err="1"/>
              <a:t>type,Identify</a:t>
            </a:r>
            <a:r>
              <a:rPr lang="en-US" sz="1400" dirty="0"/>
              <a:t> available compatible </a:t>
            </a:r>
            <a:r>
              <a:rPr lang="en-US" sz="1400" dirty="0" err="1"/>
              <a:t>donors,Complete</a:t>
            </a:r>
            <a:r>
              <a:rPr lang="en-US" sz="1400" dirty="0"/>
              <a:t> the search without assistance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44AC3-49BD-0D5F-9197-D3F3DF831AE6}"/>
              </a:ext>
            </a:extLst>
          </p:cNvPr>
          <p:cNvSpPr txBox="1"/>
          <p:nvPr/>
        </p:nvSpPr>
        <p:spPr>
          <a:xfrm>
            <a:off x="560868" y="3615297"/>
            <a:ext cx="1075606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we observed</a:t>
            </a:r>
            <a:endParaRPr lang="en-US" dirty="0"/>
          </a:p>
          <a:p>
            <a:r>
              <a:rPr lang="en-US" sz="1400" dirty="0"/>
              <a:t>Users were able to complete donor searches </a:t>
            </a:r>
            <a:r>
              <a:rPr lang="en-US" sz="1400" dirty="0" err="1"/>
              <a:t>successfully,Search</a:t>
            </a:r>
            <a:r>
              <a:rPr lang="en-US" sz="1400" dirty="0"/>
              <a:t> process was faster than manual </a:t>
            </a:r>
            <a:r>
              <a:rPr lang="en-US" sz="1400" dirty="0" err="1"/>
              <a:t>methods,Most</a:t>
            </a:r>
            <a:r>
              <a:rPr lang="en-US" sz="1400" dirty="0"/>
              <a:t> users understood system workflow after brief </a:t>
            </a:r>
            <a:r>
              <a:rPr lang="en-US" sz="1400" dirty="0" err="1"/>
              <a:t>guidance,Some</a:t>
            </a:r>
            <a:r>
              <a:rPr lang="en-US" sz="1400" dirty="0"/>
              <a:t> users requested clearer interface and notification alerts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49C55-5D97-7045-DA80-8338A6DDA14D}"/>
              </a:ext>
            </a:extLst>
          </p:cNvPr>
          <p:cNvSpPr txBox="1"/>
          <p:nvPr/>
        </p:nvSpPr>
        <p:spPr>
          <a:xfrm>
            <a:off x="548640" y="4613270"/>
            <a:ext cx="113565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feedback was collected</a:t>
            </a:r>
            <a:endParaRPr lang="en-US" dirty="0"/>
          </a:p>
          <a:p>
            <a:r>
              <a:rPr lang="en-US" sz="1400" dirty="0"/>
              <a:t>Direct observation during </a:t>
            </a:r>
            <a:r>
              <a:rPr lang="en-US" sz="1400" dirty="0" err="1"/>
              <a:t>testing,Short</a:t>
            </a:r>
            <a:r>
              <a:rPr lang="en-US" sz="1400" dirty="0"/>
              <a:t> usability survey after task </a:t>
            </a:r>
            <a:r>
              <a:rPr lang="en-US" sz="1400" dirty="0" err="1"/>
              <a:t>completion,Verbal</a:t>
            </a:r>
            <a:r>
              <a:rPr lang="en-US" sz="1400" dirty="0"/>
              <a:t> feedback and suggestions from users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571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protocol (fill)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 login credentials and brief instructions to participants.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Ask users to perform a donor search for a specific blood type in a simulated emergency scenario.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Observe whether users can complete the search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Record time taken to identify a compatible donor.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 feedback after task completion.</a:t>
            </a:r>
          </a:p>
          <a:p>
            <a:br>
              <a:rPr lang="en-US" sz="1600" dirty="0"/>
            </a:b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572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questions (minimum)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1.Was the system easy to understand and use?</a:t>
            </a:r>
          </a:p>
          <a:p>
            <a:r>
              <a:rPr lang="en-US" sz="1400" dirty="0"/>
              <a:t>2.How quickly were you able to find a compatible donor?</a:t>
            </a:r>
          </a:p>
          <a:p>
            <a:r>
              <a:rPr lang="en-US" sz="1400" dirty="0"/>
              <a:t>3.What difficulties did you face while using the system?</a:t>
            </a:r>
          </a:p>
          <a:p>
            <a:r>
              <a:rPr lang="en-US" sz="1400" dirty="0"/>
              <a:t>4.What features would improve your experience?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9482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quick measures (pick 1–2)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313992"/>
            <a:ext cx="4251960" cy="3583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sz="1400" dirty="0"/>
              <a:t>Task success rate (%)</a:t>
            </a:r>
            <a:r>
              <a:rPr lang="en-US" sz="1400" dirty="0"/>
              <a:t>:≥ 90% of users successfully complete donor search without assistance.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sz="1400" dirty="0"/>
              <a:t>Time on task (sec/min)</a:t>
            </a:r>
            <a:r>
              <a:rPr lang="en-US" sz="1400" dirty="0"/>
              <a:t>: ≤ 3 minutes to identify a compatible donor.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Summary (After testing)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930503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said (themes)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53950"/>
            <a:ext cx="5120640" cy="3535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Donor search is much faster compared to manual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System is simple but needs clearer visual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Location-based filtering would improve usefulness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Automatic alerts for available donors are highly requested</a:t>
            </a:r>
          </a:p>
          <a:p>
            <a:br>
              <a:rPr lang="en-US" sz="1600" dirty="0"/>
            </a:b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quotes (anonymized)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“I found a matching donor very quickly — this saves critical time.”</a:t>
            </a:r>
          </a:p>
          <a:p>
            <a:r>
              <a:rPr lang="en-US" sz="1400" dirty="0"/>
              <a:t>“The system is easy to use after the first try.”</a:t>
            </a:r>
          </a:p>
          <a:p>
            <a:r>
              <a:rPr lang="en-US" sz="1400" dirty="0"/>
              <a:t>“Location filter and alerts would make it even better.”</a:t>
            </a:r>
          </a:p>
          <a:p>
            <a:r>
              <a:rPr lang="en-US" sz="1400" dirty="0"/>
              <a:t>“Helpful for emergency situations where time matters most.”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388620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signals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Majority of users completed donor search successfully</a:t>
            </a:r>
          </a:p>
          <a:p>
            <a:r>
              <a:rPr lang="en-US" sz="1400" dirty="0"/>
              <a:t>Users expressed willingness to use the system in real emergencies</a:t>
            </a:r>
          </a:p>
          <a:p>
            <a:r>
              <a:rPr lang="en-US" sz="1400" dirty="0"/>
              <a:t>Positive usability feedback from most participants</a:t>
            </a:r>
          </a:p>
          <a:p>
            <a:r>
              <a:rPr lang="en-US" sz="1400" dirty="0"/>
              <a:t>Users requested additional features rather than rejecting the system (indicates strong interest)</a:t>
            </a:r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Metrics (Target vs Actual)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9877" y="1353312"/>
            <a:ext cx="10820095" cy="3995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256786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7984" y="1783080"/>
            <a:ext cx="151737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37712" y="183794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5358" y="1783080"/>
            <a:ext cx="151737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55086" y="183794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2732" y="1783080"/>
            <a:ext cx="1400653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2460" y="183794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3385" y="1783080"/>
            <a:ext cx="3268190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73113" y="183794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(slide/link/log)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237744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9848" y="243230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pain metric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7984" y="237744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3 minutes</a:t>
            </a:r>
            <a:endParaRPr sz="1200" dirty="0"/>
          </a:p>
        </p:txBody>
      </p:sp>
      <p:sp>
        <p:nvSpPr>
          <p:cNvPr id="19" name="Text 17"/>
          <p:cNvSpPr/>
          <p:nvPr/>
        </p:nvSpPr>
        <p:spPr>
          <a:xfrm>
            <a:off x="3637712" y="243230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5358" y="237744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2.3 minutes</a:t>
            </a:r>
            <a:endParaRPr sz="1200" dirty="0"/>
          </a:p>
        </p:txBody>
      </p:sp>
      <p:sp>
        <p:nvSpPr>
          <p:cNvPr id="21" name="Text 19"/>
          <p:cNvSpPr/>
          <p:nvPr/>
        </p:nvSpPr>
        <p:spPr>
          <a:xfrm>
            <a:off x="5155086" y="243230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62732" y="237744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72460" y="243230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63385" y="237744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Test session logs </a:t>
            </a:r>
            <a:endParaRPr sz="1200" dirty="0"/>
          </a:p>
        </p:txBody>
      </p:sp>
      <p:sp>
        <p:nvSpPr>
          <p:cNvPr id="25" name="Text 23"/>
          <p:cNvSpPr/>
          <p:nvPr/>
        </p:nvSpPr>
        <p:spPr>
          <a:xfrm>
            <a:off x="8073113" y="243230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" y="297180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9848" y="302666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27984" y="297180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95% compatibility accuracy</a:t>
            </a:r>
            <a:br>
              <a:rPr lang="en-IN" dirty="0"/>
            </a:br>
            <a:endParaRPr dirty="0"/>
          </a:p>
        </p:txBody>
      </p:sp>
      <p:sp>
        <p:nvSpPr>
          <p:cNvPr id="29" name="Text 27"/>
          <p:cNvSpPr/>
          <p:nvPr/>
        </p:nvSpPr>
        <p:spPr>
          <a:xfrm>
            <a:off x="3637712" y="302666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45358" y="297180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97% accuracy</a:t>
            </a:r>
            <a:endParaRPr sz="1200" dirty="0"/>
          </a:p>
        </p:txBody>
      </p:sp>
      <p:sp>
        <p:nvSpPr>
          <p:cNvPr id="31" name="Text 29"/>
          <p:cNvSpPr/>
          <p:nvPr/>
        </p:nvSpPr>
        <p:spPr>
          <a:xfrm>
            <a:off x="5155086" y="302666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62732" y="297180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72460" y="302666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63385" y="297180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Dataset validation report</a:t>
            </a:r>
            <a:endParaRPr sz="1200" dirty="0"/>
          </a:p>
        </p:txBody>
      </p:sp>
      <p:sp>
        <p:nvSpPr>
          <p:cNvPr id="35" name="Text 33"/>
          <p:cNvSpPr/>
          <p:nvPr/>
        </p:nvSpPr>
        <p:spPr>
          <a:xfrm>
            <a:off x="8073113" y="302666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0120" y="356616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9848" y="362102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adoption metric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27984" y="356616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 dirty="0"/>
              <a:t>90% users complete search independently</a:t>
            </a:r>
            <a:endParaRPr sz="1200" dirty="0"/>
          </a:p>
        </p:txBody>
      </p:sp>
      <p:sp>
        <p:nvSpPr>
          <p:cNvPr id="39" name="Text 37"/>
          <p:cNvSpPr/>
          <p:nvPr/>
        </p:nvSpPr>
        <p:spPr>
          <a:xfrm>
            <a:off x="3637712" y="362102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45358" y="356616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93% success rate</a:t>
            </a:r>
            <a:endParaRPr sz="1200" dirty="0"/>
          </a:p>
        </p:txBody>
      </p:sp>
      <p:sp>
        <p:nvSpPr>
          <p:cNvPr id="41" name="Text 39"/>
          <p:cNvSpPr/>
          <p:nvPr/>
        </p:nvSpPr>
        <p:spPr>
          <a:xfrm>
            <a:off x="5155086" y="362102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62732" y="356616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672460" y="362102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63385" y="356616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User testing observation sheet</a:t>
            </a:r>
            <a:endParaRPr sz="1200" dirty="0"/>
          </a:p>
        </p:txBody>
      </p:sp>
      <p:sp>
        <p:nvSpPr>
          <p:cNvPr id="45" name="Text 43"/>
          <p:cNvSpPr/>
          <p:nvPr/>
        </p:nvSpPr>
        <p:spPr>
          <a:xfrm>
            <a:off x="8073113" y="362102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16052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21538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metric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27984" y="416052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95% uptime during testing</a:t>
            </a:r>
            <a:endParaRPr sz="1200" dirty="0"/>
          </a:p>
        </p:txBody>
      </p:sp>
      <p:sp>
        <p:nvSpPr>
          <p:cNvPr id="49" name="Text 47"/>
          <p:cNvSpPr/>
          <p:nvPr/>
        </p:nvSpPr>
        <p:spPr>
          <a:xfrm>
            <a:off x="3637712" y="421538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45358" y="416052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98% uptime </a:t>
            </a:r>
            <a:endParaRPr sz="1200" dirty="0"/>
          </a:p>
        </p:txBody>
      </p:sp>
      <p:sp>
        <p:nvSpPr>
          <p:cNvPr id="51" name="Text 49"/>
          <p:cNvSpPr/>
          <p:nvPr/>
        </p:nvSpPr>
        <p:spPr>
          <a:xfrm>
            <a:off x="5155086" y="421538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62732" y="416052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672460" y="421538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63385" y="416052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 dirty="0"/>
              <a:t>Deployment monitoring logs</a:t>
            </a:r>
            <a:endParaRPr sz="1200" dirty="0"/>
          </a:p>
        </p:txBody>
      </p:sp>
      <p:sp>
        <p:nvSpPr>
          <p:cNvPr id="55" name="Text 53"/>
          <p:cNvSpPr/>
          <p:nvPr/>
        </p:nvSpPr>
        <p:spPr>
          <a:xfrm>
            <a:off x="8073113" y="421538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53893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&amp; Evidence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39" y="1868455"/>
            <a:ext cx="11094415" cy="413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POC</a:t>
            </a:r>
          </a:p>
          <a:p>
            <a:r>
              <a:rPr lang="en-US" sz="1400" b="1" dirty="0"/>
              <a:t>Goal:</a:t>
            </a:r>
            <a:r>
              <a:rPr lang="en-US" sz="1400" dirty="0"/>
              <a:t> Check if blood matching logic works.</a:t>
            </a:r>
            <a:br>
              <a:rPr lang="en-US" sz="1400" dirty="0"/>
            </a:br>
            <a:r>
              <a:rPr lang="en-US" sz="1400" b="1" dirty="0"/>
              <a:t>Evidence:</a:t>
            </a:r>
            <a:r>
              <a:rPr lang="en-US" sz="1400" dirty="0"/>
              <a:t> Compatibility test results with sample data.</a:t>
            </a:r>
            <a:br>
              <a:rPr lang="en-US" sz="1400" dirty="0"/>
            </a:br>
            <a:r>
              <a:rPr lang="en-US" sz="1400" b="1" dirty="0"/>
              <a:t>Result:</a:t>
            </a:r>
            <a:r>
              <a:rPr lang="en-US" sz="1400" dirty="0"/>
              <a:t> Matching logic successful.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Prototype</a:t>
            </a:r>
          </a:p>
          <a:p>
            <a:r>
              <a:rPr lang="en-US" sz="1400" b="1" dirty="0"/>
              <a:t>Goal:</a:t>
            </a:r>
            <a:r>
              <a:rPr lang="en-US" sz="1400" dirty="0"/>
              <a:t> Build working demo system.</a:t>
            </a:r>
            <a:br>
              <a:rPr lang="en-US" sz="1400" dirty="0"/>
            </a:br>
            <a:r>
              <a:rPr lang="en-US" sz="1400" b="1" dirty="0"/>
              <a:t>Evidence:</a:t>
            </a:r>
            <a:r>
              <a:rPr lang="en-US" sz="1400" dirty="0"/>
              <a:t> Login system, donor database, search workflow demo.</a:t>
            </a:r>
            <a:br>
              <a:rPr lang="en-US" sz="1400" dirty="0"/>
            </a:br>
            <a:r>
              <a:rPr lang="en-US" sz="1400" b="1" dirty="0"/>
              <a:t>Result:</a:t>
            </a:r>
            <a:r>
              <a:rPr lang="en-US" sz="1400" dirty="0"/>
              <a:t> End-to-end donor search works.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MVP</a:t>
            </a:r>
          </a:p>
          <a:p>
            <a:r>
              <a:rPr lang="en-US" sz="1400" b="1" dirty="0"/>
              <a:t>Goal:</a:t>
            </a:r>
            <a:r>
              <a:rPr lang="en-US" sz="1400" dirty="0"/>
              <a:t> Test with users and measure impact.</a:t>
            </a:r>
            <a:br>
              <a:rPr lang="en-US" sz="1400" dirty="0"/>
            </a:br>
            <a:r>
              <a:rPr lang="en-US" sz="1400" b="1" dirty="0"/>
              <a:t>Evidence:</a:t>
            </a:r>
            <a:r>
              <a:rPr lang="en-US" sz="1400" dirty="0"/>
              <a:t> 2.3 min search time, 93% success rate, user feedback.</a:t>
            </a:r>
            <a:br>
              <a:rPr lang="en-US" sz="1400" dirty="0"/>
            </a:br>
            <a:r>
              <a:rPr lang="en-US" sz="1400" b="1" dirty="0"/>
              <a:t>Result:</a:t>
            </a:r>
            <a:r>
              <a:rPr lang="en-US" sz="1400" dirty="0"/>
              <a:t> Reduced donor search time and validated solution.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Log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39" y="1188720"/>
            <a:ext cx="10820095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1339755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99875" y="1783080"/>
            <a:ext cx="2902803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09603" y="183794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02678" y="1783080"/>
            <a:ext cx="3349388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12406" y="183794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(feedback)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52065" y="1783080"/>
            <a:ext cx="2679510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61793" y="183794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(metric/quote)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42316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47802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99875" y="242316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 dirty="0"/>
              <a:t>Built login, donor database, and matching system</a:t>
            </a:r>
            <a:endParaRPr sz="1200" dirty="0"/>
          </a:p>
        </p:txBody>
      </p:sp>
      <p:sp>
        <p:nvSpPr>
          <p:cNvPr id="17" name="Text 15"/>
          <p:cNvSpPr/>
          <p:nvPr/>
        </p:nvSpPr>
        <p:spPr>
          <a:xfrm>
            <a:off x="2409603" y="247802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02678" y="242316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Needed working demo to show idea</a:t>
            </a:r>
            <a:endParaRPr sz="1200" dirty="0"/>
          </a:p>
        </p:txBody>
      </p:sp>
      <p:sp>
        <p:nvSpPr>
          <p:cNvPr id="19" name="Text 17"/>
          <p:cNvSpPr/>
          <p:nvPr/>
        </p:nvSpPr>
        <p:spPr>
          <a:xfrm>
            <a:off x="5312406" y="247802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52065" y="242316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IN" sz="1200"/>
              <a:t>End-to-end donor search demonstrated</a:t>
            </a:r>
            <a:endParaRPr sz="1200" dirty="0"/>
          </a:p>
        </p:txBody>
      </p:sp>
      <p:sp>
        <p:nvSpPr>
          <p:cNvPr id="21" name="Text 19"/>
          <p:cNvSpPr/>
          <p:nvPr/>
        </p:nvSpPr>
        <p:spPr>
          <a:xfrm>
            <a:off x="8661793" y="247802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06324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311810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99875" y="306324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Conducted user testing and measured search time</a:t>
            </a:r>
            <a:endParaRPr sz="1200" dirty="0"/>
          </a:p>
        </p:txBody>
      </p:sp>
      <p:sp>
        <p:nvSpPr>
          <p:cNvPr id="25" name="Text 23"/>
          <p:cNvSpPr/>
          <p:nvPr/>
        </p:nvSpPr>
        <p:spPr>
          <a:xfrm>
            <a:off x="2409603" y="311810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02678" y="306324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Needed to validate real impact</a:t>
            </a:r>
            <a:endParaRPr sz="1200" dirty="0"/>
          </a:p>
        </p:txBody>
      </p:sp>
      <p:sp>
        <p:nvSpPr>
          <p:cNvPr id="27" name="Text 25"/>
          <p:cNvSpPr/>
          <p:nvPr/>
        </p:nvSpPr>
        <p:spPr>
          <a:xfrm>
            <a:off x="5312406" y="311810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52065" y="306324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Avg search time reduced to 2.3 min</a:t>
            </a:r>
            <a:endParaRPr sz="1200" dirty="0"/>
          </a:p>
        </p:txBody>
      </p:sp>
      <p:sp>
        <p:nvSpPr>
          <p:cNvPr id="29" name="Text 27"/>
          <p:cNvSpPr/>
          <p:nvPr/>
        </p:nvSpPr>
        <p:spPr>
          <a:xfrm>
            <a:off x="8661793" y="311810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70332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75818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99875" y="370332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Improved UI clarity and optimized performance</a:t>
            </a:r>
            <a:endParaRPr sz="1200" dirty="0"/>
          </a:p>
        </p:txBody>
      </p:sp>
      <p:sp>
        <p:nvSpPr>
          <p:cNvPr id="33" name="Text 31"/>
          <p:cNvSpPr/>
          <p:nvPr/>
        </p:nvSpPr>
        <p:spPr>
          <a:xfrm>
            <a:off x="2409603" y="375818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02678" y="370332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Users requested better interface and faster response</a:t>
            </a:r>
            <a:endParaRPr sz="1200" dirty="0"/>
          </a:p>
        </p:txBody>
      </p:sp>
      <p:sp>
        <p:nvSpPr>
          <p:cNvPr id="35" name="Text 33"/>
          <p:cNvSpPr/>
          <p:nvPr/>
        </p:nvSpPr>
        <p:spPr>
          <a:xfrm>
            <a:off x="5312406" y="375818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52065" y="370332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/>
              <a:t>93% task success rate, 98% uptime</a:t>
            </a:r>
            <a:endParaRPr sz="1200" dirty="0"/>
          </a:p>
        </p:txBody>
      </p:sp>
      <p:sp>
        <p:nvSpPr>
          <p:cNvPr id="37" name="Text 35"/>
          <p:cNvSpPr/>
          <p:nvPr/>
        </p:nvSpPr>
        <p:spPr>
          <a:xfrm>
            <a:off x="8661793" y="375818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01755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Pain-Point Proof (Critical Slide)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05353"/>
            <a:ext cx="10820095" cy="28286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57859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3838403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pain 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17979" y="1783080"/>
            <a:ext cx="4438283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27707" y="1837944"/>
            <a:ext cx="4218827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evidence (metrics + user feedback)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56262" y="1783080"/>
            <a:ext cx="1775313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565990" y="1837944"/>
            <a:ext cx="1555857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560320"/>
            <a:ext cx="405785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1069848" y="2615184"/>
            <a:ext cx="3838403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Hospitals take too long to find compatible blood donors during emergencies.</a:t>
            </a:r>
          </a:p>
        </p:txBody>
      </p:sp>
      <p:sp>
        <p:nvSpPr>
          <p:cNvPr id="14" name="Shape 12"/>
          <p:cNvSpPr/>
          <p:nvPr/>
        </p:nvSpPr>
        <p:spPr>
          <a:xfrm>
            <a:off x="5017979" y="2560320"/>
            <a:ext cx="4438283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27707" y="2615184"/>
            <a:ext cx="4218827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Avg donor search time reduced to 2.3 minutes; 93% task success rate; Users said “Matching donor was found very quickly.”</a:t>
            </a:r>
          </a:p>
        </p:txBody>
      </p:sp>
      <p:sp>
        <p:nvSpPr>
          <p:cNvPr id="16" name="Shape 14"/>
          <p:cNvSpPr/>
          <p:nvPr/>
        </p:nvSpPr>
        <p:spPr>
          <a:xfrm>
            <a:off x="9456262" y="2560320"/>
            <a:ext cx="1775313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65990" y="2615184"/>
            <a:ext cx="1555857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Validated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 (What to capture)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3380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90600" y="185865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photos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07298"/>
            <a:ext cx="5120640" cy="35820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MVP in use:</a:t>
            </a:r>
            <a:r>
              <a:rPr lang="en-US" sz="1400" dirty="0"/>
              <a:t> Photo of users testing the MVP with consent.</a:t>
            </a:r>
          </a:p>
          <a:p>
            <a:endParaRPr lang="en-US" sz="1400" dirty="0"/>
          </a:p>
          <a:p>
            <a:r>
              <a:rPr lang="en-US" sz="1400" b="1" dirty="0"/>
              <a:t>Key screens / flows:</a:t>
            </a:r>
            <a:r>
              <a:rPr lang="en-US" sz="1400" dirty="0"/>
              <a:t> Main user screens and journey steps captured.</a:t>
            </a:r>
          </a:p>
          <a:p>
            <a:endParaRPr lang="en-US" sz="1400" dirty="0"/>
          </a:p>
          <a:p>
            <a:r>
              <a:rPr lang="en-US" sz="1400" b="1" dirty="0"/>
              <a:t>Hardware setup:</a:t>
            </a:r>
            <a:r>
              <a:rPr lang="en-US" sz="1400" dirty="0"/>
              <a:t> Image of devices and sensors arranged for testing.</a:t>
            </a:r>
          </a:p>
          <a:p>
            <a:endParaRPr lang="en-US" sz="1400" dirty="0"/>
          </a:p>
          <a:p>
            <a:r>
              <a:rPr lang="en-US" sz="1400" b="1" dirty="0"/>
              <a:t>Error cases:</a:t>
            </a:r>
            <a:r>
              <a:rPr lang="en-US" sz="1400" dirty="0"/>
              <a:t> Snapshot of the network timeout issue.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33895" y="185865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data / forms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340864"/>
            <a:ext cx="4251960" cy="3648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Usage logs / session counts:</a:t>
            </a:r>
            <a:r>
              <a:rPr lang="en-US" sz="1400" dirty="0"/>
              <a:t> Recorded 48 total user sessions.</a:t>
            </a:r>
          </a:p>
          <a:p>
            <a:endParaRPr lang="en-US" sz="1400" dirty="0"/>
          </a:p>
          <a:p>
            <a:r>
              <a:rPr lang="en-US" sz="1400" b="1" dirty="0"/>
              <a:t>KPI measurements:</a:t>
            </a:r>
            <a:r>
              <a:rPr lang="en-US" sz="1400" dirty="0"/>
              <a:t> KPI table showing performance against targets.</a:t>
            </a:r>
          </a:p>
          <a:p>
            <a:endParaRPr lang="en-US" sz="1400" dirty="0"/>
          </a:p>
          <a:p>
            <a:r>
              <a:rPr lang="en-US" sz="1400" b="1" dirty="0"/>
              <a:t>Feedback export:</a:t>
            </a:r>
            <a:r>
              <a:rPr lang="en-US" sz="1400" dirty="0"/>
              <a:t> Anonymized feedback summary from test users.</a:t>
            </a:r>
          </a:p>
          <a:p>
            <a:endParaRPr lang="en-US" sz="1400" dirty="0"/>
          </a:p>
          <a:p>
            <a:r>
              <a:rPr lang="en-US" sz="1400" b="1" dirty="0"/>
              <a:t>Consent record:</a:t>
            </a:r>
            <a:r>
              <a:rPr lang="en-US" sz="1400" dirty="0"/>
              <a:t> Sample consent form collected from participants.</a:t>
            </a:r>
          </a:p>
          <a:p>
            <a:endParaRPr lang="en-US" sz="1400" dirty="0"/>
          </a:p>
          <a:p>
            <a:r>
              <a:rPr lang="en-US" sz="1400" b="1" dirty="0"/>
              <a:t>Iteration notes:</a:t>
            </a:r>
            <a:r>
              <a:rPr lang="en-US" sz="1400" dirty="0"/>
              <a:t> Notes showing improvements made across iterations.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39" y="1143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017185"/>
            <a:ext cx="11094415" cy="4021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/>
              <a:t>Deliverables</a:t>
            </a:r>
          </a:p>
          <a:p>
            <a:r>
              <a:rPr lang="en-IN" sz="1400" dirty="0"/>
              <a:t>Functional MVP web platform</a:t>
            </a:r>
          </a:p>
          <a:p>
            <a:r>
              <a:rPr lang="en-IN" sz="1400" dirty="0"/>
              <a:t>Verified donor database</a:t>
            </a:r>
          </a:p>
          <a:p>
            <a:r>
              <a:rPr lang="en-IN" sz="1400" dirty="0"/>
              <a:t>Compatibility matching system</a:t>
            </a:r>
          </a:p>
          <a:p>
            <a:r>
              <a:rPr lang="en-IN" sz="1400" dirty="0"/>
              <a:t>User testing report (metrics + feedback)</a:t>
            </a:r>
          </a:p>
          <a:p>
            <a:r>
              <a:rPr lang="en-IN" sz="1400" dirty="0"/>
              <a:t>Iteration log and validation evidence</a:t>
            </a:r>
          </a:p>
          <a:p>
            <a:endParaRPr lang="en-IN" sz="1400" dirty="0"/>
          </a:p>
          <a:p>
            <a:pPr marL="0" indent="0">
              <a:buNone/>
            </a:pPr>
            <a:r>
              <a:rPr lang="en-US" sz="1600" b="1" dirty="0"/>
              <a:t>Demo Video Link</a:t>
            </a:r>
          </a:p>
          <a:p>
            <a:r>
              <a:rPr lang="en-US" sz="1400" dirty="0"/>
              <a:t>"C:\Users\pavit\Downloads\DEMO VIDEO.mp4“</a:t>
            </a:r>
          </a:p>
          <a:p>
            <a:endParaRPr lang="en-US" sz="1400" dirty="0"/>
          </a:p>
          <a:p>
            <a:r>
              <a:rPr lang="en-US" sz="1600" b="1" dirty="0"/>
              <a:t>Next Steps</a:t>
            </a:r>
          </a:p>
          <a:p>
            <a:r>
              <a:rPr lang="en-US" sz="1400" dirty="0"/>
              <a:t>Integrate SMS / email notification alerts</a:t>
            </a:r>
          </a:p>
          <a:p>
            <a:r>
              <a:rPr lang="en-US" sz="1400" dirty="0"/>
              <a:t>Improve location-based donor filtering</a:t>
            </a:r>
          </a:p>
          <a:p>
            <a:r>
              <a:rPr lang="en-US" sz="1400" dirty="0"/>
              <a:t>Conduct pilot deployment in real hospital</a:t>
            </a:r>
          </a:p>
          <a:p>
            <a:r>
              <a:rPr lang="en-US" sz="1400" dirty="0"/>
              <a:t>Expand donor database and scalability testing</a:t>
            </a:r>
          </a:p>
          <a:p>
            <a:r>
              <a:rPr lang="en-US" sz="1400" dirty="0"/>
              <a:t>Strengthen data security and compliance</a:t>
            </a:r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(MP4 ≤ 2 minutes) + Artifacts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645919"/>
            <a:ext cx="5120640" cy="2664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80522"/>
            <a:ext cx="5120640" cy="3208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endParaRPr lang="en-US" sz="1500" dirty="0">
              <a:solidFill>
                <a:srgbClr val="0B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3479" y="1325881"/>
            <a:ext cx="9822333" cy="29848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1303020" y="168091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B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B17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Links</a:t>
            </a: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03020" y="1957561"/>
            <a:ext cx="4251960" cy="18120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endParaRPr lang="en-US" sz="1500" b="1" dirty="0">
              <a:solidFill>
                <a:srgbClr val="0B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1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</a:t>
            </a:r>
            <a:r>
              <a:rPr lang="en-US" sz="1400" b="1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r>
              <a:rPr lang="en-US" sz="14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:https</a:t>
            </a: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://github.com/Roshini-</a:t>
            </a:r>
            <a:r>
              <a:rPr lang="en-US" sz="14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pyexpo</a:t>
            </a: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BloodLock</a:t>
            </a:r>
            <a:endParaRPr lang="en-US" sz="1400" dirty="0">
              <a:solidFill>
                <a:srgbClr val="0B17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endParaRPr lang="en-US" sz="2000" dirty="0"/>
          </a:p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Livedemolink</a:t>
            </a: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IN" sz="1400" dirty="0"/>
              <a:t>https://drive.google.com/file/d/1aSIbNArYSemzkD5Te0sqX2niO8PrI6T-/view?usp=sharing</a:t>
            </a:r>
          </a:p>
          <a:p>
            <a:pPr>
              <a:lnSpc>
                <a:spcPct val="115000"/>
              </a:lnSpc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Next Steps &amp; Direction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78410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mitigations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91598"/>
            <a:ext cx="5120640" cy="1868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Low real-world adoption</a:t>
            </a:r>
            <a:r>
              <a:rPr lang="en-US" sz="1400" dirty="0"/>
              <a:t> — Conduct pilot testing in real hospital and collect more feedback</a:t>
            </a:r>
          </a:p>
          <a:p>
            <a:r>
              <a:rPr lang="en-US" sz="1400" b="1" dirty="0"/>
              <a:t>Data privacy/security risk</a:t>
            </a:r>
            <a:r>
              <a:rPr lang="en-US" sz="1400" dirty="0"/>
              <a:t> — Strengthen authentication and secure database handling</a:t>
            </a:r>
          </a:p>
          <a:p>
            <a:r>
              <a:rPr lang="en-US" sz="1400" b="1" dirty="0"/>
              <a:t>System scalability issues</a:t>
            </a:r>
            <a:r>
              <a:rPr lang="en-US" sz="1400" dirty="0"/>
              <a:t> — Optimize performance and test with larger dataset</a:t>
            </a:r>
          </a:p>
          <a:p>
            <a:pPr>
              <a:lnSpc>
                <a:spcPct val="115000"/>
              </a:lnSpc>
              <a:buSzPct val="100000"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43484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(based on evidence)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5074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/>
              <a:t>GO</a:t>
            </a:r>
            <a:r>
              <a:rPr lang="en-US" sz="1400" dirty="0"/>
              <a:t> — Validation shows strong user need and positive early feedback.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8135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88175" y="197155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(March Demo Day readiness)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565918"/>
            <a:ext cx="4251960" cy="3423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Stabilize the MVP, fix UX friction points, and ensure smooth end-to-end demo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Integrate updated AI assistant responses and ensure error-free API connectivity.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sample donor/hospital test data for a seamless demonstration.</a:t>
            </a:r>
          </a:p>
          <a:p>
            <a:br>
              <a:rPr lang="en-US" sz="1600" dirty="0"/>
            </a:b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 format)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8001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[1] World Health Organization, </a:t>
            </a:r>
            <a:r>
              <a:rPr lang="en-US" sz="1600" i="1" dirty="0"/>
              <a:t>Blood safety and availability</a:t>
            </a:r>
            <a:r>
              <a:rPr lang="en-US" sz="1600" dirty="0"/>
              <a:t>, WHO, 2023. [Online]. Available: </a:t>
            </a:r>
            <a:r>
              <a:rPr lang="en-US" sz="1600" dirty="0">
                <a:hlinkClick r:id="rId3"/>
              </a:rPr>
              <a:t>https://www.who.int/news-room/fact-sheets/detail/blood-safety-and-availability</a:t>
            </a:r>
            <a:endParaRPr lang="en-US" sz="1600" dirty="0"/>
          </a:p>
          <a:p>
            <a:r>
              <a:rPr lang="en-US" sz="1600" dirty="0"/>
              <a:t>[2] A. K. Sharma and R. Gupta, “A web-based blood bank management system,” </a:t>
            </a:r>
            <a:r>
              <a:rPr lang="en-US" sz="1600" i="1" dirty="0"/>
              <a:t>International Journal of Computer Applications</a:t>
            </a:r>
            <a:r>
              <a:rPr lang="en-US" sz="1600" dirty="0"/>
              <a:t>, vol. 150, no. 6, pp. 12–16, 2016.</a:t>
            </a:r>
          </a:p>
          <a:p>
            <a:r>
              <a:rPr lang="en-US" sz="1600" dirty="0"/>
              <a:t>[3] S. Kumar and P. Singh, “Design and implementation of online blood donor management system,” in </a:t>
            </a:r>
            <a:r>
              <a:rPr lang="en-US" sz="1600" i="1" dirty="0"/>
              <a:t>Proceedings of the International Conference on Emerging Trends in Engineering and Technology</a:t>
            </a:r>
            <a:r>
              <a:rPr lang="en-US" sz="1600" dirty="0"/>
              <a:t>, 2019, pp. 45–49.</a:t>
            </a:r>
          </a:p>
          <a:p>
            <a:r>
              <a:rPr lang="en-US" sz="1600" dirty="0"/>
              <a:t>[4] NIST, </a:t>
            </a:r>
            <a:r>
              <a:rPr lang="en-US" sz="1600" i="1" dirty="0"/>
              <a:t>Digital Identity Guidelines</a:t>
            </a:r>
            <a:r>
              <a:rPr lang="en-US" sz="1600" dirty="0"/>
              <a:t>, National Institute of Standards and Technology, 2022. [Online]. Available: </a:t>
            </a:r>
            <a:r>
              <a:rPr lang="en-US" sz="1600" dirty="0">
                <a:hlinkClick r:id="rId4"/>
              </a:rPr>
              <a:t>https://pages.nist.gov/800-63-3/</a:t>
            </a:r>
            <a:endParaRPr lang="en-US" sz="1600" dirty="0"/>
          </a:p>
          <a:p>
            <a:r>
              <a:rPr lang="en-US" sz="1600" dirty="0"/>
              <a:t>[5] M. A. Rahman et al., “Secure health data management using web technologies,” </a:t>
            </a:r>
            <a:r>
              <a:rPr lang="en-US" sz="1600" i="1" dirty="0"/>
              <a:t>IEEE Access</a:t>
            </a:r>
            <a:r>
              <a:rPr lang="en-US" sz="1600" dirty="0"/>
              <a:t>, vol. 8, pp. 150234–150245, 2020.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48401b-810c-410e-b8eb-6ff04b2b747f">
      <Terms xmlns="http://schemas.microsoft.com/office/infopath/2007/PartnerControls"/>
    </lcf76f155ced4ddcb4097134ff3c332f>
    <TaxCatchAll xmlns="06450489-62f6-413e-8592-e63214e705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7AE85E340D941B9801BD6724F0635" ma:contentTypeVersion="10" ma:contentTypeDescription="Create a new document." ma:contentTypeScope="" ma:versionID="713f2a0e68724d8135e14c835efcf21e">
  <xsd:schema xmlns:xsd="http://www.w3.org/2001/XMLSchema" xmlns:xs="http://www.w3.org/2001/XMLSchema" xmlns:p="http://schemas.microsoft.com/office/2006/metadata/properties" xmlns:ns2="a348401b-810c-410e-b8eb-6ff04b2b747f" xmlns:ns3="06450489-62f6-413e-8592-e63214e70580" targetNamespace="http://schemas.microsoft.com/office/2006/metadata/properties" ma:root="true" ma:fieldsID="a6c747652182e79a0ee424c38baf6f53" ns2:_="" ns3:_="">
    <xsd:import namespace="a348401b-810c-410e-b8eb-6ff04b2b747f"/>
    <xsd:import namespace="06450489-62f6-413e-8592-e63214e705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8401b-810c-410e-b8eb-6ff04b2b7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50489-62f6-413e-8592-e63214e705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d84e43-86d1-4cbe-b16c-19b161e7d2a8}" ma:internalName="TaxCatchAll" ma:showField="CatchAllData" ma:web="06450489-62f6-413e-8592-e63214e705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2331A1-76D6-4A69-9191-4889AF1FB4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FFA083-FFD4-40FB-998B-79EF5A574EA8}">
  <ds:schemaRefs>
    <ds:schemaRef ds:uri="http://schemas.microsoft.com/office/2006/metadata/properties"/>
    <ds:schemaRef ds:uri="http://schemas.microsoft.com/office/infopath/2007/PartnerControls"/>
    <ds:schemaRef ds:uri="a348401b-810c-410e-b8eb-6ff04b2b747f"/>
    <ds:schemaRef ds:uri="06450489-62f6-413e-8592-e63214e70580"/>
  </ds:schemaRefs>
</ds:datastoreItem>
</file>

<file path=customXml/itemProps3.xml><?xml version="1.0" encoding="utf-8"?>
<ds:datastoreItem xmlns:ds="http://schemas.openxmlformats.org/officeDocument/2006/customXml" ds:itemID="{8E910B34-80D0-4CB5-9C96-EF147720D9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48401b-810c-410e-b8eb-6ff04b2b747f"/>
    <ds:schemaRef ds:uri="06450489-62f6-413e-8592-e63214e705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2586</Words>
  <Application>Microsoft Office PowerPoint</Application>
  <PresentationFormat>Widescreen</PresentationFormat>
  <Paragraphs>403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KGISL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 MVP Stage Template</dc:title>
  <dc:subject>SoI MVP Stage Submission Deck Template</dc:subject>
  <dc:creator>Thiruvaazhi Uloli</dc:creator>
  <cp:lastModifiedBy>pavithra09102007@gmail.com</cp:lastModifiedBy>
  <cp:revision>13</cp:revision>
  <dcterms:created xsi:type="dcterms:W3CDTF">2026-02-11T11:27:36Z</dcterms:created>
  <dcterms:modified xsi:type="dcterms:W3CDTF">2026-03-12T12:08:31Z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0x0101009687AE85E340D941B9801BD6724F0635</vt:lpwstr>
  </property>
</Properties>
</file>